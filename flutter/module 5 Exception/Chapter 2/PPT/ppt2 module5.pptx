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8" r:id="rId6"/>
    <p:sldId id="257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embeddedFontLst>
    <p:embeddedFont>
      <p:font typeface="Calibri" panose="020F0502020204030204"/>
      <p:regular r:id="rId16"/>
    </p:embeddedFont>
    <p:embeddedFont>
      <p:font typeface="Microsoft YaHei" panose="020B0503020204020204" charset="-122"/>
      <p:regular r:id="rId17"/>
    </p:embeddedFont>
    <p:embeddedFont>
      <p:font typeface="Gill Sans" panose="020B0502020104020203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98"/>
        <p:guide pos="384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47" name="Google Shape;47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zh-CN" sz="1100">
                <a:solidFill>
                  <a:srgbClr val="0D0D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Hello everyone, welcome to our session on "Exception handling Fundamentals and Advanced Techniques”, In this presentation we will cover Introduction and Implementation of Exceptions, Fundamentals- Terminology and Types, Handling Exceptions, Advanced Techniques- Nested Blocks and Chained Exceptions,Advanced Techniques- Multithreading, Realworld Examples and Pitfalls and Best practices and Guidelines. </a:t>
            </a:r>
            <a:endParaRPr lang="zh-CN" sz="1100">
              <a:solidFill>
                <a:srgbClr val="0D0D0D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8" name="Google Shape;48;p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zh-CN" sz="1200"/>
            </a:fld>
            <a:endParaRPr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 sz="1600" b="1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Key terms:</a:t>
            </a:r>
            <a:endParaRPr lang="zh-CN" sz="1600" b="1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try-catch block: defines code blocks for handling specific exceptions.</a:t>
            </a:r>
            <a:endParaRPr lang="zh-CN"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09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finally block: executes regardless of exceptions (e.g., resource cleanup).</a:t>
            </a:r>
            <a:endParaRPr lang="zh-CN"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09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throw: explicitly throws an exception.</a:t>
            </a:r>
            <a:endParaRPr lang="zh-CN"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095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throws: declares the types of exceptions a method may throw. </a:t>
            </a:r>
            <a:endParaRPr lang="zh-CN"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 sz="1400" b="1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Types of exceptions:</a:t>
            </a:r>
            <a:endParaRPr lang="zh-CN" sz="1400" b="1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Checked: require explicit handling by the programmer.</a:t>
            </a:r>
            <a:endParaRPr lang="zh-CN"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</a:pPr>
            <a:r>
              <a:rPr lang="zh-CN" sz="1200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Unchecked: not required to be handled but recommende.</a:t>
            </a:r>
            <a:endParaRPr lang="zh-CN" sz="1200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/>
              <a:t>Introduction &amp; Importance: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What are exceptions?: We'll begin by defining exceptions and their significance in software development.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Importance of exception handling: Discussing why proper exception handling is essential for robust and reliable software.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/>
              <a:t>Benefits of proper exception handling: Exploring the advantages of implementing effective exception handling practices.</a:t>
            </a:r>
            <a:endParaRPr lang="zh-CN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81" name="Google Shape;81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Specific vs. General exceptions: Discussing the merits of handling specific exceptions versus catching general exceptions.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Creating custom exceptions: Exploring the process of creating custom exception classes tailored to specific application requirements.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/>
              <a:t>Rethrowing exceptions: Explaining the concept of rethrowing exceptions and its use cases in exception propagation.</a:t>
            </a:r>
            <a:endParaRPr lang="zh-CN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6" name="Google Shape;106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Nested try-catch blocks: Demonstrating how nested try-catch blocks offer finer control over exception handling in complex scenarios.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/>
              <a:t>Chained exceptions: Discussing the concept of chaining exceptions to track error origins and provide comprehensive error information.</a:t>
            </a:r>
            <a:endParaRPr lang="zh-CN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19" name="Google Shape;119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Exception handling in multithreaded environments: Addressing the challenges and considerations for handling exceptions in concurrent and multithreaded applications.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/>
              <a:t>Thread safety considerations: Discussing the importance of ensuring thread safety and synchronization in exception handling mechanisms.</a:t>
            </a:r>
            <a:endParaRPr lang="zh-CN"/>
          </a:p>
        </p:txBody>
      </p:sp>
      <p:sp>
        <p:nvSpPr>
          <p:cNvPr id="150" name="Google Shape;150;p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Practical demonstrations: Providing real-world examples and scenarios to illustrate effective exception handling techniques.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/>
              <a:t>Discussing potential pitfalls: Identifying common mistakes and pitfalls in exception handling and proposing solutions to mitigate them.</a:t>
            </a:r>
            <a:endParaRPr lang="zh-CN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0" name="Google Shape;160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Principles for robust exception handling: Outlining best practices and principles for designing resilient and maintainable exception handling mechanisms.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zh-CN"/>
              <a:t>Designing for maintainability and readability: Emphasizing the importance of clear, concise, and maintainable exception handling code.</a:t>
            </a:r>
            <a:endParaRPr lang="zh-CN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zh-CN"/>
              <a:t>Choosing the right approach: Providing guidelines for selecting the appropriate exception handling approach based on the specific requirements of the application.</a:t>
            </a:r>
            <a:endParaRPr lang="zh-CN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71" name="Google Shape;171;p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1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1" name="Google Shape;11;p10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29" name="Google Shape;29;p1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1" name="Google Shape;31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32" name="Google Shape;32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F44"/>
        </a:solidFill>
        <a:effectLst/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1"/>
          <p:cNvGrpSpPr/>
          <p:nvPr/>
        </p:nvGrpSpPr>
        <p:grpSpPr>
          <a:xfrm>
            <a:off x="0" y="4641850"/>
            <a:ext cx="12192000" cy="2216150"/>
            <a:chOff x="0" y="1955800"/>
            <a:chExt cx="12192000" cy="4902200"/>
          </a:xfrm>
        </p:grpSpPr>
        <p:sp>
          <p:nvSpPr>
            <p:cNvPr id="51" name="Google Shape;51;p1"/>
            <p:cNvSpPr/>
            <p:nvPr/>
          </p:nvSpPr>
          <p:spPr>
            <a:xfrm>
              <a:off x="0" y="3962400"/>
              <a:ext cx="12192000" cy="2895600"/>
            </a:xfrm>
            <a:prstGeom prst="rtTriangle">
              <a:avLst/>
            </a:prstGeom>
            <a:solidFill>
              <a:srgbClr val="07AF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52" name="Google Shape;52;p1"/>
            <p:cNvSpPr/>
            <p:nvPr/>
          </p:nvSpPr>
          <p:spPr>
            <a:xfrm rot="-5400000">
              <a:off x="3644900" y="-1689100"/>
              <a:ext cx="4902200" cy="12192000"/>
            </a:xfrm>
            <a:prstGeom prst="triangle">
              <a:avLst>
                <a:gd name="adj" fmla="val 58808"/>
              </a:avLst>
            </a:prstGeom>
            <a:solidFill>
              <a:srgbClr val="0C4E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53" name="Google Shape;53;p1"/>
          <p:cNvGrpSpPr/>
          <p:nvPr/>
        </p:nvGrpSpPr>
        <p:grpSpPr>
          <a:xfrm>
            <a:off x="0" y="4730750"/>
            <a:ext cx="1582738" cy="1866900"/>
            <a:chOff x="-1582697" y="2594940"/>
            <a:chExt cx="1582697" cy="1866708"/>
          </a:xfrm>
        </p:grpSpPr>
        <p:sp>
          <p:nvSpPr>
            <p:cNvPr id="54" name="Google Shape;54;p1"/>
            <p:cNvSpPr/>
            <p:nvPr/>
          </p:nvSpPr>
          <p:spPr>
            <a:xfrm>
              <a:off x="-1582697" y="3053922"/>
              <a:ext cx="791348" cy="1407726"/>
            </a:xfrm>
            <a:custGeom>
              <a:avLst/>
              <a:gdLst/>
              <a:ahLst/>
              <a:cxnLst/>
              <a:rect l="l" t="t" r="r" b="b"/>
              <a:pathLst>
                <a:path w="791348" h="1407726" extrusionOk="0">
                  <a:moveTo>
                    <a:pt x="0" y="0"/>
                  </a:moveTo>
                  <a:lnTo>
                    <a:pt x="791348" y="0"/>
                  </a:lnTo>
                  <a:lnTo>
                    <a:pt x="791348" y="1407726"/>
                  </a:lnTo>
                  <a:lnTo>
                    <a:pt x="0" y="1026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55" name="Google Shape;55;p1"/>
            <p:cNvGrpSpPr/>
            <p:nvPr/>
          </p:nvGrpSpPr>
          <p:grpSpPr>
            <a:xfrm>
              <a:off x="-1582697" y="2594940"/>
              <a:ext cx="1582697" cy="917964"/>
              <a:chOff x="-131141" y="3340292"/>
              <a:chExt cx="1582697" cy="917964"/>
            </a:xfrm>
          </p:grpSpPr>
          <p:sp>
            <p:nvSpPr>
              <p:cNvPr id="56" name="Google Shape;56;p1"/>
              <p:cNvSpPr/>
              <p:nvPr/>
            </p:nvSpPr>
            <p:spPr>
              <a:xfrm rot="5400000">
                <a:off x="596900" y="3403600"/>
                <a:ext cx="917964" cy="791348"/>
              </a:xfrm>
              <a:prstGeom prst="triangle">
                <a:avLst>
                  <a:gd name="adj" fmla="val 50000"/>
                </a:avLst>
              </a:prstGeom>
              <a:solidFill>
                <a:srgbClr val="E78B1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 rot="-5400000" flipH="1">
                <a:off x="-194449" y="3403600"/>
                <a:ext cx="917964" cy="791348"/>
              </a:xfrm>
              <a:prstGeom prst="triangle">
                <a:avLst>
                  <a:gd name="adj" fmla="val 50000"/>
                </a:avLst>
              </a:prstGeom>
              <a:solidFill>
                <a:srgbClr val="90C1A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58" name="Google Shape;58;p1"/>
          <p:cNvGrpSpPr/>
          <p:nvPr/>
        </p:nvGrpSpPr>
        <p:grpSpPr>
          <a:xfrm rot="-273537">
            <a:off x="10869613" y="4151313"/>
            <a:ext cx="1101725" cy="1101725"/>
            <a:chOff x="3830832" y="698500"/>
            <a:chExt cx="1634736" cy="1634736"/>
          </a:xfrm>
        </p:grpSpPr>
        <p:sp>
          <p:nvSpPr>
            <p:cNvPr id="59" name="Google Shape;59;p1"/>
            <p:cNvSpPr/>
            <p:nvPr/>
          </p:nvSpPr>
          <p:spPr>
            <a:xfrm>
              <a:off x="4648200" y="698500"/>
              <a:ext cx="817368" cy="817368"/>
            </a:xfrm>
            <a:prstGeom prst="rtTriangle">
              <a:avLst/>
            </a:prstGeom>
            <a:solidFill>
              <a:srgbClr val="90C1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 flipH="1">
              <a:off x="3830832" y="698500"/>
              <a:ext cx="817368" cy="817368"/>
            </a:xfrm>
            <a:prstGeom prst="rtTriangle">
              <a:avLst/>
            </a:prstGeom>
            <a:solidFill>
              <a:srgbClr val="1FA77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61" name="Google Shape;61;p1"/>
            <p:cNvGrpSpPr/>
            <p:nvPr/>
          </p:nvGrpSpPr>
          <p:grpSpPr>
            <a:xfrm>
              <a:off x="3830832" y="1515868"/>
              <a:ext cx="1634736" cy="817368"/>
              <a:chOff x="3896095" y="1638745"/>
              <a:chExt cx="1634736" cy="817368"/>
            </a:xfrm>
          </p:grpSpPr>
          <p:sp>
            <p:nvSpPr>
              <p:cNvPr id="62" name="Google Shape;62;p1"/>
              <p:cNvSpPr/>
              <p:nvPr/>
            </p:nvSpPr>
            <p:spPr>
              <a:xfrm rot="10800000" flipH="1">
                <a:off x="4713463" y="1638745"/>
                <a:ext cx="817368" cy="817368"/>
              </a:xfrm>
              <a:prstGeom prst="rtTriangle">
                <a:avLst/>
              </a:prstGeom>
              <a:solidFill>
                <a:srgbClr val="1B98B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 rot="10800000">
                <a:off x="3896095" y="1638745"/>
                <a:ext cx="817368" cy="817368"/>
              </a:xfrm>
              <a:prstGeom prst="rtTriangle">
                <a:avLst/>
              </a:prstGeom>
              <a:solidFill>
                <a:srgbClr val="6CDAE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grpSp>
        <p:nvGrpSpPr>
          <p:cNvPr id="64" name="Google Shape;64;p1"/>
          <p:cNvGrpSpPr/>
          <p:nvPr/>
        </p:nvGrpSpPr>
        <p:grpSpPr>
          <a:xfrm>
            <a:off x="3644900" y="1595438"/>
            <a:ext cx="4921250" cy="2463800"/>
            <a:chOff x="3892550" y="2204410"/>
            <a:chExt cx="4921250" cy="2463319"/>
          </a:xfrm>
        </p:grpSpPr>
        <p:cxnSp>
          <p:nvCxnSpPr>
            <p:cNvPr id="65" name="Google Shape;65;p1"/>
            <p:cNvCxnSpPr/>
            <p:nvPr/>
          </p:nvCxnSpPr>
          <p:spPr>
            <a:xfrm>
              <a:off x="3892550" y="2204410"/>
              <a:ext cx="1755776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6" name="Google Shape;66;p1"/>
            <p:cNvCxnSpPr/>
            <p:nvPr/>
          </p:nvCxnSpPr>
          <p:spPr>
            <a:xfrm>
              <a:off x="7277101" y="2212680"/>
              <a:ext cx="1536699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7" name="Google Shape;67;p1"/>
            <p:cNvCxnSpPr/>
            <p:nvPr/>
          </p:nvCxnSpPr>
          <p:spPr>
            <a:xfrm>
              <a:off x="3892550" y="2212680"/>
              <a:ext cx="0" cy="2455049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8" name="Google Shape;68;p1"/>
            <p:cNvCxnSpPr/>
            <p:nvPr/>
          </p:nvCxnSpPr>
          <p:spPr>
            <a:xfrm>
              <a:off x="8813800" y="2212680"/>
              <a:ext cx="0" cy="2455049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69" name="Google Shape;69;p1"/>
            <p:cNvCxnSpPr/>
            <p:nvPr/>
          </p:nvCxnSpPr>
          <p:spPr>
            <a:xfrm>
              <a:off x="3892550" y="4667729"/>
              <a:ext cx="492125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70" name="Google Shape;70;p1"/>
          <p:cNvSpPr txBox="1"/>
          <p:nvPr/>
        </p:nvSpPr>
        <p:spPr>
          <a:xfrm>
            <a:off x="3790950" y="2773680"/>
            <a:ext cx="4629785" cy="95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YaHei" panose="020B0503020204020204" charset="-122"/>
              <a:buNone/>
            </a:pPr>
            <a:r>
              <a:rPr lang="zh-CN" sz="2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&amp; 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rosoft YaHei" panose="020B0503020204020204" charset="-122"/>
              <a:buNone/>
            </a:pPr>
            <a:r>
              <a:rPr lang="zh-CN" sz="2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Advanced Techniques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3876675" y="1762760"/>
            <a:ext cx="4478655" cy="1096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B1C4"/>
              </a:buClr>
              <a:buSzPts val="3200"/>
              <a:buFont typeface="Microsoft YaHei" panose="020B0503020204020204" charset="-122"/>
              <a:buNone/>
            </a:pPr>
            <a:r>
              <a:rPr lang="zh-CN" sz="3200" b="1" i="0" u="none" strike="noStrike" cap="none">
                <a:solidFill>
                  <a:srgbClr val="0DB1C4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Exception Handling Fundamentals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72" name="Google Shape;72;p1"/>
          <p:cNvGrpSpPr/>
          <p:nvPr/>
        </p:nvGrpSpPr>
        <p:grpSpPr>
          <a:xfrm rot="5400000">
            <a:off x="5636260" y="560070"/>
            <a:ext cx="1306830" cy="1351280"/>
            <a:chOff x="3830832" y="698500"/>
            <a:chExt cx="1634736" cy="1634736"/>
          </a:xfrm>
        </p:grpSpPr>
        <p:sp>
          <p:nvSpPr>
            <p:cNvPr id="73" name="Google Shape;73;p1"/>
            <p:cNvSpPr/>
            <p:nvPr/>
          </p:nvSpPr>
          <p:spPr>
            <a:xfrm>
              <a:off x="4648200" y="698500"/>
              <a:ext cx="817368" cy="817368"/>
            </a:xfrm>
            <a:prstGeom prst="rtTriangle">
              <a:avLst/>
            </a:prstGeom>
            <a:solidFill>
              <a:srgbClr val="90C1A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 flipH="1">
              <a:off x="3830832" y="698500"/>
              <a:ext cx="817368" cy="817368"/>
            </a:xfrm>
            <a:prstGeom prst="rtTriangle">
              <a:avLst/>
            </a:prstGeom>
            <a:solidFill>
              <a:srgbClr val="1FA77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grpSp>
          <p:nvGrpSpPr>
            <p:cNvPr id="75" name="Google Shape;75;p1"/>
            <p:cNvGrpSpPr/>
            <p:nvPr/>
          </p:nvGrpSpPr>
          <p:grpSpPr>
            <a:xfrm>
              <a:off x="3830832" y="1515868"/>
              <a:ext cx="1634736" cy="817368"/>
              <a:chOff x="3896095" y="1638745"/>
              <a:chExt cx="1634736" cy="817368"/>
            </a:xfrm>
          </p:grpSpPr>
          <p:sp>
            <p:nvSpPr>
              <p:cNvPr id="76" name="Google Shape;76;p1"/>
              <p:cNvSpPr/>
              <p:nvPr/>
            </p:nvSpPr>
            <p:spPr>
              <a:xfrm rot="10800000" flipH="1">
                <a:off x="4713463" y="1638745"/>
                <a:ext cx="817368" cy="817368"/>
              </a:xfrm>
              <a:prstGeom prst="rtTriangle">
                <a:avLst/>
              </a:prstGeom>
              <a:solidFill>
                <a:srgbClr val="1B98B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 rot="10800000">
                <a:off x="3896095" y="1638745"/>
                <a:ext cx="817368" cy="817368"/>
              </a:xfrm>
              <a:prstGeom prst="rtTriangle">
                <a:avLst/>
              </a:prstGeom>
              <a:solidFill>
                <a:srgbClr val="6CDAE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 panose="020F0502020204030204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</p:grpSp>
      </p:grpSp>
      <p:pic>
        <p:nvPicPr>
          <p:cNvPr id="78" name="Google Shape;7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537825" y="-167640"/>
            <a:ext cx="1640840" cy="101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B1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7" name="Google Shape;97;p3"/>
          <p:cNvSpPr/>
          <p:nvPr/>
        </p:nvSpPr>
        <p:spPr>
          <a:xfrm rot="5400000">
            <a:off x="68580" y="-68580"/>
            <a:ext cx="2255520" cy="239268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2250603" y="412851"/>
            <a:ext cx="91059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YaHei" panose="020B0503020204020204" charset="-122"/>
              <a:buNone/>
            </a:pPr>
            <a:r>
              <a:rPr lang="zh-CN" sz="3600" b="1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Fundamentals - Terminology &amp; Types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99" name="Google Shape;99;p3" descr="Dart_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223169" y="1415416"/>
            <a:ext cx="1494171" cy="170126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"/>
          <p:cNvSpPr/>
          <p:nvPr/>
        </p:nvSpPr>
        <p:spPr>
          <a:xfrm>
            <a:off x="7014845" y="1591945"/>
            <a:ext cx="3117215" cy="283845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icrosoft YaHei" panose="020B0503020204020204" charset="-122"/>
              <a:buNone/>
            </a:pPr>
            <a:r>
              <a:rPr lang="zh-CN" sz="24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Key terms: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try-catch block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finally block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throw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throws</a:t>
            </a: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7014845" y="4794250"/>
            <a:ext cx="3319780" cy="1838325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Types of exceptions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Checked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Unchecked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71150" y="-167640"/>
            <a:ext cx="170751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39841" y="2390839"/>
            <a:ext cx="6280879" cy="3515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0" y="3616325"/>
            <a:ext cx="12192000" cy="3241675"/>
          </a:xfrm>
          <a:prstGeom prst="rect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1440140" y="4194614"/>
            <a:ext cx="528796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1411936" y="92982"/>
            <a:ext cx="93681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 panose="020F0502020204030204"/>
              <a:buNone/>
            </a:pPr>
            <a:r>
              <a:rPr lang="zh-CN" sz="3200" b="1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rPr>
              <a:t>Introduction &amp; Importance</a:t>
            </a:r>
            <a:endParaRPr sz="3200" b="1" i="0" u="none" strike="noStrike" cap="none">
              <a:solidFill>
                <a:srgbClr val="000000"/>
              </a:solidFill>
              <a:latin typeface="Gill Sans" panose="020B0502020104020203"/>
              <a:ea typeface="Gill Sans" panose="020B0502020104020203"/>
              <a:cs typeface="Gill Sans" panose="020B0502020104020203"/>
              <a:sym typeface="Gill Sans" panose="020B0502020104020203"/>
            </a:endParaRPr>
          </a:p>
        </p:txBody>
      </p:sp>
      <p:pic>
        <p:nvPicPr>
          <p:cNvPr id="86" name="Google Shape;86;p2" descr="Dart_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09862" y="480169"/>
            <a:ext cx="1064634" cy="1017862"/>
          </a:xfrm>
          <a:prstGeom prst="rect">
            <a:avLst/>
          </a:prstGeom>
          <a:noFill/>
          <a:ln>
            <a:noFill/>
          </a:ln>
          <a:effectLst>
            <a:outerShdw blurRad="76200" dist="12700" dir="2700000" sy="-23000" kx="-800311" algn="bl" rotWithShape="0">
              <a:srgbClr val="000000">
                <a:alpha val="20000"/>
              </a:srgbClr>
            </a:outerShdw>
          </a:effectLst>
        </p:spPr>
      </p:pic>
      <p:sp>
        <p:nvSpPr>
          <p:cNvPr id="87" name="Google Shape;87;p2"/>
          <p:cNvSpPr/>
          <p:nvPr/>
        </p:nvSpPr>
        <p:spPr>
          <a:xfrm>
            <a:off x="5705063" y="1030177"/>
            <a:ext cx="5788376" cy="1716217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</a:pPr>
            <a:endParaRPr sz="2400" b="1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icrosoft YaHei" panose="020B0503020204020204" charset="-122"/>
              <a:buNone/>
            </a:pPr>
            <a:r>
              <a:rPr lang="zh-CN" sz="25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What are exceptions?</a:t>
            </a:r>
            <a:endParaRPr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Anomalous conditions that disrupt program flow.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Can be caused by various factors (e.g., user input, resource errors, network issues).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5705063" y="2989099"/>
            <a:ext cx="5788376" cy="1634247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25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Importance of exception handling</a:t>
            </a:r>
            <a:endParaRPr sz="25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Ensures program stability and prevents crashes.</a:t>
            </a:r>
            <a:endParaRPr sz="16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Allows for graceful handling of errors.</a:t>
            </a:r>
            <a:endParaRPr sz="16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Improves application robustness and user experience.</a:t>
            </a:r>
            <a:endParaRPr sz="16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5705063" y="4840945"/>
            <a:ext cx="5788376" cy="1799616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Benefits of proper exception handling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Increased code quality and maintainability.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Easier debugging and troubleshooting.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Improved error reporting and logging.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Provides a more predictable and reliable program execution.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0" name="Google Shape;90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37825" y="-167640"/>
            <a:ext cx="1640840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35585" y="1640840"/>
            <a:ext cx="5360035" cy="4837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/>
          <p:nvPr/>
        </p:nvSpPr>
        <p:spPr>
          <a:xfrm>
            <a:off x="0" y="21395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CA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9" name="Google Shape;109;p4"/>
          <p:cNvSpPr/>
          <p:nvPr/>
        </p:nvSpPr>
        <p:spPr>
          <a:xfrm rot="5400000">
            <a:off x="0" y="0"/>
            <a:ext cx="2838450" cy="283845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3432598" y="242870"/>
            <a:ext cx="5009744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YaHei" panose="020B0503020204020204" charset="-122"/>
              <a:buNone/>
            </a:pPr>
            <a:r>
              <a:rPr lang="zh-CN" sz="3600" b="1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Handling Exceptions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1" name="Google Shape;111;p4" descr="Dart_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398275" y="565450"/>
            <a:ext cx="1393866" cy="155967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394409" y="1032121"/>
            <a:ext cx="8063110" cy="1411276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Specific vs. General exceptions: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Specific: targeted handling for defined exceptions (e.g., FileNotFoundException).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General: catch-all for unexpected or unknown errors.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374650" y="2507615"/>
            <a:ext cx="6956425" cy="1329690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sy="23000" kx="12000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endParaRPr lang="zh-CN" sz="1800" b="1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Creating custom exceptions: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Define your own exceptions for specific situations.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Provides more granular error handling and information.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94409" y="3905232"/>
            <a:ext cx="5443518" cy="1374499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 w="12700" cap="flat" cmpd="sng">
            <a:solidFill>
              <a:srgbClr val="264159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76200" dist="12700" dir="8100000" sy="-23000" kx="800400" algn="br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18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Rethrowing exceptions: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Propagate an exception caught in a catch block.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 panose="020B0604020202020204"/>
              <a:buChar char="•"/>
            </a:pPr>
            <a:r>
              <a:rPr lang="zh-CN" sz="16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Allows handling the exception at a higher level.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76328" y="5170014"/>
            <a:ext cx="5626620" cy="1687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/>
          <p:nvPr/>
        </p:nvSpPr>
        <p:spPr>
          <a:xfrm>
            <a:off x="0" y="213957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CA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5"/>
          <p:cNvSpPr/>
          <p:nvPr/>
        </p:nvSpPr>
        <p:spPr>
          <a:xfrm rot="5400000">
            <a:off x="-66675" y="66675"/>
            <a:ext cx="5964238" cy="5830888"/>
          </a:xfrm>
          <a:prstGeom prst="rtTriangle">
            <a:avLst/>
          </a:prstGeom>
          <a:solidFill>
            <a:srgbClr val="0DB1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123" name="Google Shape;123;p5"/>
          <p:cNvGrpSpPr/>
          <p:nvPr/>
        </p:nvGrpSpPr>
        <p:grpSpPr>
          <a:xfrm>
            <a:off x="11099800" y="128588"/>
            <a:ext cx="806450" cy="336550"/>
            <a:chOff x="603250" y="1054101"/>
            <a:chExt cx="1951038" cy="812800"/>
          </a:xfrm>
        </p:grpSpPr>
        <p:sp>
          <p:nvSpPr>
            <p:cNvPr id="124" name="Google Shape;124;p5"/>
            <p:cNvSpPr/>
            <p:nvPr/>
          </p:nvSpPr>
          <p:spPr>
            <a:xfrm>
              <a:off x="2365375" y="1431926"/>
              <a:ext cx="188913" cy="407988"/>
            </a:xfrm>
            <a:custGeom>
              <a:avLst/>
              <a:gdLst/>
              <a:ahLst/>
              <a:cxnLst/>
              <a:rect l="l" t="t" r="r" b="b"/>
              <a:pathLst>
                <a:path w="210" h="453" extrusionOk="0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2466975" y="1135063"/>
              <a:ext cx="71438" cy="231775"/>
            </a:xfrm>
            <a:custGeom>
              <a:avLst/>
              <a:gdLst/>
              <a:ahLst/>
              <a:cxnLst/>
              <a:rect l="l" t="t" r="r" b="b"/>
              <a:pathLst>
                <a:path w="79" h="258" extrusionOk="0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2332038" y="1135063"/>
              <a:ext cx="69850" cy="231775"/>
            </a:xfrm>
            <a:custGeom>
              <a:avLst/>
              <a:gdLst/>
              <a:ahLst/>
              <a:cxnLst/>
              <a:rect l="l" t="t" r="r" b="b"/>
              <a:pathLst>
                <a:path w="79" h="258" extrusionOk="0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1925638" y="1417638"/>
              <a:ext cx="430213" cy="449263"/>
            </a:xfrm>
            <a:custGeom>
              <a:avLst/>
              <a:gdLst/>
              <a:ahLst/>
              <a:cxnLst/>
              <a:rect l="l" t="t" r="r" b="b"/>
              <a:pathLst>
                <a:path w="478" h="498" extrusionOk="0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2073275" y="1250951"/>
              <a:ext cx="225425" cy="115888"/>
            </a:xfrm>
            <a:custGeom>
              <a:avLst/>
              <a:gdLst/>
              <a:ahLst/>
              <a:cxnLst/>
              <a:rect l="l" t="t" r="r" b="b"/>
              <a:pathLst>
                <a:path w="251" h="128" extrusionOk="0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2079625" y="1212851"/>
              <a:ext cx="212725" cy="31750"/>
            </a:xfrm>
            <a:custGeom>
              <a:avLst/>
              <a:gdLst/>
              <a:ahLst/>
              <a:cxnLst/>
              <a:rect l="l" t="t" r="r" b="b"/>
              <a:pathLst>
                <a:path w="134" h="20" extrusionOk="0">
                  <a:moveTo>
                    <a:pt x="122" y="12"/>
                  </a:moveTo>
                  <a:lnTo>
                    <a:pt x="12" y="12"/>
                  </a:lnTo>
                  <a:lnTo>
                    <a:pt x="12" y="20"/>
                  </a:lnTo>
                  <a:lnTo>
                    <a:pt x="0" y="20"/>
                  </a:lnTo>
                  <a:lnTo>
                    <a:pt x="0" y="12"/>
                  </a:lnTo>
                  <a:lnTo>
                    <a:pt x="0" y="0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34" y="12"/>
                  </a:lnTo>
                  <a:lnTo>
                    <a:pt x="134" y="20"/>
                  </a:lnTo>
                  <a:lnTo>
                    <a:pt x="122" y="20"/>
                  </a:lnTo>
                  <a:lnTo>
                    <a:pt x="122" y="1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2085975" y="1109663"/>
              <a:ext cx="200025" cy="90488"/>
            </a:xfrm>
            <a:custGeom>
              <a:avLst/>
              <a:gdLst/>
              <a:ahLst/>
              <a:cxnLst/>
              <a:rect l="l" t="t" r="r" b="b"/>
              <a:pathLst>
                <a:path w="126" h="57" extrusionOk="0">
                  <a:moveTo>
                    <a:pt x="69" y="45"/>
                  </a:moveTo>
                  <a:lnTo>
                    <a:pt x="106" y="45"/>
                  </a:lnTo>
                  <a:lnTo>
                    <a:pt x="106" y="57"/>
                  </a:lnTo>
                  <a:lnTo>
                    <a:pt x="21" y="57"/>
                  </a:lnTo>
                  <a:lnTo>
                    <a:pt x="21" y="45"/>
                  </a:lnTo>
                  <a:lnTo>
                    <a:pt x="57" y="45"/>
                  </a:lnTo>
                  <a:lnTo>
                    <a:pt x="57" y="32"/>
                  </a:lnTo>
                  <a:lnTo>
                    <a:pt x="0" y="32"/>
                  </a:lnTo>
                  <a:lnTo>
                    <a:pt x="0" y="20"/>
                  </a:lnTo>
                  <a:lnTo>
                    <a:pt x="57" y="20"/>
                  </a:lnTo>
                  <a:lnTo>
                    <a:pt x="57" y="0"/>
                  </a:lnTo>
                  <a:lnTo>
                    <a:pt x="69" y="0"/>
                  </a:lnTo>
                  <a:lnTo>
                    <a:pt x="69" y="20"/>
                  </a:lnTo>
                  <a:lnTo>
                    <a:pt x="126" y="20"/>
                  </a:lnTo>
                  <a:lnTo>
                    <a:pt x="126" y="32"/>
                  </a:lnTo>
                  <a:lnTo>
                    <a:pt x="69" y="32"/>
                  </a:lnTo>
                  <a:lnTo>
                    <a:pt x="69" y="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1892300" y="1219201"/>
              <a:ext cx="142875" cy="149225"/>
            </a:xfrm>
            <a:custGeom>
              <a:avLst/>
              <a:gdLst/>
              <a:ahLst/>
              <a:cxnLst/>
              <a:rect l="l" t="t" r="r" b="b"/>
              <a:pathLst>
                <a:path w="90" h="94" extrusionOk="0">
                  <a:moveTo>
                    <a:pt x="12" y="94"/>
                  </a:moveTo>
                  <a:lnTo>
                    <a:pt x="0" y="94"/>
                  </a:lnTo>
                  <a:lnTo>
                    <a:pt x="0" y="82"/>
                  </a:lnTo>
                  <a:lnTo>
                    <a:pt x="0" y="8"/>
                  </a:lnTo>
                  <a:lnTo>
                    <a:pt x="11" y="8"/>
                  </a:lnTo>
                  <a:lnTo>
                    <a:pt x="25" y="0"/>
                  </a:lnTo>
                  <a:lnTo>
                    <a:pt x="31" y="11"/>
                  </a:lnTo>
                  <a:lnTo>
                    <a:pt x="12" y="22"/>
                  </a:lnTo>
                  <a:lnTo>
                    <a:pt x="12" y="45"/>
                  </a:lnTo>
                  <a:lnTo>
                    <a:pt x="37" y="45"/>
                  </a:lnTo>
                  <a:lnTo>
                    <a:pt x="37" y="57"/>
                  </a:lnTo>
                  <a:lnTo>
                    <a:pt x="12" y="57"/>
                  </a:lnTo>
                  <a:lnTo>
                    <a:pt x="12" y="82"/>
                  </a:lnTo>
                  <a:lnTo>
                    <a:pt x="77" y="82"/>
                  </a:lnTo>
                  <a:lnTo>
                    <a:pt x="77" y="57"/>
                  </a:lnTo>
                  <a:lnTo>
                    <a:pt x="53" y="57"/>
                  </a:lnTo>
                  <a:lnTo>
                    <a:pt x="53" y="45"/>
                  </a:lnTo>
                  <a:lnTo>
                    <a:pt x="77" y="45"/>
                  </a:lnTo>
                  <a:lnTo>
                    <a:pt x="77" y="20"/>
                  </a:lnTo>
                  <a:lnTo>
                    <a:pt x="53" y="20"/>
                  </a:lnTo>
                  <a:lnTo>
                    <a:pt x="53" y="8"/>
                  </a:lnTo>
                  <a:lnTo>
                    <a:pt x="77" y="8"/>
                  </a:lnTo>
                  <a:lnTo>
                    <a:pt x="90" y="8"/>
                  </a:lnTo>
                  <a:lnTo>
                    <a:pt x="90" y="94"/>
                  </a:lnTo>
                  <a:lnTo>
                    <a:pt x="77" y="94"/>
                  </a:lnTo>
                  <a:lnTo>
                    <a:pt x="12" y="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1995488" y="116522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0" y="23"/>
                  </a:moveTo>
                  <a:lnTo>
                    <a:pt x="14" y="0"/>
                  </a:lnTo>
                  <a:lnTo>
                    <a:pt x="25" y="6"/>
                  </a:lnTo>
                  <a:lnTo>
                    <a:pt x="10" y="29"/>
                  </a:lnTo>
                  <a:lnTo>
                    <a:pt x="0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1938338" y="115887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25" y="23"/>
                  </a:moveTo>
                  <a:lnTo>
                    <a:pt x="14" y="29"/>
                  </a:lnTo>
                  <a:lnTo>
                    <a:pt x="0" y="6"/>
                  </a:lnTo>
                  <a:lnTo>
                    <a:pt x="10" y="0"/>
                  </a:lnTo>
                  <a:lnTo>
                    <a:pt x="25" y="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1898650" y="1165226"/>
              <a:ext cx="39688" cy="46038"/>
            </a:xfrm>
            <a:custGeom>
              <a:avLst/>
              <a:gdLst/>
              <a:ahLst/>
              <a:cxnLst/>
              <a:rect l="l" t="t" r="r" b="b"/>
              <a:pathLst>
                <a:path w="25" h="29" extrusionOk="0">
                  <a:moveTo>
                    <a:pt x="0" y="6"/>
                  </a:moveTo>
                  <a:lnTo>
                    <a:pt x="11" y="0"/>
                  </a:lnTo>
                  <a:lnTo>
                    <a:pt x="25" y="23"/>
                  </a:lnTo>
                  <a:lnTo>
                    <a:pt x="15" y="29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1892300" y="1109663"/>
              <a:ext cx="134938" cy="46038"/>
            </a:xfrm>
            <a:custGeom>
              <a:avLst/>
              <a:gdLst/>
              <a:ahLst/>
              <a:cxnLst/>
              <a:rect l="l" t="t" r="r" b="b"/>
              <a:pathLst>
                <a:path w="85" h="29" extrusionOk="0">
                  <a:moveTo>
                    <a:pt x="0" y="17"/>
                  </a:moveTo>
                  <a:lnTo>
                    <a:pt x="82" y="0"/>
                  </a:lnTo>
                  <a:lnTo>
                    <a:pt x="85" y="11"/>
                  </a:lnTo>
                  <a:lnTo>
                    <a:pt x="3" y="29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1768475" y="1160463"/>
              <a:ext cx="117475" cy="207963"/>
            </a:xfrm>
            <a:custGeom>
              <a:avLst/>
              <a:gdLst/>
              <a:ahLst/>
              <a:cxnLst/>
              <a:rect l="l" t="t" r="r" b="b"/>
              <a:pathLst>
                <a:path w="74" h="131" extrusionOk="0">
                  <a:moveTo>
                    <a:pt x="46" y="49"/>
                  </a:moveTo>
                  <a:lnTo>
                    <a:pt x="48" y="48"/>
                  </a:lnTo>
                  <a:lnTo>
                    <a:pt x="71" y="88"/>
                  </a:lnTo>
                  <a:lnTo>
                    <a:pt x="60" y="94"/>
                  </a:lnTo>
                  <a:lnTo>
                    <a:pt x="46" y="68"/>
                  </a:lnTo>
                  <a:lnTo>
                    <a:pt x="46" y="131"/>
                  </a:lnTo>
                  <a:lnTo>
                    <a:pt x="33" y="131"/>
                  </a:lnTo>
                  <a:lnTo>
                    <a:pt x="33" y="59"/>
                  </a:lnTo>
                  <a:lnTo>
                    <a:pt x="11" y="98"/>
                  </a:lnTo>
                  <a:lnTo>
                    <a:pt x="0" y="91"/>
                  </a:lnTo>
                  <a:lnTo>
                    <a:pt x="33" y="34"/>
                  </a:lnTo>
                  <a:lnTo>
                    <a:pt x="33" y="25"/>
                  </a:lnTo>
                  <a:lnTo>
                    <a:pt x="5" y="25"/>
                  </a:lnTo>
                  <a:lnTo>
                    <a:pt x="5" y="13"/>
                  </a:lnTo>
                  <a:lnTo>
                    <a:pt x="33" y="13"/>
                  </a:lnTo>
                  <a:lnTo>
                    <a:pt x="33" y="0"/>
                  </a:lnTo>
                  <a:lnTo>
                    <a:pt x="46" y="0"/>
                  </a:lnTo>
                  <a:lnTo>
                    <a:pt x="46" y="13"/>
                  </a:lnTo>
                  <a:lnTo>
                    <a:pt x="74" y="13"/>
                  </a:lnTo>
                  <a:lnTo>
                    <a:pt x="74" y="25"/>
                  </a:lnTo>
                  <a:lnTo>
                    <a:pt x="46" y="25"/>
                  </a:lnTo>
                  <a:lnTo>
                    <a:pt x="46" y="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1774825" y="1111251"/>
              <a:ext cx="103188" cy="44450"/>
            </a:xfrm>
            <a:custGeom>
              <a:avLst/>
              <a:gdLst/>
              <a:ahLst/>
              <a:cxnLst/>
              <a:rect l="l" t="t" r="r" b="b"/>
              <a:pathLst>
                <a:path w="65" h="28" extrusionOk="0">
                  <a:moveTo>
                    <a:pt x="0" y="16"/>
                  </a:moveTo>
                  <a:lnTo>
                    <a:pt x="62" y="0"/>
                  </a:lnTo>
                  <a:lnTo>
                    <a:pt x="65" y="11"/>
                  </a:lnTo>
                  <a:lnTo>
                    <a:pt x="4" y="2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1281113" y="1446213"/>
              <a:ext cx="698500" cy="392113"/>
            </a:xfrm>
            <a:custGeom>
              <a:avLst/>
              <a:gdLst/>
              <a:ahLst/>
              <a:cxnLst/>
              <a:rect l="l" t="t" r="r" b="b"/>
              <a:pathLst>
                <a:path w="776" h="436" extrusionOk="0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603250" y="1054101"/>
              <a:ext cx="679450" cy="800100"/>
            </a:xfrm>
            <a:custGeom>
              <a:avLst/>
              <a:gdLst/>
              <a:ahLst/>
              <a:cxnLst/>
              <a:rect l="l" t="t" r="r" b="b"/>
              <a:pathLst>
                <a:path w="756" h="888" extrusionOk="0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 panose="020F050202020403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40" name="Google Shape;140;p5"/>
          <p:cNvSpPr txBox="1"/>
          <p:nvPr/>
        </p:nvSpPr>
        <p:spPr>
          <a:xfrm>
            <a:off x="287338" y="90488"/>
            <a:ext cx="225583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icrosoft YaHei" panose="020B0503020204020204" charset="-122"/>
              <a:buNone/>
            </a:pPr>
            <a:r>
              <a:rPr lang="zh-CN" sz="20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单击此处添加标题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41" name="Google Shape;141;p5"/>
          <p:cNvSpPr/>
          <p:nvPr/>
        </p:nvSpPr>
        <p:spPr>
          <a:xfrm rot="5400000">
            <a:off x="3" y="7"/>
            <a:ext cx="2770200" cy="277020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1535636" y="278822"/>
            <a:ext cx="1027874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 panose="020F0502020204030204"/>
              <a:buNone/>
            </a:pPr>
            <a:r>
              <a:rPr lang="zh-CN" sz="30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Techniques - Nested Blocks &amp; Chained Exceptions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43" name="Google Shape;143;p5" descr="Dart_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494900" y="1243389"/>
            <a:ext cx="2029451" cy="185515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4" name="Google Shape;144;p5"/>
          <p:cNvSpPr/>
          <p:nvPr/>
        </p:nvSpPr>
        <p:spPr>
          <a:xfrm>
            <a:off x="287338" y="1467002"/>
            <a:ext cx="7822341" cy="1700663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Nested try-catch blocks: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Multiple try-catch blocks nested inside each other.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Provides finer-grained control over exception handling for specific code sections.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248264" y="4044721"/>
            <a:ext cx="7412463" cy="1648918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icrosoft YaHei" panose="020B0503020204020204" charset="-122"/>
              <a:buNone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Chained exceptions: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Link exceptions together to trace their origin and cause.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Helpful for debugging and understanding the root cause of an error.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46" name="Google Shape;146;p5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997489" y="3837480"/>
            <a:ext cx="4037665" cy="290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0" y="2692400"/>
            <a:ext cx="6624638" cy="416560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3" name="Google Shape;153;p7"/>
          <p:cNvSpPr txBox="1"/>
          <p:nvPr/>
        </p:nvSpPr>
        <p:spPr>
          <a:xfrm>
            <a:off x="3509955" y="388911"/>
            <a:ext cx="7556500" cy="830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F0502020204030204"/>
              <a:buNone/>
            </a:pPr>
            <a:r>
              <a:rPr lang="zh-CN" sz="3600" b="1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Advanced Techniques - Multithreading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4" name="Google Shape;154;p7" descr="Dart_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182181" y="804201"/>
            <a:ext cx="1830842" cy="188819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</p:pic>
      <p:sp>
        <p:nvSpPr>
          <p:cNvPr id="155" name="Google Shape;155;p7"/>
          <p:cNvSpPr/>
          <p:nvPr/>
        </p:nvSpPr>
        <p:spPr>
          <a:xfrm>
            <a:off x="6265888" y="1918741"/>
            <a:ext cx="5539241" cy="3691586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sz="2000" b="1" i="0" u="none" strike="noStrike" cap="none">
              <a:solidFill>
                <a:srgbClr val="262626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icrosoft YaHei" panose="020B0503020204020204" charset="-122"/>
              <a:buNone/>
            </a:pPr>
            <a:r>
              <a:rPr lang="zh-CN" sz="2000" b="1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Exception handling in multithreaded environments: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Synchronize access to shared resources to avoid race conditions.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⮚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Ensure thread safety when handling exceptions.</a:t>
            </a: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262626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7"/>
          <p:cNvPicPr preferRelativeResize="0"/>
          <p:nvPr/>
        </p:nvPicPr>
        <p:blipFill rotWithShape="1">
          <a:blip r:embed="rId3"/>
          <a:srcRect l="8828" t="14103" r="10993" b="20879"/>
          <a:stretch>
            <a:fillRect/>
          </a:stretch>
        </p:blipFill>
        <p:spPr>
          <a:xfrm>
            <a:off x="412230" y="3107690"/>
            <a:ext cx="5446191" cy="2753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1999" h="6858000" extrusionOk="0">
                <a:moveTo>
                  <a:pt x="0" y="0"/>
                </a:moveTo>
                <a:lnTo>
                  <a:pt x="12191999" y="568584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DB1C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3" name="Google Shape;163;p8"/>
          <p:cNvSpPr/>
          <p:nvPr/>
        </p:nvSpPr>
        <p:spPr>
          <a:xfrm rot="5400000">
            <a:off x="0" y="0"/>
            <a:ext cx="2838450" cy="2838450"/>
          </a:xfrm>
          <a:prstGeom prst="rtTriangle">
            <a:avLst/>
          </a:prstGeom>
          <a:solidFill>
            <a:srgbClr val="0D517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2425700" y="398780"/>
            <a:ext cx="9105900" cy="64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icrosoft YaHei" panose="020B0503020204020204" charset="-122"/>
              <a:buNone/>
            </a:pPr>
            <a:r>
              <a:rPr lang="zh-CN" sz="3600" b="1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Real-world Examples &amp; Pitfalls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5" name="Google Shape;165;p8" descr="Dart_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39286" y="833494"/>
            <a:ext cx="1349222" cy="1218452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</p:pic>
      <p:sp>
        <p:nvSpPr>
          <p:cNvPr id="166" name="Google Shape;166;p8"/>
          <p:cNvSpPr/>
          <p:nvPr/>
        </p:nvSpPr>
        <p:spPr>
          <a:xfrm>
            <a:off x="446957" y="1878891"/>
            <a:ext cx="7068267" cy="1631783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Demonstrate different exception handling techniques in practical situations.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42900" marR="0" lvl="0" indent="-2286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Discuss potential pitfalls and solutions for common errors.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7" name="Google Shape;167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120327" y="4020172"/>
            <a:ext cx="4598462" cy="26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5176"/>
        </a:solidFill>
        <a:effectLst/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858844" y="3814931"/>
            <a:ext cx="7400290" cy="3509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</a:pPr>
            <a:endParaRPr sz="2000" b="0" i="0" u="none" strike="noStrike" cap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74" name="Google Shape;174;p9" descr="Dart_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61567" y="1189355"/>
            <a:ext cx="2709856" cy="2709856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</p:pic>
      <p:sp>
        <p:nvSpPr>
          <p:cNvPr id="175" name="Google Shape;175;p9"/>
          <p:cNvSpPr/>
          <p:nvPr/>
        </p:nvSpPr>
        <p:spPr>
          <a:xfrm>
            <a:off x="4805897" y="1739779"/>
            <a:ext cx="6624536" cy="1998534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r>
              <a:rPr lang="zh-CN" sz="1800" b="1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Principles for robust exception handling: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Follow consistent and clear coding patterns.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Use descriptive exception messages.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Design for testability and maintainability.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73932" y="4313717"/>
            <a:ext cx="6994187" cy="2235673"/>
          </a:xfrm>
          <a:prstGeom prst="roundRect">
            <a:avLst>
              <a:gd name="adj" fmla="val 16667"/>
            </a:avLst>
          </a:prstGeom>
          <a:solidFill>
            <a:srgbClr val="525252"/>
          </a:solidFill>
          <a:ln>
            <a:noFill/>
          </a:ln>
          <a:effectLst>
            <a:outerShdw blurRad="190500" dist="228600" dir="2700000" algn="ctr">
              <a:srgbClr val="000000">
                <a:alpha val="2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Noto Sans Symbols"/>
              <a:buNone/>
            </a:pPr>
            <a:r>
              <a:rPr lang="zh-CN" sz="1800" b="1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Choosing the right approach: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Consider the context and severity of potential exceptions.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Choose appropriate try-catch blocks and exception types.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 panose="020B0604020202020204"/>
              <a:buChar char="•"/>
            </a:pPr>
            <a:r>
              <a:rPr lang="zh-CN" sz="1800" b="0" i="0" u="none" strike="noStrike" cap="none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Balance clarity with efficiency.</a:t>
            </a: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2315210" y="243205"/>
            <a:ext cx="8132445" cy="104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 panose="020B0604020202020204"/>
              <a:buNone/>
            </a:pPr>
            <a:r>
              <a:rPr lang="zh-CN" sz="40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Best Practices &amp; Guidelines</a:t>
            </a:r>
            <a:endParaRPr sz="40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br>
              <a:rPr lang="zh-CN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78" name="Google Shape;178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827311" y="-167700"/>
            <a:ext cx="1351275" cy="1015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2259</Words>
  <Application>WPS Presentation</Application>
  <PresentationFormat/>
  <Paragraphs>115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Gill Sans</vt:lpstr>
      <vt:lpstr>Noto Sans Symbols</vt:lpstr>
      <vt:lpstr>Segoe Print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Riyana</cp:lastModifiedBy>
  <cp:revision>2</cp:revision>
  <dcterms:created xsi:type="dcterms:W3CDTF">2025-08-05T07:29:00Z</dcterms:created>
  <dcterms:modified xsi:type="dcterms:W3CDTF">2025-08-08T06:53:58Z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1033-12.2.0.21931</vt:lpwstr>
  </property>
  <property fmtid="{D5CDD505-2E9C-101B-9397-08002B2CF9AE}" pid="3" name="ICV">
    <vt:lpwstr>A16F021FDB6D4FFEA3EB36EAEDBA2FF0_13</vt:lpwstr>
  </property>
</Properties>
</file>