
<file path=[Content_Types].xml><?xml version="1.0" encoding="utf-8"?>
<Types xmlns="http://schemas.openxmlformats.org/package/2006/content-types">
  <Default Extension="png" ContentType="image/png"/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fonts/font1.fntdata" ContentType="application/x-fontdata"/>
  <Override PartName="/ppt/fonts/font2.fntdata" ContentType="application/x-fontdata"/>
  <Override PartName="/ppt/fonts/font3.fntdata" ContentType="application/x-fontdata"/>
  <Override PartName="/ppt/fonts/font4.fntdata" ContentType="application/x-fontdata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  <p:sldMasterId id="2147483651" r:id="rId3"/>
  </p:sldMasterIdLst>
  <p:notesMasterIdLst>
    <p:notesMasterId r:id="rId5"/>
  </p:notesMasterIdLst>
  <p:sldIdLst>
    <p:sldId id="256" r:id="rId4"/>
    <p:sldId id="257" r:id="rId6"/>
    <p:sldId id="258" r:id="rId7"/>
    <p:sldId id="259" r:id="rId8"/>
    <p:sldId id="260" r:id="rId9"/>
    <p:sldId id="261" r:id="rId10"/>
    <p:sldId id="262" r:id="rId11"/>
    <p:sldId id="263" r:id="rId12"/>
  </p:sldIdLst>
  <p:sldSz cx="12192000" cy="6858000"/>
  <p:notesSz cx="6858000" cy="9144000"/>
  <p:embeddedFontLst>
    <p:embeddedFont>
      <p:font typeface="Calibri" panose="020F0502020204030204"/>
      <p:regular r:id="rId16"/>
    </p:embeddedFont>
    <p:embeddedFont>
      <p:font typeface="Microsoft YaHei" panose="020B0503020204020204" charset="-122"/>
      <p:regular r:id="rId17"/>
    </p:embeddedFont>
    <p:embeddedFont>
      <p:font typeface="Gill Sans" panose="020B0502020104020203"/>
      <p:regular r:id="rId18"/>
      <p:bold r:id="rId1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defaultTextStyle>
  <p:extLst>
    <p:ext uri="{EFAFB233-063F-42B5-8137-9DF3F51BA10A}">
      <p15:sldGuideLst xmlns:p15="http://schemas.microsoft.com/office/powerpoint/2012/main">
        <p15:guide id="1" orient="horz" pos="2198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showComments="0">
  <p:normalViewPr>
    <p:restoredLeft sz="15620"/>
    <p:restoredTop sz="94660"/>
  </p:normalViewPr>
  <p:slideViewPr>
    <p:cSldViewPr snapToGrid="0" showGuides="1">
      <p:cViewPr varScale="1">
        <p:scale>
          <a:sx n="100" d="100"/>
          <a:sy n="100" d="100"/>
        </p:scale>
        <p:origin x="0" y="0"/>
      </p:cViewPr>
      <p:guideLst>
        <p:guide orient="horz" pos="2198"/>
        <p:guide pos="3840"/>
      </p:guideLst>
    </p:cSldViewPr>
  </p:slide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5.xml"/><Relationship Id="rId8" Type="http://schemas.openxmlformats.org/officeDocument/2006/relationships/slide" Target="slides/slide4.xml"/><Relationship Id="rId7" Type="http://schemas.openxmlformats.org/officeDocument/2006/relationships/slide" Target="slides/slide3.xml"/><Relationship Id="rId6" Type="http://schemas.openxmlformats.org/officeDocument/2006/relationships/slide" Target="slides/slide2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3" Type="http://schemas.openxmlformats.org/officeDocument/2006/relationships/slideMaster" Target="slideMasters/slideMaster2.xml"/><Relationship Id="rId2" Type="http://schemas.openxmlformats.org/officeDocument/2006/relationships/theme" Target="theme/theme1.xml"/><Relationship Id="rId19" Type="http://schemas.openxmlformats.org/officeDocument/2006/relationships/font" Target="fonts/font4.fntdata"/><Relationship Id="rId18" Type="http://schemas.openxmlformats.org/officeDocument/2006/relationships/font" Target="fonts/font3.fntdata"/><Relationship Id="rId17" Type="http://schemas.openxmlformats.org/officeDocument/2006/relationships/font" Target="fonts/font2.fntdata"/><Relationship Id="rId16" Type="http://schemas.openxmlformats.org/officeDocument/2006/relationships/font" Target="fonts/font1.fntdata"/><Relationship Id="rId15" Type="http://schemas.openxmlformats.org/officeDocument/2006/relationships/tableStyles" Target="tableStyles.xml"/><Relationship Id="rId14" Type="http://schemas.openxmlformats.org/officeDocument/2006/relationships/viewProps" Target="viewProps.xml"/><Relationship Id="rId13" Type="http://schemas.openxmlformats.org/officeDocument/2006/relationships/presProps" Target="presProps.xml"/><Relationship Id="rId12" Type="http://schemas.openxmlformats.org/officeDocument/2006/relationships/slide" Target="slides/slide8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 panose="020F0502020204030204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 panose="020F050202020403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 panose="020F050202020403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 panose="020F050202020403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 panose="020F050202020403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 panose="020F050202020403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 panose="020F050202020403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 panose="020F0502020204030204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 panose="020F050202020403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 panose="020F050202020403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 panose="020F050202020403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 panose="020F050202020403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 panose="020F050202020403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 panose="020F050202020403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5" name="Google Shape;5;n"/>
          <p:cNvSpPr/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type="ftr" idx="11"/>
          </p:nvPr>
        </p:nvSpPr>
        <p:spPr>
          <a:xfrm>
            <a:off x="0" y="8685213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 panose="020F0502020204030204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 panose="020F050202020403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 panose="020F050202020403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 panose="020F050202020403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 panose="020F050202020403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 panose="020F050202020403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 panose="020F050202020403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type="sldNum" idx="12"/>
          </p:nvPr>
        </p:nvSpPr>
        <p:spPr>
          <a:xfrm>
            <a:off x="3884613" y="8685213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 panose="020F0502020204030204"/>
              <a:buNone/>
            </a:pPr>
            <a:fld id="{00000000-1234-1234-1234-123412341234}" type="slidenum">
              <a:rPr lang="zh-CN"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</a:fld>
            <a:endParaRPr sz="12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:notes"/>
          <p:cNvSpPr/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"/>
            <a:headEnd type="none" w="sm" len="sm"/>
            <a:tailEnd type="none" w="sm" len="sm"/>
          </a:ln>
        </p:spPr>
      </p:sp>
      <p:sp>
        <p:nvSpPr>
          <p:cNvPr id="47" name="Google Shape;47;p1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57200" lvl="0" indent="-2286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None/>
            </a:pPr>
            <a:r>
              <a:rPr lang="zh-CN" sz="1100">
                <a:solidFill>
                  <a:srgbClr val="0D0D0D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Hello everyone, welcome to our session on "Exception handling Fundamentals and Advanced Techniques”, In this presentation we will cover Introduction and Implementation of Exceptions, Fundamentals- Terminology and Types, Handling Exceptions, Advanced Techniques- Nested Blocks and Chained Exceptions,Advanced Techniques- Multithreading, Realworld Examples and Pitfalls and Best practices and Guidelines. </a:t>
            </a:r>
            <a:endParaRPr lang="zh-CN" sz="1100">
              <a:solidFill>
                <a:srgbClr val="0D0D0D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48" name="Google Shape;48;p1:notes"/>
          <p:cNvSpPr txBox="1"/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 panose="020F0502020204030204"/>
              <a:buNone/>
            </a:pPr>
            <a:fld id="{00000000-1234-1234-1234-123412341234}" type="slidenum">
              <a:rPr lang="zh-CN" sz="1200"/>
            </a:fld>
            <a:endParaRPr sz="120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2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CN"/>
              <a:t>Introduction &amp; Importance:</a:t>
            </a:r>
            <a:endParaRPr lang="zh-CN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zh-CN"/>
              <a:t>What are exceptions?: We'll begin by defining exceptions and their significance in software development.</a:t>
            </a:r>
            <a:endParaRPr lang="zh-CN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zh-CN"/>
              <a:t>Importance of exception handling: Discussing why proper exception handling is essential for robust and reliable software.</a:t>
            </a:r>
            <a:endParaRPr lang="zh-CN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CN"/>
              <a:t>Benefits of proper exception handling: Exploring the advantages of implementing effective exception handling practices.</a:t>
            </a:r>
            <a:endParaRPr lang="zh-CN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</a:p>
        </p:txBody>
      </p:sp>
      <p:sp>
        <p:nvSpPr>
          <p:cNvPr id="81" name="Google Shape;81;p2:notes"/>
          <p:cNvSpPr/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3:notes"/>
          <p:cNvSpPr/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4" name="Google Shape;94;p3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zh-CN" sz="1600" b="1">
                <a:solidFill>
                  <a:schemeClr val="dk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Key terms:</a:t>
            </a:r>
            <a:endParaRPr lang="zh-CN" sz="1600" b="1">
              <a:solidFill>
                <a:schemeClr val="dk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200">
              <a:solidFill>
                <a:schemeClr val="dk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285750" lvl="0" indent="-28575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oto Sans Symbols"/>
              <a:buChar char="⮚"/>
            </a:pPr>
            <a:r>
              <a:rPr lang="zh-CN" sz="1200">
                <a:solidFill>
                  <a:schemeClr val="dk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try-catch block: defines code blocks for handling specific exceptions.</a:t>
            </a:r>
            <a:endParaRPr lang="zh-CN" sz="1200">
              <a:solidFill>
                <a:schemeClr val="dk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285750" lvl="0" indent="-20955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oto Sans Symbols"/>
              <a:buNone/>
            </a:pPr>
            <a:endParaRPr sz="1200">
              <a:solidFill>
                <a:schemeClr val="dk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285750" lvl="0" indent="-28575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oto Sans Symbols"/>
              <a:buChar char="⮚"/>
            </a:pPr>
            <a:r>
              <a:rPr lang="zh-CN" sz="1200">
                <a:solidFill>
                  <a:schemeClr val="dk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finally block: executes regardless of exceptions (e.g., resource cleanup).</a:t>
            </a:r>
            <a:endParaRPr lang="zh-CN" sz="1200">
              <a:solidFill>
                <a:schemeClr val="dk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285750" lvl="0" indent="-20955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oto Sans Symbols"/>
              <a:buNone/>
            </a:pPr>
            <a:endParaRPr sz="1200">
              <a:solidFill>
                <a:schemeClr val="dk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285750" lvl="0" indent="-28575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oto Sans Symbols"/>
              <a:buChar char="⮚"/>
            </a:pPr>
            <a:r>
              <a:rPr lang="zh-CN" sz="1200">
                <a:solidFill>
                  <a:schemeClr val="dk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throw: explicitly throws an exception.</a:t>
            </a:r>
            <a:endParaRPr lang="zh-CN" sz="1200">
              <a:solidFill>
                <a:schemeClr val="dk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285750" lvl="0" indent="-20955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oto Sans Symbols"/>
              <a:buNone/>
            </a:pPr>
            <a:endParaRPr sz="1200">
              <a:solidFill>
                <a:schemeClr val="dk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285750" lvl="0" indent="-28575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oto Sans Symbols"/>
              <a:buChar char="⮚"/>
            </a:pPr>
            <a:r>
              <a:rPr lang="zh-CN" sz="1200">
                <a:solidFill>
                  <a:schemeClr val="dk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throws: declares the types of exceptions a method may throw. </a:t>
            </a:r>
            <a:endParaRPr lang="zh-CN" sz="1200">
              <a:solidFill>
                <a:schemeClr val="dk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200">
              <a:solidFill>
                <a:schemeClr val="dk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zh-CN" sz="1400" b="1">
                <a:solidFill>
                  <a:schemeClr val="dk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Types of exceptions:</a:t>
            </a:r>
            <a:endParaRPr lang="zh-CN" sz="1400" b="1">
              <a:solidFill>
                <a:schemeClr val="dk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200">
              <a:solidFill>
                <a:schemeClr val="dk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285750" lvl="0" indent="-28575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oto Sans Symbols"/>
              <a:buChar char="⮚"/>
            </a:pPr>
            <a:r>
              <a:rPr lang="zh-CN" sz="1200">
                <a:solidFill>
                  <a:schemeClr val="dk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Checked: require explicit handling by the programmer.</a:t>
            </a:r>
            <a:endParaRPr lang="zh-CN" sz="1200">
              <a:solidFill>
                <a:schemeClr val="dk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200">
              <a:solidFill>
                <a:schemeClr val="dk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285750" lvl="0" indent="-28575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oto Sans Symbols"/>
              <a:buChar char="⮚"/>
            </a:pPr>
            <a:r>
              <a:rPr lang="zh-CN" sz="1200">
                <a:solidFill>
                  <a:schemeClr val="dk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Unchecked: not required to be handled but recommende.</a:t>
            </a:r>
            <a:endParaRPr lang="zh-CN" sz="1200">
              <a:solidFill>
                <a:schemeClr val="dk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4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zh-CN"/>
              <a:t>Specific vs. General exceptions: Discussing the merits of handling specific exceptions versus catching general exceptions.</a:t>
            </a:r>
            <a:endParaRPr lang="zh-CN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zh-CN"/>
              <a:t>Creating custom exceptions: Exploring the process of creating custom exception classes tailored to specific application requirements.</a:t>
            </a:r>
            <a:endParaRPr lang="zh-CN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CN"/>
              <a:t>Rethrowing exceptions: Explaining the concept of rethrowing exceptions and its use cases in exception propagation.</a:t>
            </a:r>
            <a:endParaRPr lang="zh-CN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</a:p>
        </p:txBody>
      </p:sp>
      <p:sp>
        <p:nvSpPr>
          <p:cNvPr id="106" name="Google Shape;106;p4:notes"/>
          <p:cNvSpPr/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zh-CN"/>
              <a:t>Nested try-catch blocks: Demonstrating how nested try-catch blocks offer finer control over exception handling in complex scenarios.</a:t>
            </a:r>
            <a:endParaRPr lang="zh-CN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CN"/>
              <a:t>Chained exceptions: Discussing the concept of chaining exceptions to track error origins and provide comprehensive error information.</a:t>
            </a:r>
            <a:endParaRPr lang="zh-CN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</a:p>
        </p:txBody>
      </p:sp>
      <p:sp>
        <p:nvSpPr>
          <p:cNvPr id="119" name="Google Shape;119;p5:notes"/>
          <p:cNvSpPr/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7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zh-CN"/>
              <a:t>Exception handling in multithreaded environments: Addressing the challenges and considerations for handling exceptions in concurrent and multithreaded applications.</a:t>
            </a:r>
            <a:endParaRPr lang="zh-CN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CN"/>
              <a:t>Thread safety considerations: Discussing the importance of ensuring thread safety and synchronization in exception handling mechanisms.</a:t>
            </a:r>
            <a:endParaRPr lang="zh-CN"/>
          </a:p>
        </p:txBody>
      </p:sp>
      <p:sp>
        <p:nvSpPr>
          <p:cNvPr id="150" name="Google Shape;150;p7:notes"/>
          <p:cNvSpPr/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8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zh-CN"/>
              <a:t>Practical demonstrations: Providing real-world examples and scenarios to illustrate effective exception handling techniques.</a:t>
            </a:r>
            <a:endParaRPr lang="zh-CN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CN"/>
              <a:t>Discussing potential pitfalls: Identifying common mistakes and pitfalls in exception handling and proposing solutions to mitigate them.</a:t>
            </a:r>
            <a:endParaRPr lang="zh-CN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</a:p>
        </p:txBody>
      </p:sp>
      <p:sp>
        <p:nvSpPr>
          <p:cNvPr id="160" name="Google Shape;160;p8:notes"/>
          <p:cNvSpPr/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9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zh-CN"/>
              <a:t>Principles for robust exception handling: Outlining best practices and principles for designing resilient and maintainable exception handling mechanisms.</a:t>
            </a:r>
            <a:endParaRPr lang="zh-CN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zh-CN"/>
              <a:t>Designing for maintainability and readability: Emphasizing the importance of clear, concise, and maintainable exception handling code.</a:t>
            </a:r>
            <a:endParaRPr lang="zh-CN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zh-CN"/>
              <a:t>Choosing the right approach: Providing guidelines for selecting the appropriate exception handling approach based on the specific requirements of the application.</a:t>
            </a:r>
            <a:endParaRPr lang="zh-CN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</a:p>
        </p:txBody>
      </p:sp>
      <p:sp>
        <p:nvSpPr>
          <p:cNvPr id="171" name="Google Shape;171;p9:notes"/>
          <p:cNvSpPr/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matchingName="Title slid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1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 panose="020F0502020204030204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11"/>
          <p:cNvSpPr txBox="1"/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8" name="Google Shape;18;p11"/>
          <p:cNvSpPr txBox="1"/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9pPr>
          </a:lstStyle>
          <a:p/>
        </p:txBody>
      </p:sp>
      <p:sp>
        <p:nvSpPr>
          <p:cNvPr id="19" name="Google Shape;19;p11"/>
          <p:cNvSpPr txBox="1"/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9pPr>
          </a:lstStyle>
          <a:p/>
        </p:txBody>
      </p:sp>
      <p:sp>
        <p:nvSpPr>
          <p:cNvPr id="20" name="Google Shape;20;p11"/>
          <p:cNvSpPr txBox="1"/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 panose="020F050202020403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 panose="020F050202020403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 panose="020F050202020403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 panose="020F050202020403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 panose="020F050202020403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 panose="020F050202020403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 panose="020F050202020403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 panose="020F050202020403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 panose="020F050202020403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matchingName="Title and content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2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12"/>
          <p:cNvSpPr txBox="1"/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12"/>
          <p:cNvSpPr txBox="1"/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9pPr>
          </a:lstStyle>
          <a:p/>
        </p:txBody>
      </p:sp>
      <p:sp>
        <p:nvSpPr>
          <p:cNvPr id="25" name="Google Shape;25;p12"/>
          <p:cNvSpPr txBox="1"/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9pPr>
          </a:lstStyle>
          <a:p/>
        </p:txBody>
      </p:sp>
      <p:sp>
        <p:nvSpPr>
          <p:cNvPr id="26" name="Google Shape;26;p12"/>
          <p:cNvSpPr txBox="1"/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 panose="020F050202020403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 panose="020F050202020403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 panose="020F050202020403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 panose="020F050202020403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 panose="020F050202020403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 panose="020F050202020403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 panose="020F050202020403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 panose="020F050202020403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 panose="020F050202020403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matchingName="Title and content">
  <p:cSld name="OBJECT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4"/>
          <p:cNvSpPr txBox="1"/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14"/>
          <p:cNvSpPr txBox="1"/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9pPr>
          </a:lstStyle>
          <a:p/>
        </p:txBody>
      </p:sp>
      <p:sp>
        <p:nvSpPr>
          <p:cNvPr id="37" name="Google Shape;37;p14"/>
          <p:cNvSpPr txBox="1"/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9pPr>
          </a:lstStyle>
          <a:p/>
        </p:txBody>
      </p:sp>
      <p:sp>
        <p:nvSpPr>
          <p:cNvPr id="38" name="Google Shape;38;p14"/>
          <p:cNvSpPr txBox="1"/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 panose="020F050202020403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 panose="020F050202020403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 panose="020F050202020403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 panose="020F050202020403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 panose="020F050202020403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 panose="020F050202020403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 panose="020F050202020403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 panose="020F050202020403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 panose="020F050202020403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matchingName="Title slide">
  <p:cSld name="TITLE"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15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 panose="020F0502020204030204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15"/>
          <p:cNvSpPr txBox="1"/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42" name="Google Shape;42;p15"/>
          <p:cNvSpPr txBox="1"/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9pPr>
          </a:lstStyle>
          <a:p/>
        </p:txBody>
      </p:sp>
      <p:sp>
        <p:nvSpPr>
          <p:cNvPr id="43" name="Google Shape;43;p15"/>
          <p:cNvSpPr txBox="1"/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9pPr>
          </a:lstStyle>
          <a:p/>
        </p:txBody>
      </p:sp>
      <p:sp>
        <p:nvSpPr>
          <p:cNvPr id="44" name="Google Shape;44;p15"/>
          <p:cNvSpPr txBox="1"/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 panose="020F050202020403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 panose="020F050202020403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 panose="020F050202020403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 panose="020F050202020403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 panose="020F050202020403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 panose="020F050202020403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 panose="020F050202020403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 panose="020F050202020403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 panose="020F050202020403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theme" Target="../theme/theme2.xml"/><Relationship Id="rId2" Type="http://schemas.openxmlformats.org/officeDocument/2006/relationships/slideLayout" Target="../slideLayouts/slideLayout4.xml"/><Relationship Id="rId1" Type="http://schemas.openxmlformats.org/officeDocument/2006/relationships/slideLayout" Target="../slideLayouts/slideLayout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 panose="020F0502020204030204"/>
              <a:buNone/>
              <a:defRPr sz="4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/>
        </p:txBody>
      </p:sp>
      <p:sp>
        <p:nvSpPr>
          <p:cNvPr id="11" name="Google Shape;11;p10"/>
          <p:cNvSpPr txBox="1"/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Char char="•"/>
              <a:defRPr sz="2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 panose="020B0604020202020204"/>
              <a:buChar char="•"/>
              <a:defRPr sz="2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•"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12" name="Google Shape;12;p10"/>
          <p:cNvSpPr txBox="1"/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 panose="020F050202020403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 panose="020F050202020403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 panose="020F050202020403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 panose="020F050202020403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 panose="020F050202020403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 panose="020F050202020403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 panose="020F050202020403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13" name="Google Shape;13;p10"/>
          <p:cNvSpPr txBox="1"/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 panose="020F050202020403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 panose="020F050202020403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 panose="020F050202020403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 panose="020F050202020403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 panose="020F050202020403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 panose="020F050202020403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 panose="020F050202020403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14" name="Google Shape;14;p10"/>
          <p:cNvSpPr txBox="1"/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 panose="020F050202020403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 panose="020F050202020403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 panose="020F050202020403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 panose="020F050202020403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 panose="020F050202020403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 panose="020F050202020403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 panose="020F050202020403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 panose="020F050202020403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 panose="020F050202020403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 panose="020F0502020204030204"/>
              <a:buNone/>
              <a:defRPr sz="4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/>
        </p:txBody>
      </p:sp>
      <p:sp>
        <p:nvSpPr>
          <p:cNvPr id="29" name="Google Shape;29;p13"/>
          <p:cNvSpPr txBox="1"/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Char char="•"/>
              <a:defRPr sz="2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 panose="020B0604020202020204"/>
              <a:buChar char="•"/>
              <a:defRPr sz="2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•"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30" name="Google Shape;30;p13"/>
          <p:cNvSpPr txBox="1"/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 panose="020F050202020403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 panose="020F050202020403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 panose="020F050202020403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 panose="020F050202020403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 panose="020F050202020403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 panose="020F050202020403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 panose="020F050202020403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31" name="Google Shape;31;p13"/>
          <p:cNvSpPr txBox="1"/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 panose="020F050202020403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 panose="020F050202020403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 panose="020F050202020403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 panose="020F050202020403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 panose="020F050202020403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 panose="020F050202020403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 panose="020F050202020403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32" name="Google Shape;32;p13"/>
          <p:cNvSpPr txBox="1"/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 panose="020F050202020403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 panose="020F050202020403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 panose="020F050202020403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 panose="020F050202020403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 panose="020F050202020403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 panose="020F050202020403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 panose="020F050202020403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 panose="020F050202020403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 panose="020F0502020204030204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2" r:id="rId1"/>
    <p:sldLayoutId id="2147483653" r:id="rId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2.xml"/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3.xml"/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4.xml"/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5.jpeg"/><Relationship Id="rId2" Type="http://schemas.openxmlformats.org/officeDocument/2006/relationships/image" Target="../media/image1.png"/><Relationship Id="rId1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5.xml"/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6.jpeg"/><Relationship Id="rId2" Type="http://schemas.openxmlformats.org/officeDocument/2006/relationships/image" Target="../media/image1.png"/><Relationship Id="rId1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6.xml"/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7.xml"/><Relationship Id="rId4" Type="http://schemas.openxmlformats.org/officeDocument/2006/relationships/slideLayout" Target="../slideLayouts/slideLayout3.xml"/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8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1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92F44"/>
        </a:solidFill>
        <a:effectLst/>
      </p:bgPr>
    </p:bg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" name="Google Shape;50;p1"/>
          <p:cNvGrpSpPr/>
          <p:nvPr/>
        </p:nvGrpSpPr>
        <p:grpSpPr>
          <a:xfrm>
            <a:off x="0" y="4641850"/>
            <a:ext cx="12192000" cy="2216150"/>
            <a:chOff x="0" y="1955800"/>
            <a:chExt cx="12192000" cy="4902200"/>
          </a:xfrm>
        </p:grpSpPr>
        <p:sp>
          <p:nvSpPr>
            <p:cNvPr id="51" name="Google Shape;51;p1"/>
            <p:cNvSpPr/>
            <p:nvPr/>
          </p:nvSpPr>
          <p:spPr>
            <a:xfrm>
              <a:off x="0" y="3962400"/>
              <a:ext cx="12192000" cy="2895600"/>
            </a:xfrm>
            <a:prstGeom prst="rtTriangle">
              <a:avLst/>
            </a:prstGeom>
            <a:solidFill>
              <a:srgbClr val="07AFC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 panose="020F0502020204030204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52" name="Google Shape;52;p1"/>
            <p:cNvSpPr/>
            <p:nvPr/>
          </p:nvSpPr>
          <p:spPr>
            <a:xfrm rot="-5400000">
              <a:off x="3644900" y="-1689100"/>
              <a:ext cx="4902200" cy="12192000"/>
            </a:xfrm>
            <a:prstGeom prst="triangle">
              <a:avLst>
                <a:gd name="adj" fmla="val 58808"/>
              </a:avLst>
            </a:prstGeom>
            <a:solidFill>
              <a:srgbClr val="0C4E7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 panose="020F0502020204030204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</p:grpSp>
      <p:grpSp>
        <p:nvGrpSpPr>
          <p:cNvPr id="53" name="Google Shape;53;p1"/>
          <p:cNvGrpSpPr/>
          <p:nvPr/>
        </p:nvGrpSpPr>
        <p:grpSpPr>
          <a:xfrm>
            <a:off x="0" y="4730750"/>
            <a:ext cx="1582738" cy="1866900"/>
            <a:chOff x="-1582697" y="2594940"/>
            <a:chExt cx="1582697" cy="1866708"/>
          </a:xfrm>
        </p:grpSpPr>
        <p:sp>
          <p:nvSpPr>
            <p:cNvPr id="54" name="Google Shape;54;p1"/>
            <p:cNvSpPr/>
            <p:nvPr/>
          </p:nvSpPr>
          <p:spPr>
            <a:xfrm>
              <a:off x="-1582697" y="3053922"/>
              <a:ext cx="791348" cy="1407726"/>
            </a:xfrm>
            <a:custGeom>
              <a:avLst/>
              <a:gdLst/>
              <a:ahLst/>
              <a:cxnLst/>
              <a:rect l="l" t="t" r="r" b="b"/>
              <a:pathLst>
                <a:path w="791348" h="1407726" extrusionOk="0">
                  <a:moveTo>
                    <a:pt x="0" y="0"/>
                  </a:moveTo>
                  <a:lnTo>
                    <a:pt x="791348" y="0"/>
                  </a:lnTo>
                  <a:lnTo>
                    <a:pt x="791348" y="1407726"/>
                  </a:lnTo>
                  <a:lnTo>
                    <a:pt x="0" y="10267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8D8D8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 panose="020F0502020204030204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grpSp>
          <p:nvGrpSpPr>
            <p:cNvPr id="55" name="Google Shape;55;p1"/>
            <p:cNvGrpSpPr/>
            <p:nvPr/>
          </p:nvGrpSpPr>
          <p:grpSpPr>
            <a:xfrm>
              <a:off x="-1582697" y="2594940"/>
              <a:ext cx="1582697" cy="917964"/>
              <a:chOff x="-131141" y="3340292"/>
              <a:chExt cx="1582697" cy="917964"/>
            </a:xfrm>
          </p:grpSpPr>
          <p:sp>
            <p:nvSpPr>
              <p:cNvPr id="56" name="Google Shape;56;p1"/>
              <p:cNvSpPr/>
              <p:nvPr/>
            </p:nvSpPr>
            <p:spPr>
              <a:xfrm rot="5400000">
                <a:off x="596900" y="3403600"/>
                <a:ext cx="917964" cy="791348"/>
              </a:xfrm>
              <a:prstGeom prst="triangle">
                <a:avLst>
                  <a:gd name="adj" fmla="val 50000"/>
                </a:avLst>
              </a:prstGeom>
              <a:solidFill>
                <a:srgbClr val="E78B1F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1800"/>
                  <a:buFont typeface="Calibri" panose="020F0502020204030204"/>
                  <a:buNone/>
                </a:pPr>
                <a:endParaRPr sz="1800" b="0" i="0" u="none" strike="noStrike" cap="none">
                  <a:solidFill>
                    <a:schemeClr val="lt1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57" name="Google Shape;57;p1"/>
              <p:cNvSpPr/>
              <p:nvPr/>
            </p:nvSpPr>
            <p:spPr>
              <a:xfrm rot="-5400000" flipH="1">
                <a:off x="-194449" y="3403600"/>
                <a:ext cx="917964" cy="791348"/>
              </a:xfrm>
              <a:prstGeom prst="triangle">
                <a:avLst>
                  <a:gd name="adj" fmla="val 50000"/>
                </a:avLst>
              </a:prstGeom>
              <a:solidFill>
                <a:srgbClr val="90C1A3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1800"/>
                  <a:buFont typeface="Calibri" panose="020F0502020204030204"/>
                  <a:buNone/>
                </a:pPr>
                <a:endParaRPr sz="1800" b="0" i="0" u="none" strike="noStrike" cap="none">
                  <a:solidFill>
                    <a:schemeClr val="lt1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</p:grpSp>
      </p:grpSp>
      <p:grpSp>
        <p:nvGrpSpPr>
          <p:cNvPr id="58" name="Google Shape;58;p1"/>
          <p:cNvGrpSpPr/>
          <p:nvPr/>
        </p:nvGrpSpPr>
        <p:grpSpPr>
          <a:xfrm rot="-273537">
            <a:off x="10869613" y="4151313"/>
            <a:ext cx="1101725" cy="1101725"/>
            <a:chOff x="3830832" y="698500"/>
            <a:chExt cx="1634736" cy="1634736"/>
          </a:xfrm>
        </p:grpSpPr>
        <p:sp>
          <p:nvSpPr>
            <p:cNvPr id="59" name="Google Shape;59;p1"/>
            <p:cNvSpPr/>
            <p:nvPr/>
          </p:nvSpPr>
          <p:spPr>
            <a:xfrm>
              <a:off x="4648200" y="698500"/>
              <a:ext cx="817368" cy="817368"/>
            </a:xfrm>
            <a:prstGeom prst="rtTriangle">
              <a:avLst/>
            </a:prstGeom>
            <a:solidFill>
              <a:srgbClr val="90C1A3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 panose="020F0502020204030204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60" name="Google Shape;60;p1"/>
            <p:cNvSpPr/>
            <p:nvPr/>
          </p:nvSpPr>
          <p:spPr>
            <a:xfrm flipH="1">
              <a:off x="3830832" y="698500"/>
              <a:ext cx="817368" cy="817368"/>
            </a:xfrm>
            <a:prstGeom prst="rtTriangle">
              <a:avLst/>
            </a:prstGeom>
            <a:solidFill>
              <a:srgbClr val="1FA77D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 panose="020F0502020204030204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grpSp>
          <p:nvGrpSpPr>
            <p:cNvPr id="61" name="Google Shape;61;p1"/>
            <p:cNvGrpSpPr/>
            <p:nvPr/>
          </p:nvGrpSpPr>
          <p:grpSpPr>
            <a:xfrm>
              <a:off x="3830832" y="1515868"/>
              <a:ext cx="1634736" cy="817368"/>
              <a:chOff x="3896095" y="1638745"/>
              <a:chExt cx="1634736" cy="817368"/>
            </a:xfrm>
          </p:grpSpPr>
          <p:sp>
            <p:nvSpPr>
              <p:cNvPr id="62" name="Google Shape;62;p1"/>
              <p:cNvSpPr/>
              <p:nvPr/>
            </p:nvSpPr>
            <p:spPr>
              <a:xfrm rot="10800000" flipH="1">
                <a:off x="4713463" y="1638745"/>
                <a:ext cx="817368" cy="817368"/>
              </a:xfrm>
              <a:prstGeom prst="rtTriangle">
                <a:avLst/>
              </a:prstGeom>
              <a:solidFill>
                <a:srgbClr val="1B98B6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1800"/>
                  <a:buFont typeface="Calibri" panose="020F0502020204030204"/>
                  <a:buNone/>
                </a:pPr>
                <a:endParaRPr sz="1800" b="0" i="0" u="none" strike="noStrike" cap="none">
                  <a:solidFill>
                    <a:schemeClr val="lt1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63" name="Google Shape;63;p1"/>
              <p:cNvSpPr/>
              <p:nvPr/>
            </p:nvSpPr>
            <p:spPr>
              <a:xfrm rot="10800000">
                <a:off x="3896095" y="1638745"/>
                <a:ext cx="817368" cy="817368"/>
              </a:xfrm>
              <a:prstGeom prst="rtTriangle">
                <a:avLst/>
              </a:prstGeom>
              <a:solidFill>
                <a:srgbClr val="6CDAE9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1800"/>
                  <a:buFont typeface="Calibri" panose="020F0502020204030204"/>
                  <a:buNone/>
                </a:pPr>
                <a:endParaRPr sz="1800" b="0" i="0" u="none" strike="noStrike" cap="none">
                  <a:solidFill>
                    <a:schemeClr val="lt1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</p:grpSp>
      </p:grpSp>
      <p:grpSp>
        <p:nvGrpSpPr>
          <p:cNvPr id="64" name="Google Shape;64;p1"/>
          <p:cNvGrpSpPr/>
          <p:nvPr/>
        </p:nvGrpSpPr>
        <p:grpSpPr>
          <a:xfrm>
            <a:off x="3644900" y="1595438"/>
            <a:ext cx="4921250" cy="2463800"/>
            <a:chOff x="3892550" y="2204410"/>
            <a:chExt cx="4921250" cy="2463319"/>
          </a:xfrm>
        </p:grpSpPr>
        <p:cxnSp>
          <p:nvCxnSpPr>
            <p:cNvPr id="65" name="Google Shape;65;p1"/>
            <p:cNvCxnSpPr/>
            <p:nvPr/>
          </p:nvCxnSpPr>
          <p:spPr>
            <a:xfrm>
              <a:off x="3892550" y="2204410"/>
              <a:ext cx="1755776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66" name="Google Shape;66;p1"/>
            <p:cNvCxnSpPr/>
            <p:nvPr/>
          </p:nvCxnSpPr>
          <p:spPr>
            <a:xfrm>
              <a:off x="7277101" y="2212680"/>
              <a:ext cx="1536699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67" name="Google Shape;67;p1"/>
            <p:cNvCxnSpPr/>
            <p:nvPr/>
          </p:nvCxnSpPr>
          <p:spPr>
            <a:xfrm>
              <a:off x="3892550" y="2212680"/>
              <a:ext cx="0" cy="2455049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68" name="Google Shape;68;p1"/>
            <p:cNvCxnSpPr/>
            <p:nvPr/>
          </p:nvCxnSpPr>
          <p:spPr>
            <a:xfrm>
              <a:off x="8813800" y="2212680"/>
              <a:ext cx="0" cy="2455049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69" name="Google Shape;69;p1"/>
            <p:cNvCxnSpPr/>
            <p:nvPr/>
          </p:nvCxnSpPr>
          <p:spPr>
            <a:xfrm>
              <a:off x="3892550" y="4667729"/>
              <a:ext cx="4921250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sp>
        <p:nvSpPr>
          <p:cNvPr id="70" name="Google Shape;70;p1"/>
          <p:cNvSpPr txBox="1"/>
          <p:nvPr/>
        </p:nvSpPr>
        <p:spPr>
          <a:xfrm>
            <a:off x="3790950" y="2773680"/>
            <a:ext cx="4629785" cy="9531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icrosoft YaHei" panose="020B0503020204020204" charset="-122"/>
              <a:buNone/>
            </a:pPr>
            <a:r>
              <a:rPr lang="zh-CN" sz="2800" b="1" i="0" u="none" strike="noStrike" cap="none">
                <a:solidFill>
                  <a:schemeClr val="lt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&amp; 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icrosoft YaHei" panose="020B0503020204020204" charset="-122"/>
              <a:buNone/>
            </a:pPr>
            <a:r>
              <a:rPr lang="zh-CN" sz="2800" b="1" i="0" u="none" strike="noStrike" cap="none">
                <a:solidFill>
                  <a:schemeClr val="lt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Advanced Techniques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71" name="Google Shape;71;p1"/>
          <p:cNvSpPr txBox="1"/>
          <p:nvPr/>
        </p:nvSpPr>
        <p:spPr>
          <a:xfrm>
            <a:off x="3876675" y="1762760"/>
            <a:ext cx="4478655" cy="10966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DB1C4"/>
              </a:buClr>
              <a:buSzPts val="3200"/>
              <a:buFont typeface="Microsoft YaHei" panose="020B0503020204020204" charset="-122"/>
              <a:buNone/>
            </a:pPr>
            <a:r>
              <a:rPr lang="zh-CN" sz="3200" b="1" i="0" u="none" strike="noStrike" cap="none">
                <a:solidFill>
                  <a:srgbClr val="0DB1C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Exception Handling Fundamentals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grpSp>
        <p:nvGrpSpPr>
          <p:cNvPr id="72" name="Google Shape;72;p1"/>
          <p:cNvGrpSpPr/>
          <p:nvPr/>
        </p:nvGrpSpPr>
        <p:grpSpPr>
          <a:xfrm rot="5400000">
            <a:off x="5636260" y="560070"/>
            <a:ext cx="1306830" cy="1351280"/>
            <a:chOff x="3830832" y="698500"/>
            <a:chExt cx="1634736" cy="1634736"/>
          </a:xfrm>
        </p:grpSpPr>
        <p:sp>
          <p:nvSpPr>
            <p:cNvPr id="73" name="Google Shape;73;p1"/>
            <p:cNvSpPr/>
            <p:nvPr/>
          </p:nvSpPr>
          <p:spPr>
            <a:xfrm>
              <a:off x="4648200" y="698500"/>
              <a:ext cx="817368" cy="817368"/>
            </a:xfrm>
            <a:prstGeom prst="rtTriangle">
              <a:avLst/>
            </a:prstGeom>
            <a:solidFill>
              <a:srgbClr val="90C1A3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 panose="020F0502020204030204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74" name="Google Shape;74;p1"/>
            <p:cNvSpPr/>
            <p:nvPr/>
          </p:nvSpPr>
          <p:spPr>
            <a:xfrm flipH="1">
              <a:off x="3830832" y="698500"/>
              <a:ext cx="817368" cy="817368"/>
            </a:xfrm>
            <a:prstGeom prst="rtTriangle">
              <a:avLst/>
            </a:prstGeom>
            <a:solidFill>
              <a:srgbClr val="1FA77D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Calibri" panose="020F0502020204030204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grpSp>
          <p:nvGrpSpPr>
            <p:cNvPr id="75" name="Google Shape;75;p1"/>
            <p:cNvGrpSpPr/>
            <p:nvPr/>
          </p:nvGrpSpPr>
          <p:grpSpPr>
            <a:xfrm>
              <a:off x="3830832" y="1515868"/>
              <a:ext cx="1634736" cy="817368"/>
              <a:chOff x="3896095" y="1638745"/>
              <a:chExt cx="1634736" cy="817368"/>
            </a:xfrm>
          </p:grpSpPr>
          <p:sp>
            <p:nvSpPr>
              <p:cNvPr id="76" name="Google Shape;76;p1"/>
              <p:cNvSpPr/>
              <p:nvPr/>
            </p:nvSpPr>
            <p:spPr>
              <a:xfrm rot="10800000" flipH="1">
                <a:off x="4713463" y="1638745"/>
                <a:ext cx="817368" cy="817368"/>
              </a:xfrm>
              <a:prstGeom prst="rtTriangle">
                <a:avLst/>
              </a:prstGeom>
              <a:solidFill>
                <a:srgbClr val="1B98B6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1800"/>
                  <a:buFont typeface="Calibri" panose="020F0502020204030204"/>
                  <a:buNone/>
                </a:pPr>
                <a:endParaRPr sz="1800" b="0" i="0" u="none" strike="noStrike" cap="none">
                  <a:solidFill>
                    <a:schemeClr val="lt1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  <p:sp>
            <p:nvSpPr>
              <p:cNvPr id="77" name="Google Shape;77;p1"/>
              <p:cNvSpPr/>
              <p:nvPr/>
            </p:nvSpPr>
            <p:spPr>
              <a:xfrm rot="10800000">
                <a:off x="3896095" y="1638745"/>
                <a:ext cx="817368" cy="817368"/>
              </a:xfrm>
              <a:prstGeom prst="rtTriangle">
                <a:avLst/>
              </a:prstGeom>
              <a:solidFill>
                <a:srgbClr val="6CDAE9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1800"/>
                  <a:buFont typeface="Calibri" panose="020F0502020204030204"/>
                  <a:buNone/>
                </a:pPr>
                <a:endParaRPr sz="1800" b="0" i="0" u="none" strike="noStrike" cap="none">
                  <a:solidFill>
                    <a:schemeClr val="lt1"/>
                  </a:solidFill>
                  <a:latin typeface="Calibri" panose="020F0502020204030204"/>
                  <a:ea typeface="Calibri" panose="020F0502020204030204"/>
                  <a:cs typeface="Calibri" panose="020F0502020204030204"/>
                  <a:sym typeface="Calibri" panose="020F0502020204030204"/>
                </a:endParaRPr>
              </a:p>
            </p:txBody>
          </p:sp>
        </p:grpSp>
      </p:grpSp>
      <p:pic>
        <p:nvPicPr>
          <p:cNvPr id="78" name="Google Shape;78;p1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10537825" y="-167640"/>
            <a:ext cx="1640840" cy="101536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2"/>
          <p:cNvSpPr/>
          <p:nvPr/>
        </p:nvSpPr>
        <p:spPr>
          <a:xfrm>
            <a:off x="0" y="3616325"/>
            <a:ext cx="12192000" cy="3241675"/>
          </a:xfrm>
          <a:prstGeom prst="rect">
            <a:avLst/>
          </a:prstGeom>
          <a:solidFill>
            <a:srgbClr val="0D517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 panose="020F0502020204030204"/>
              <a:buNone/>
            </a:pPr>
            <a:endParaRPr sz="1800" b="0" i="0" u="none" strike="noStrike" cap="none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4" name="Google Shape;84;p2"/>
          <p:cNvSpPr/>
          <p:nvPr/>
        </p:nvSpPr>
        <p:spPr>
          <a:xfrm>
            <a:off x="1440140" y="4194614"/>
            <a:ext cx="5287962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 panose="020F0502020204030204"/>
              <a:buNone/>
            </a:pPr>
            <a:endParaRPr sz="1800" b="1" i="0" u="none" strike="noStrike" cap="none">
              <a:solidFill>
                <a:schemeClr val="dk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 panose="020F0502020204030204"/>
              <a:buNone/>
            </a:pPr>
            <a:endParaRPr sz="1800" b="1" i="0" u="none" strike="noStrike" cap="none">
              <a:solidFill>
                <a:schemeClr val="lt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5" name="Google Shape;85;p2"/>
          <p:cNvSpPr txBox="1"/>
          <p:nvPr/>
        </p:nvSpPr>
        <p:spPr>
          <a:xfrm>
            <a:off x="1411936" y="92982"/>
            <a:ext cx="93681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Calibri" panose="020F0502020204030204"/>
              <a:buNone/>
            </a:pPr>
            <a:r>
              <a:rPr lang="zh-CN" sz="3200" b="1" i="0" u="none" strike="noStrike" cap="none">
                <a:solidFill>
                  <a:schemeClr val="dk1"/>
                </a:solidFill>
                <a:latin typeface="Gill Sans" panose="020B0502020104020203"/>
                <a:ea typeface="Gill Sans" panose="020B0502020104020203"/>
                <a:cs typeface="Gill Sans" panose="020B0502020104020203"/>
                <a:sym typeface="Gill Sans" panose="020B0502020104020203"/>
              </a:rPr>
              <a:t>Introduction &amp; Importance</a:t>
            </a:r>
            <a:endParaRPr sz="3200" b="1" i="0" u="none" strike="noStrike" cap="none">
              <a:solidFill>
                <a:srgbClr val="000000"/>
              </a:solidFill>
              <a:latin typeface="Gill Sans" panose="020B0502020104020203"/>
              <a:ea typeface="Gill Sans" panose="020B0502020104020203"/>
              <a:cs typeface="Gill Sans" panose="020B0502020104020203"/>
              <a:sym typeface="Gill Sans" panose="020B0502020104020203"/>
            </a:endParaRPr>
          </a:p>
        </p:txBody>
      </p:sp>
      <p:pic>
        <p:nvPicPr>
          <p:cNvPr id="86" name="Google Shape;86;p2" descr="Dart_logo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209862" y="480169"/>
            <a:ext cx="1064634" cy="1017862"/>
          </a:xfrm>
          <a:prstGeom prst="rect">
            <a:avLst/>
          </a:prstGeom>
          <a:noFill/>
          <a:ln>
            <a:noFill/>
          </a:ln>
          <a:effectLst>
            <a:outerShdw blurRad="76200" dist="12700" dir="2700000" sy="-23000" kx="-800311" algn="bl" rotWithShape="0">
              <a:srgbClr val="000000">
                <a:alpha val="20000"/>
              </a:srgbClr>
            </a:outerShdw>
          </a:effectLst>
        </p:spPr>
      </p:pic>
      <p:sp>
        <p:nvSpPr>
          <p:cNvPr id="87" name="Google Shape;87;p2"/>
          <p:cNvSpPr/>
          <p:nvPr/>
        </p:nvSpPr>
        <p:spPr>
          <a:xfrm>
            <a:off x="5705063" y="1030177"/>
            <a:ext cx="5788376" cy="1716217"/>
          </a:xfrm>
          <a:prstGeom prst="roundRect">
            <a:avLst>
              <a:gd name="adj" fmla="val 16667"/>
            </a:avLst>
          </a:prstGeom>
          <a:solidFill>
            <a:srgbClr val="525252"/>
          </a:solidFill>
          <a:ln>
            <a:noFill/>
          </a:ln>
          <a:effectLst>
            <a:outerShdw blurRad="44450" dist="27940" dir="5400000" algn="ctr">
              <a:srgbClr val="000000">
                <a:alpha val="3137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 panose="020F0502020204030204"/>
              <a:buNone/>
            </a:pPr>
            <a:endParaRPr sz="2400" b="1" i="0" u="none" strike="noStrike" cap="none">
              <a:solidFill>
                <a:schemeClr val="dk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Microsoft YaHei" panose="020B0503020204020204" charset="-122"/>
              <a:buNone/>
            </a:pPr>
            <a:r>
              <a:rPr lang="zh-CN" sz="2500" b="1" i="0" u="none" strike="noStrike" cap="none">
                <a:solidFill>
                  <a:schemeClr val="lt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What are exceptions?</a:t>
            </a:r>
            <a:endParaRPr sz="25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 panose="020F0502020204030204"/>
              <a:buNone/>
            </a:pPr>
            <a:endParaRPr sz="1600" b="0" i="0" u="none" strike="noStrike" cap="none">
              <a:solidFill>
                <a:schemeClr val="lt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 panose="020B0604020202020204"/>
              <a:buChar char="•"/>
            </a:pPr>
            <a:r>
              <a:rPr lang="zh-CN" sz="1600" b="0" i="0" u="none" strike="noStrike" cap="none">
                <a:solidFill>
                  <a:schemeClr val="lt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Anomalous conditions that disrupt program flow.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 panose="020B0604020202020204"/>
              <a:buChar char="•"/>
            </a:pPr>
            <a:r>
              <a:rPr lang="zh-CN" sz="1600" b="0" i="0" u="none" strike="noStrike" cap="none">
                <a:solidFill>
                  <a:schemeClr val="lt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Can be caused by various factors (e.g., user input, resource errors, network issues).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 panose="020F0502020204030204"/>
              <a:buNone/>
            </a:pPr>
            <a:endParaRPr sz="1800" b="0" i="0" u="none" strike="noStrike" cap="none">
              <a:solidFill>
                <a:schemeClr val="lt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8" name="Google Shape;88;p2"/>
          <p:cNvSpPr/>
          <p:nvPr/>
        </p:nvSpPr>
        <p:spPr>
          <a:xfrm>
            <a:off x="5705063" y="2989099"/>
            <a:ext cx="5788376" cy="1634247"/>
          </a:xfrm>
          <a:prstGeom prst="roundRect">
            <a:avLst>
              <a:gd name="adj" fmla="val 16667"/>
            </a:avLst>
          </a:prstGeom>
          <a:solidFill>
            <a:srgbClr val="525252"/>
          </a:solidFill>
          <a:ln>
            <a:noFill/>
          </a:ln>
          <a:effectLst>
            <a:outerShdw blurRad="44450" dist="27940" dir="5400000" algn="ctr">
              <a:srgbClr val="000000">
                <a:alpha val="3137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 panose="020F0502020204030204"/>
              <a:buNone/>
            </a:pPr>
            <a:endParaRPr sz="1800" b="1" i="0" u="none" strike="noStrike" cap="none">
              <a:solidFill>
                <a:schemeClr val="lt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icrosoft YaHei" panose="020B0503020204020204" charset="-122"/>
              <a:buNone/>
            </a:pPr>
            <a:r>
              <a:rPr lang="zh-CN" sz="2500" b="1" i="0" u="none" strike="noStrike" cap="none">
                <a:solidFill>
                  <a:schemeClr val="lt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Importance of exception handling</a:t>
            </a:r>
            <a:endParaRPr sz="25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 panose="020F0502020204030204"/>
              <a:buNone/>
            </a:pPr>
            <a:endParaRPr sz="1800" b="1" i="0" u="none" strike="noStrike" cap="none">
              <a:solidFill>
                <a:schemeClr val="dk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 panose="020B0604020202020204"/>
              <a:buChar char="•"/>
            </a:pPr>
            <a:r>
              <a:rPr lang="zh-CN" sz="1600" b="0" i="0" u="none" strike="noStrike" cap="none">
                <a:solidFill>
                  <a:schemeClr val="lt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Ensures program stability and prevents crashes.</a:t>
            </a:r>
            <a:endParaRPr sz="16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 panose="020B0604020202020204"/>
              <a:buChar char="•"/>
            </a:pPr>
            <a:r>
              <a:rPr lang="zh-CN" sz="1600" b="0" i="0" u="none" strike="noStrike" cap="none">
                <a:solidFill>
                  <a:schemeClr val="lt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Allows for graceful handling of errors.</a:t>
            </a:r>
            <a:endParaRPr sz="16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 panose="020B0604020202020204"/>
              <a:buChar char="•"/>
            </a:pPr>
            <a:r>
              <a:rPr lang="zh-CN" sz="1600" b="0" i="0" u="none" strike="noStrike" cap="none">
                <a:solidFill>
                  <a:schemeClr val="lt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Improves application robustness and user experience.</a:t>
            </a:r>
            <a:endParaRPr sz="16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 panose="020F0502020204030204"/>
              <a:buNone/>
            </a:pPr>
            <a:endParaRPr sz="1800" b="0" i="0" u="none" strike="noStrike" cap="none">
              <a:solidFill>
                <a:schemeClr val="lt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9" name="Google Shape;89;p2"/>
          <p:cNvSpPr/>
          <p:nvPr/>
        </p:nvSpPr>
        <p:spPr>
          <a:xfrm>
            <a:off x="5705063" y="4840945"/>
            <a:ext cx="5788376" cy="1799616"/>
          </a:xfrm>
          <a:prstGeom prst="roundRect">
            <a:avLst>
              <a:gd name="adj" fmla="val 16667"/>
            </a:avLst>
          </a:prstGeom>
          <a:solidFill>
            <a:srgbClr val="525252"/>
          </a:solidFill>
          <a:ln>
            <a:noFill/>
          </a:ln>
          <a:effectLst>
            <a:outerShdw blurRad="44450" dist="27940" dir="5400000" algn="ctr">
              <a:srgbClr val="000000">
                <a:alpha val="3137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 panose="020F0502020204030204"/>
              <a:buNone/>
            </a:pPr>
            <a:endParaRPr sz="1800" b="1" i="0" u="none" strike="noStrike" cap="none">
              <a:solidFill>
                <a:schemeClr val="lt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icrosoft YaHei" panose="020B0503020204020204" charset="-122"/>
              <a:buNone/>
            </a:pPr>
            <a:r>
              <a:rPr lang="zh-CN" sz="1800" b="1" i="0" u="none" strike="noStrike" cap="none">
                <a:solidFill>
                  <a:schemeClr val="lt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Benefits of proper exception handling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 panose="020F0502020204030204"/>
              <a:buNone/>
            </a:pPr>
            <a:endParaRPr sz="1800" b="1" i="0" u="none" strike="noStrike" cap="none">
              <a:solidFill>
                <a:schemeClr val="lt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 panose="020B0604020202020204"/>
              <a:buChar char="•"/>
            </a:pPr>
            <a:r>
              <a:rPr lang="zh-CN" sz="1600" b="0" i="0" u="none" strike="noStrike" cap="none">
                <a:solidFill>
                  <a:schemeClr val="lt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Increased code quality and maintainability.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 panose="020B0604020202020204"/>
              <a:buChar char="•"/>
            </a:pPr>
            <a:r>
              <a:rPr lang="zh-CN" sz="1600" b="0" i="0" u="none" strike="noStrike" cap="none">
                <a:solidFill>
                  <a:schemeClr val="lt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Easier debugging and troubleshooting.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 panose="020B0604020202020204"/>
              <a:buChar char="•"/>
            </a:pPr>
            <a:r>
              <a:rPr lang="zh-CN" sz="1600" b="0" i="0" u="none" strike="noStrike" cap="none">
                <a:solidFill>
                  <a:schemeClr val="lt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Improved error reporting and logging.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 panose="020B0604020202020204"/>
              <a:buChar char="•"/>
            </a:pPr>
            <a:r>
              <a:rPr lang="zh-CN" sz="1600" b="0" i="0" u="none" strike="noStrike" cap="none">
                <a:solidFill>
                  <a:schemeClr val="lt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Provides a more predictable and reliable program execution.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 panose="020F0502020204030204"/>
              <a:buNone/>
            </a:pPr>
            <a:endParaRPr sz="1800" b="0" i="0" u="none" strike="noStrike" cap="none">
              <a:solidFill>
                <a:schemeClr val="lt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pic>
        <p:nvPicPr>
          <p:cNvPr id="90" name="Google Shape;90;p2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10537825" y="-167640"/>
            <a:ext cx="1640840" cy="1015365"/>
          </a:xfrm>
          <a:prstGeom prst="rect">
            <a:avLst/>
          </a:prstGeom>
          <a:noFill/>
          <a:ln>
            <a:noFill/>
          </a:ln>
        </p:spPr>
      </p:pic>
      <p:pic>
        <p:nvPicPr>
          <p:cNvPr id="91" name="Google Shape;91;p2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235585" y="1640840"/>
            <a:ext cx="5360035" cy="483743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3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1999" h="6858000" extrusionOk="0">
                <a:moveTo>
                  <a:pt x="0" y="0"/>
                </a:moveTo>
                <a:lnTo>
                  <a:pt x="12191999" y="5685840"/>
                </a:lnTo>
                <a:lnTo>
                  <a:pt x="12191999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DB1C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 panose="020F0502020204030204"/>
              <a:buNone/>
            </a:pPr>
            <a:endParaRPr sz="1800" b="0" i="0" u="none" strike="noStrike" cap="none">
              <a:solidFill>
                <a:schemeClr val="lt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7" name="Google Shape;97;p3"/>
          <p:cNvSpPr/>
          <p:nvPr/>
        </p:nvSpPr>
        <p:spPr>
          <a:xfrm rot="5400000">
            <a:off x="68580" y="-68580"/>
            <a:ext cx="2255520" cy="2392680"/>
          </a:xfrm>
          <a:prstGeom prst="rtTriangle">
            <a:avLst/>
          </a:prstGeom>
          <a:solidFill>
            <a:srgbClr val="0D517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 panose="020F0502020204030204"/>
              <a:buNone/>
            </a:pPr>
            <a:endParaRPr sz="1800" b="0" i="0" u="none" strike="noStrike" cap="none">
              <a:solidFill>
                <a:schemeClr val="lt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8" name="Google Shape;98;p3"/>
          <p:cNvSpPr txBox="1"/>
          <p:nvPr/>
        </p:nvSpPr>
        <p:spPr>
          <a:xfrm>
            <a:off x="2250603" y="412851"/>
            <a:ext cx="9105900" cy="64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icrosoft YaHei" panose="020B0503020204020204" charset="-122"/>
              <a:buNone/>
            </a:pPr>
            <a:r>
              <a:rPr lang="zh-CN" sz="3600" b="1" i="0" u="none" strike="noStrike" cap="none">
                <a:solidFill>
                  <a:schemeClr val="dk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Fundamentals - Terminology &amp; Types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99" name="Google Shape;99;p3" descr="Dart_logo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10223169" y="1415416"/>
            <a:ext cx="1494171" cy="1701265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Google Shape;100;p3"/>
          <p:cNvSpPr/>
          <p:nvPr/>
        </p:nvSpPr>
        <p:spPr>
          <a:xfrm>
            <a:off x="7014845" y="1591945"/>
            <a:ext cx="3117215" cy="2838450"/>
          </a:xfrm>
          <a:prstGeom prst="roundRect">
            <a:avLst>
              <a:gd name="adj" fmla="val 16667"/>
            </a:avLst>
          </a:prstGeom>
          <a:solidFill>
            <a:srgbClr val="525252"/>
          </a:solidFill>
          <a:ln>
            <a:noFill/>
          </a:ln>
          <a:effectLst>
            <a:outerShdw blurRad="190500" dist="228600" dir="2700000" algn="ctr">
              <a:srgbClr val="000000">
                <a:alpha val="2941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Microsoft YaHei" panose="020B0503020204020204" charset="-122"/>
              <a:buNone/>
            </a:pPr>
            <a:r>
              <a:rPr lang="zh-CN" sz="2400" b="1" i="0" u="none" strike="noStrike" cap="none">
                <a:solidFill>
                  <a:schemeClr val="lt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Key terms: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 panose="020F0502020204030204"/>
              <a:buNone/>
            </a:pPr>
            <a:endParaRPr sz="1800" b="0" i="0" u="none" strike="noStrike" cap="none">
              <a:solidFill>
                <a:schemeClr val="lt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285750" marR="0" lvl="0" indent="-28575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 panose="020B0604020202020204"/>
              <a:buChar char="•"/>
            </a:pPr>
            <a:r>
              <a:rPr lang="zh-CN" sz="1800" b="0" i="0" u="none" strike="noStrike" cap="none">
                <a:solidFill>
                  <a:schemeClr val="lt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try-catch block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285750" marR="0" lvl="0" indent="-28575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 panose="020B0604020202020204"/>
              <a:buChar char="•"/>
            </a:pPr>
            <a:r>
              <a:rPr lang="zh-CN" sz="1800" b="0" i="0" u="none" strike="noStrike" cap="none">
                <a:solidFill>
                  <a:schemeClr val="lt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finally block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285750" marR="0" lvl="0" indent="-28575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 panose="020B0604020202020204"/>
              <a:buChar char="•"/>
            </a:pPr>
            <a:r>
              <a:rPr lang="zh-CN" sz="1800" b="0" i="0" u="none" strike="noStrike" cap="none">
                <a:solidFill>
                  <a:schemeClr val="lt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throw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285750" marR="0" lvl="0" indent="-28575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 panose="020B0604020202020204"/>
              <a:buChar char="•"/>
            </a:pPr>
            <a:r>
              <a:rPr lang="zh-CN" sz="1800" b="0" i="0" u="none" strike="noStrike" cap="none">
                <a:solidFill>
                  <a:schemeClr val="lt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throws</a:t>
            </a:r>
            <a:endParaRPr sz="1800" b="0" i="0" u="none" strike="noStrike" cap="none">
              <a:solidFill>
                <a:schemeClr val="lt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 panose="020F0502020204030204"/>
              <a:buNone/>
            </a:pPr>
            <a:endParaRPr sz="1800" b="0" i="0" u="none" strike="noStrike" cap="none">
              <a:solidFill>
                <a:schemeClr val="lt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01" name="Google Shape;101;p3"/>
          <p:cNvSpPr/>
          <p:nvPr/>
        </p:nvSpPr>
        <p:spPr>
          <a:xfrm>
            <a:off x="7014845" y="4794250"/>
            <a:ext cx="3319780" cy="1838325"/>
          </a:xfrm>
          <a:prstGeom prst="roundRect">
            <a:avLst>
              <a:gd name="adj" fmla="val 16667"/>
            </a:avLst>
          </a:prstGeom>
          <a:solidFill>
            <a:srgbClr val="525252"/>
          </a:solidFill>
          <a:ln>
            <a:noFill/>
          </a:ln>
          <a:effectLst>
            <a:outerShdw blurRad="44450" dist="27940" dir="5400000" algn="ctr">
              <a:srgbClr val="000000">
                <a:alpha val="3137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icrosoft YaHei" panose="020B0503020204020204" charset="-122"/>
              <a:buNone/>
            </a:pPr>
            <a:r>
              <a:rPr lang="zh-CN" sz="1800" b="1" i="0" u="none" strike="noStrike" cap="none">
                <a:solidFill>
                  <a:schemeClr val="lt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Types of exceptions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 panose="020F0502020204030204"/>
              <a:buNone/>
            </a:pPr>
            <a:endParaRPr sz="1600" b="0" i="0" u="none" strike="noStrike" cap="none">
              <a:solidFill>
                <a:schemeClr val="lt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285750" marR="0" lvl="0" indent="-28575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 panose="020B0604020202020204"/>
              <a:buChar char="•"/>
            </a:pPr>
            <a:r>
              <a:rPr lang="zh-CN" sz="1600" b="0" i="0" u="none" strike="noStrike" cap="none">
                <a:solidFill>
                  <a:schemeClr val="lt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Checked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285750" marR="0" lvl="0" indent="-28575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 panose="020B0604020202020204"/>
              <a:buChar char="•"/>
            </a:pPr>
            <a:r>
              <a:rPr lang="zh-CN" sz="1600" b="0" i="0" u="none" strike="noStrike" cap="none">
                <a:solidFill>
                  <a:schemeClr val="lt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Unchecked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 panose="020F0502020204030204"/>
              <a:buNone/>
            </a:pPr>
            <a:endParaRPr sz="1800" b="0" i="0" u="none" strike="noStrike" cap="none">
              <a:solidFill>
                <a:schemeClr val="lt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pic>
        <p:nvPicPr>
          <p:cNvPr id="102" name="Google Shape;102;p3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10471150" y="-167640"/>
            <a:ext cx="1707515" cy="101536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" name="Google Shape;103;p3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239841" y="2390839"/>
            <a:ext cx="6280879" cy="351507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4"/>
          <p:cNvSpPr/>
          <p:nvPr/>
        </p:nvSpPr>
        <p:spPr>
          <a:xfrm>
            <a:off x="0" y="213957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1999" h="6858000" extrusionOk="0">
                <a:moveTo>
                  <a:pt x="0" y="0"/>
                </a:moveTo>
                <a:lnTo>
                  <a:pt x="12191999" y="5685840"/>
                </a:lnTo>
                <a:lnTo>
                  <a:pt x="12191999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1CAF7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 panose="020F0502020204030204"/>
              <a:buNone/>
            </a:pPr>
            <a:endParaRPr sz="1800" b="0" i="0" u="none" strike="noStrike" cap="none">
              <a:solidFill>
                <a:schemeClr val="lt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09" name="Google Shape;109;p4"/>
          <p:cNvSpPr/>
          <p:nvPr/>
        </p:nvSpPr>
        <p:spPr>
          <a:xfrm rot="5400000">
            <a:off x="0" y="0"/>
            <a:ext cx="2838450" cy="2838450"/>
          </a:xfrm>
          <a:prstGeom prst="rtTriangle">
            <a:avLst/>
          </a:prstGeom>
          <a:solidFill>
            <a:srgbClr val="0D517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 panose="020F0502020204030204"/>
              <a:buNone/>
            </a:pPr>
            <a:endParaRPr sz="1800" b="0" i="0" u="none" strike="noStrike" cap="none">
              <a:solidFill>
                <a:schemeClr val="lt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10" name="Google Shape;110;p4"/>
          <p:cNvSpPr txBox="1"/>
          <p:nvPr/>
        </p:nvSpPr>
        <p:spPr>
          <a:xfrm>
            <a:off x="3432598" y="242870"/>
            <a:ext cx="5009744" cy="64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icrosoft YaHei" panose="020B0503020204020204" charset="-122"/>
              <a:buNone/>
            </a:pPr>
            <a:r>
              <a:rPr lang="zh-CN" sz="3600" b="1" i="0" u="none" strike="noStrike" cap="none">
                <a:solidFill>
                  <a:schemeClr val="dk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Handling Exceptions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111" name="Google Shape;111;p4" descr="Dart_logo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10398275" y="565450"/>
            <a:ext cx="1393866" cy="1559679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4"/>
          <p:cNvSpPr/>
          <p:nvPr/>
        </p:nvSpPr>
        <p:spPr>
          <a:xfrm>
            <a:off x="394409" y="1032121"/>
            <a:ext cx="8063110" cy="1411276"/>
          </a:xfrm>
          <a:prstGeom prst="roundRect">
            <a:avLst>
              <a:gd name="adj" fmla="val 16667"/>
            </a:avLst>
          </a:prstGeom>
          <a:solidFill>
            <a:srgbClr val="525252"/>
          </a:solidFill>
          <a:ln w="12700" cap="flat" cmpd="sng">
            <a:solidFill>
              <a:srgbClr val="264159"/>
            </a:solidFill>
            <a:prstDash val="solid"/>
            <a:miter lim="800000"/>
            <a:headEnd type="none" w="sm" len="sm"/>
            <a:tailEnd type="none" w="sm" len="sm"/>
          </a:ln>
          <a:effectLst>
            <a:outerShdw blurRad="76200" sy="23000" kx="1200000" algn="br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 panose="020F0502020204030204"/>
              <a:buNone/>
            </a:pPr>
            <a:endParaRPr sz="1800" b="1" i="0" u="none" strike="noStrike" cap="none">
              <a:solidFill>
                <a:schemeClr val="lt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icrosoft YaHei" panose="020B0503020204020204" charset="-122"/>
              <a:buNone/>
            </a:pPr>
            <a:r>
              <a:rPr lang="zh-CN" sz="1800" b="1" i="0" u="none" strike="noStrike" cap="none">
                <a:solidFill>
                  <a:schemeClr val="lt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Specific vs. General exceptions: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 panose="020F0502020204030204"/>
              <a:buNone/>
            </a:pPr>
            <a:endParaRPr sz="1800" b="0" i="0" u="none" strike="noStrike" cap="none">
              <a:solidFill>
                <a:schemeClr val="lt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342900" marR="0" lvl="0" indent="-34290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 panose="020B0604020202020204"/>
              <a:buChar char="•"/>
            </a:pPr>
            <a:r>
              <a:rPr lang="zh-CN" sz="1600" b="0" i="0" u="none" strike="noStrike" cap="none">
                <a:solidFill>
                  <a:schemeClr val="lt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Specific: targeted handling for defined exceptions (e.g., FileNotFoundException).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342900" marR="0" lvl="0" indent="-34290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 panose="020B0604020202020204"/>
              <a:buChar char="•"/>
            </a:pPr>
            <a:r>
              <a:rPr lang="zh-CN" sz="1600" b="0" i="0" u="none" strike="noStrike" cap="none">
                <a:solidFill>
                  <a:schemeClr val="lt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General: catch-all for unexpected or unknown errors.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 panose="020F0502020204030204"/>
              <a:buNone/>
            </a:pPr>
            <a:endParaRPr sz="1800" b="0" i="0" u="none" strike="noStrike" cap="none">
              <a:solidFill>
                <a:schemeClr val="lt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13" name="Google Shape;113;p4"/>
          <p:cNvSpPr/>
          <p:nvPr/>
        </p:nvSpPr>
        <p:spPr>
          <a:xfrm>
            <a:off x="374650" y="2507615"/>
            <a:ext cx="6956425" cy="1329690"/>
          </a:xfrm>
          <a:prstGeom prst="roundRect">
            <a:avLst>
              <a:gd name="adj" fmla="val 16667"/>
            </a:avLst>
          </a:prstGeom>
          <a:solidFill>
            <a:srgbClr val="525252"/>
          </a:solidFill>
          <a:ln w="12700" cap="flat" cmpd="sng">
            <a:solidFill>
              <a:srgbClr val="264159"/>
            </a:solidFill>
            <a:prstDash val="solid"/>
            <a:miter lim="800000"/>
            <a:headEnd type="none" w="sm" len="sm"/>
            <a:tailEnd type="none" w="sm" len="sm"/>
          </a:ln>
          <a:effectLst>
            <a:outerShdw blurRad="76200" sy="23000" kx="1200000" algn="br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icrosoft YaHei" panose="020B0503020204020204" charset="-122"/>
              <a:buNone/>
            </a:pPr>
            <a:endParaRPr lang="zh-CN" sz="1800" b="1" i="0" u="none" strike="noStrike" cap="none">
              <a:solidFill>
                <a:schemeClr val="lt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icrosoft YaHei" panose="020B0503020204020204" charset="-122"/>
              <a:buNone/>
            </a:pPr>
            <a:r>
              <a:rPr lang="zh-CN" sz="1800" b="1" i="0" u="none" strike="noStrike" cap="none">
                <a:solidFill>
                  <a:schemeClr val="lt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Creating custom exceptions: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 panose="020F0502020204030204"/>
              <a:buNone/>
            </a:pPr>
            <a:endParaRPr sz="1800" b="0" i="0" u="none" strike="noStrike" cap="none">
              <a:solidFill>
                <a:schemeClr val="lt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342900" marR="0" lvl="0" indent="-34290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 panose="020B0604020202020204"/>
              <a:buChar char="•"/>
            </a:pPr>
            <a:r>
              <a:rPr lang="zh-CN" sz="1600" b="0" i="0" u="none" strike="noStrike" cap="none">
                <a:solidFill>
                  <a:schemeClr val="lt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Define your own exceptions for specific situations.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342900" marR="0" lvl="0" indent="-34290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 panose="020B0604020202020204"/>
              <a:buChar char="•"/>
            </a:pPr>
            <a:r>
              <a:rPr lang="zh-CN" sz="1600" b="0" i="0" u="none" strike="noStrike" cap="none">
                <a:solidFill>
                  <a:schemeClr val="lt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Provides more granular error handling and information.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 panose="020F0502020204030204"/>
              <a:buNone/>
            </a:pPr>
            <a:endParaRPr sz="1800" b="0" i="0" u="none" strike="noStrike" cap="none">
              <a:solidFill>
                <a:schemeClr val="lt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14" name="Google Shape;114;p4"/>
          <p:cNvSpPr/>
          <p:nvPr/>
        </p:nvSpPr>
        <p:spPr>
          <a:xfrm>
            <a:off x="394409" y="3905232"/>
            <a:ext cx="5443518" cy="1374499"/>
          </a:xfrm>
          <a:prstGeom prst="roundRect">
            <a:avLst>
              <a:gd name="adj" fmla="val 16667"/>
            </a:avLst>
          </a:prstGeom>
          <a:solidFill>
            <a:srgbClr val="525252"/>
          </a:solidFill>
          <a:ln w="12700" cap="flat" cmpd="sng">
            <a:solidFill>
              <a:srgbClr val="264159"/>
            </a:solidFill>
            <a:prstDash val="solid"/>
            <a:miter lim="800000"/>
            <a:headEnd type="none" w="sm" len="sm"/>
            <a:tailEnd type="none" w="sm" len="sm"/>
          </a:ln>
          <a:effectLst>
            <a:outerShdw blurRad="76200" dist="12700" dir="8100000" sy="-23000" kx="800400" algn="br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icrosoft YaHei" panose="020B0503020204020204" charset="-122"/>
              <a:buNone/>
            </a:pPr>
            <a:r>
              <a:rPr lang="zh-CN" sz="1800" b="1" i="0" u="none" strike="noStrike" cap="none">
                <a:solidFill>
                  <a:schemeClr val="lt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Rethrowing exceptions: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 panose="020F0502020204030204"/>
              <a:buNone/>
            </a:pPr>
            <a:endParaRPr sz="1800" b="0" i="0" u="none" strike="noStrike" cap="none">
              <a:solidFill>
                <a:schemeClr val="lt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342900" marR="0" lvl="0" indent="-34290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 panose="020B0604020202020204"/>
              <a:buChar char="•"/>
            </a:pPr>
            <a:r>
              <a:rPr lang="zh-CN" sz="1600" b="0" i="0" u="none" strike="noStrike" cap="none">
                <a:solidFill>
                  <a:schemeClr val="lt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Propagate an exception caught in a catch block.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342900" marR="0" lvl="0" indent="-34290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 panose="020B0604020202020204"/>
              <a:buChar char="•"/>
            </a:pPr>
            <a:r>
              <a:rPr lang="zh-CN" sz="1600" b="0" i="0" u="none" strike="noStrike" cap="none">
                <a:solidFill>
                  <a:schemeClr val="lt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Allows handling the exception at a higher level.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 panose="020F0502020204030204"/>
              <a:buNone/>
            </a:pPr>
            <a:endParaRPr sz="1800" b="0" i="0" u="none" strike="noStrike" cap="none">
              <a:solidFill>
                <a:schemeClr val="lt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pic>
        <p:nvPicPr>
          <p:cNvPr id="115" name="Google Shape;115;p4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10827311" y="-167700"/>
            <a:ext cx="1351275" cy="101536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6" name="Google Shape;116;p4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5876328" y="5170014"/>
            <a:ext cx="5626620" cy="168798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5"/>
          <p:cNvSpPr/>
          <p:nvPr/>
        </p:nvSpPr>
        <p:spPr>
          <a:xfrm>
            <a:off x="0" y="213957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1999" h="6858000" extrusionOk="0">
                <a:moveTo>
                  <a:pt x="0" y="0"/>
                </a:moveTo>
                <a:lnTo>
                  <a:pt x="12191999" y="5685840"/>
                </a:lnTo>
                <a:lnTo>
                  <a:pt x="12191999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1CAF7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 panose="020F0502020204030204"/>
              <a:buNone/>
            </a:pPr>
            <a:endParaRPr sz="1800" b="0" i="0" u="none" strike="noStrike" cap="none">
              <a:solidFill>
                <a:schemeClr val="lt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22" name="Google Shape;122;p5"/>
          <p:cNvSpPr/>
          <p:nvPr/>
        </p:nvSpPr>
        <p:spPr>
          <a:xfrm rot="5400000">
            <a:off x="-66675" y="66675"/>
            <a:ext cx="5964238" cy="5830888"/>
          </a:xfrm>
          <a:prstGeom prst="rtTriangle">
            <a:avLst/>
          </a:prstGeom>
          <a:solidFill>
            <a:srgbClr val="0DB1C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 panose="020F0502020204030204"/>
              <a:buNone/>
            </a:pPr>
            <a:endParaRPr sz="1800" b="0" i="0" u="none" strike="noStrike" cap="none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grpSp>
        <p:nvGrpSpPr>
          <p:cNvPr id="123" name="Google Shape;123;p5"/>
          <p:cNvGrpSpPr/>
          <p:nvPr/>
        </p:nvGrpSpPr>
        <p:grpSpPr>
          <a:xfrm>
            <a:off x="11099800" y="128588"/>
            <a:ext cx="806450" cy="336550"/>
            <a:chOff x="603250" y="1054101"/>
            <a:chExt cx="1951038" cy="812800"/>
          </a:xfrm>
        </p:grpSpPr>
        <p:sp>
          <p:nvSpPr>
            <p:cNvPr id="124" name="Google Shape;124;p5"/>
            <p:cNvSpPr/>
            <p:nvPr/>
          </p:nvSpPr>
          <p:spPr>
            <a:xfrm>
              <a:off x="2365375" y="1431926"/>
              <a:ext cx="188913" cy="407988"/>
            </a:xfrm>
            <a:custGeom>
              <a:avLst/>
              <a:gdLst/>
              <a:ahLst/>
              <a:cxnLst/>
              <a:rect l="l" t="t" r="r" b="b"/>
              <a:pathLst>
                <a:path w="210" h="453" extrusionOk="0">
                  <a:moveTo>
                    <a:pt x="48" y="208"/>
                  </a:moveTo>
                  <a:cubicBezTo>
                    <a:pt x="46" y="208"/>
                    <a:pt x="46" y="208"/>
                    <a:pt x="46" y="208"/>
                  </a:cubicBezTo>
                  <a:cubicBezTo>
                    <a:pt x="46" y="451"/>
                    <a:pt x="46" y="451"/>
                    <a:pt x="46" y="451"/>
                  </a:cubicBezTo>
                  <a:cubicBezTo>
                    <a:pt x="0" y="453"/>
                    <a:pt x="0" y="453"/>
                    <a:pt x="0" y="453"/>
                  </a:cubicBezTo>
                  <a:cubicBezTo>
                    <a:pt x="0" y="208"/>
                    <a:pt x="0" y="208"/>
                    <a:pt x="0" y="208"/>
                  </a:cubicBezTo>
                  <a:cubicBezTo>
                    <a:pt x="0" y="204"/>
                    <a:pt x="0" y="204"/>
                    <a:pt x="0" y="204"/>
                  </a:cubicBezTo>
                  <a:cubicBezTo>
                    <a:pt x="0" y="164"/>
                    <a:pt x="0" y="164"/>
                    <a:pt x="0" y="164"/>
                  </a:cubicBezTo>
                  <a:cubicBezTo>
                    <a:pt x="24" y="70"/>
                    <a:pt x="109" y="0"/>
                    <a:pt x="210" y="0"/>
                  </a:cubicBezTo>
                  <a:cubicBezTo>
                    <a:pt x="210" y="55"/>
                    <a:pt x="210" y="55"/>
                    <a:pt x="210" y="55"/>
                  </a:cubicBezTo>
                  <a:cubicBezTo>
                    <a:pt x="125" y="57"/>
                    <a:pt x="56" y="123"/>
                    <a:pt x="48" y="208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 panose="020F050202020403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125" name="Google Shape;125;p5"/>
            <p:cNvSpPr/>
            <p:nvPr/>
          </p:nvSpPr>
          <p:spPr>
            <a:xfrm>
              <a:off x="2466975" y="1135063"/>
              <a:ext cx="71438" cy="231775"/>
            </a:xfrm>
            <a:custGeom>
              <a:avLst/>
              <a:gdLst/>
              <a:ahLst/>
              <a:cxnLst/>
              <a:rect l="l" t="t" r="r" b="b"/>
              <a:pathLst>
                <a:path w="79" h="258" extrusionOk="0">
                  <a:moveTo>
                    <a:pt x="0" y="185"/>
                  </a:moveTo>
                  <a:cubicBezTo>
                    <a:pt x="0" y="185"/>
                    <a:pt x="0" y="185"/>
                    <a:pt x="0" y="185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21" y="0"/>
                    <a:pt x="21" y="0"/>
                    <a:pt x="21" y="0"/>
                  </a:cubicBezTo>
                  <a:cubicBezTo>
                    <a:pt x="21" y="186"/>
                    <a:pt x="21" y="186"/>
                    <a:pt x="21" y="186"/>
                  </a:cubicBezTo>
                  <a:cubicBezTo>
                    <a:pt x="24" y="216"/>
                    <a:pt x="48" y="240"/>
                    <a:pt x="79" y="240"/>
                  </a:cubicBezTo>
                  <a:cubicBezTo>
                    <a:pt x="79" y="258"/>
                    <a:pt x="79" y="258"/>
                    <a:pt x="79" y="258"/>
                  </a:cubicBezTo>
                  <a:cubicBezTo>
                    <a:pt x="78" y="258"/>
                    <a:pt x="77" y="258"/>
                    <a:pt x="76" y="258"/>
                  </a:cubicBezTo>
                  <a:cubicBezTo>
                    <a:pt x="35" y="258"/>
                    <a:pt x="1" y="226"/>
                    <a:pt x="0" y="185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 panose="020F050202020403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126" name="Google Shape;126;p5"/>
            <p:cNvSpPr/>
            <p:nvPr/>
          </p:nvSpPr>
          <p:spPr>
            <a:xfrm>
              <a:off x="2332038" y="1135063"/>
              <a:ext cx="69850" cy="231775"/>
            </a:xfrm>
            <a:custGeom>
              <a:avLst/>
              <a:gdLst/>
              <a:ahLst/>
              <a:cxnLst/>
              <a:rect l="l" t="t" r="r" b="b"/>
              <a:pathLst>
                <a:path w="79" h="258" extrusionOk="0">
                  <a:moveTo>
                    <a:pt x="79" y="188"/>
                  </a:moveTo>
                  <a:cubicBezTo>
                    <a:pt x="79" y="188"/>
                    <a:pt x="79" y="188"/>
                    <a:pt x="79" y="188"/>
                  </a:cubicBezTo>
                  <a:cubicBezTo>
                    <a:pt x="76" y="227"/>
                    <a:pt x="44" y="258"/>
                    <a:pt x="3" y="258"/>
                  </a:cubicBezTo>
                  <a:cubicBezTo>
                    <a:pt x="2" y="258"/>
                    <a:pt x="1" y="258"/>
                    <a:pt x="0" y="258"/>
                  </a:cubicBezTo>
                  <a:cubicBezTo>
                    <a:pt x="0" y="240"/>
                    <a:pt x="0" y="240"/>
                    <a:pt x="0" y="240"/>
                  </a:cubicBezTo>
                  <a:cubicBezTo>
                    <a:pt x="30" y="240"/>
                    <a:pt x="55" y="216"/>
                    <a:pt x="57" y="186"/>
                  </a:cubicBezTo>
                  <a:cubicBezTo>
                    <a:pt x="57" y="0"/>
                    <a:pt x="57" y="0"/>
                    <a:pt x="57" y="0"/>
                  </a:cubicBezTo>
                  <a:cubicBezTo>
                    <a:pt x="79" y="0"/>
                    <a:pt x="79" y="0"/>
                    <a:pt x="79" y="0"/>
                  </a:cubicBezTo>
                  <a:cubicBezTo>
                    <a:pt x="79" y="185"/>
                    <a:pt x="79" y="185"/>
                    <a:pt x="79" y="185"/>
                  </a:cubicBezTo>
                  <a:cubicBezTo>
                    <a:pt x="79" y="185"/>
                    <a:pt x="79" y="185"/>
                    <a:pt x="79" y="185"/>
                  </a:cubicBezTo>
                  <a:cubicBezTo>
                    <a:pt x="79" y="186"/>
                    <a:pt x="79" y="186"/>
                    <a:pt x="79" y="186"/>
                  </a:cubicBezTo>
                  <a:lnTo>
                    <a:pt x="79" y="18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 panose="020F050202020403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127" name="Google Shape;127;p5"/>
            <p:cNvSpPr/>
            <p:nvPr/>
          </p:nvSpPr>
          <p:spPr>
            <a:xfrm>
              <a:off x="1925638" y="1417638"/>
              <a:ext cx="430213" cy="449263"/>
            </a:xfrm>
            <a:custGeom>
              <a:avLst/>
              <a:gdLst/>
              <a:ahLst/>
              <a:cxnLst/>
              <a:rect l="l" t="t" r="r" b="b"/>
              <a:pathLst>
                <a:path w="478" h="498" extrusionOk="0">
                  <a:moveTo>
                    <a:pt x="463" y="211"/>
                  </a:moveTo>
                  <a:cubicBezTo>
                    <a:pt x="409" y="220"/>
                    <a:pt x="409" y="220"/>
                    <a:pt x="409" y="220"/>
                  </a:cubicBezTo>
                  <a:cubicBezTo>
                    <a:pt x="421" y="286"/>
                    <a:pt x="392" y="356"/>
                    <a:pt x="330" y="391"/>
                  </a:cubicBezTo>
                  <a:cubicBezTo>
                    <a:pt x="252" y="436"/>
                    <a:pt x="153" y="410"/>
                    <a:pt x="108" y="332"/>
                  </a:cubicBezTo>
                  <a:cubicBezTo>
                    <a:pt x="417" y="153"/>
                    <a:pt x="417" y="153"/>
                    <a:pt x="417" y="153"/>
                  </a:cubicBezTo>
                  <a:cubicBezTo>
                    <a:pt x="417" y="153"/>
                    <a:pt x="417" y="153"/>
                    <a:pt x="417" y="153"/>
                  </a:cubicBezTo>
                  <a:cubicBezTo>
                    <a:pt x="438" y="141"/>
                    <a:pt x="438" y="141"/>
                    <a:pt x="438" y="141"/>
                  </a:cubicBezTo>
                  <a:cubicBezTo>
                    <a:pt x="437" y="141"/>
                    <a:pt x="437" y="140"/>
                    <a:pt x="437" y="140"/>
                  </a:cubicBezTo>
                  <a:cubicBezTo>
                    <a:pt x="377" y="35"/>
                    <a:pt x="244" y="0"/>
                    <a:pt x="140" y="60"/>
                  </a:cubicBezTo>
                  <a:cubicBezTo>
                    <a:pt x="35" y="120"/>
                    <a:pt x="0" y="253"/>
                    <a:pt x="60" y="358"/>
                  </a:cubicBezTo>
                  <a:cubicBezTo>
                    <a:pt x="120" y="462"/>
                    <a:pt x="253" y="498"/>
                    <a:pt x="357" y="437"/>
                  </a:cubicBezTo>
                  <a:cubicBezTo>
                    <a:pt x="439" y="390"/>
                    <a:pt x="478" y="299"/>
                    <a:pt x="463" y="211"/>
                  </a:cubicBezTo>
                  <a:close/>
                  <a:moveTo>
                    <a:pt x="87" y="274"/>
                  </a:moveTo>
                  <a:cubicBezTo>
                    <a:pt x="78" y="209"/>
                    <a:pt x="107" y="142"/>
                    <a:pt x="167" y="108"/>
                  </a:cubicBezTo>
                  <a:cubicBezTo>
                    <a:pt x="227" y="73"/>
                    <a:pt x="299" y="81"/>
                    <a:pt x="350" y="122"/>
                  </a:cubicBezTo>
                  <a:lnTo>
                    <a:pt x="87" y="274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 panose="020F050202020403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128" name="Google Shape;128;p5"/>
            <p:cNvSpPr/>
            <p:nvPr/>
          </p:nvSpPr>
          <p:spPr>
            <a:xfrm>
              <a:off x="2073275" y="1250951"/>
              <a:ext cx="225425" cy="115888"/>
            </a:xfrm>
            <a:custGeom>
              <a:avLst/>
              <a:gdLst/>
              <a:ahLst/>
              <a:cxnLst/>
              <a:rect l="l" t="t" r="r" b="b"/>
              <a:pathLst>
                <a:path w="251" h="128" extrusionOk="0">
                  <a:moveTo>
                    <a:pt x="172" y="58"/>
                  </a:moveTo>
                  <a:cubicBezTo>
                    <a:pt x="172" y="58"/>
                    <a:pt x="172" y="58"/>
                    <a:pt x="172" y="58"/>
                  </a:cubicBezTo>
                  <a:cubicBezTo>
                    <a:pt x="172" y="56"/>
                    <a:pt x="172" y="56"/>
                    <a:pt x="172" y="56"/>
                  </a:cubicBezTo>
                  <a:cubicBezTo>
                    <a:pt x="172" y="56"/>
                    <a:pt x="172" y="56"/>
                    <a:pt x="172" y="55"/>
                  </a:cubicBezTo>
                  <a:cubicBezTo>
                    <a:pt x="172" y="55"/>
                    <a:pt x="172" y="55"/>
                    <a:pt x="172" y="55"/>
                  </a:cubicBezTo>
                  <a:cubicBezTo>
                    <a:pt x="172" y="22"/>
                    <a:pt x="172" y="22"/>
                    <a:pt x="172" y="22"/>
                  </a:cubicBezTo>
                  <a:cubicBezTo>
                    <a:pt x="79" y="22"/>
                    <a:pt x="79" y="22"/>
                    <a:pt x="79" y="22"/>
                  </a:cubicBezTo>
                  <a:cubicBezTo>
                    <a:pt x="79" y="55"/>
                    <a:pt x="79" y="55"/>
                    <a:pt x="79" y="55"/>
                  </a:cubicBezTo>
                  <a:cubicBezTo>
                    <a:pt x="79" y="55"/>
                    <a:pt x="79" y="55"/>
                    <a:pt x="79" y="55"/>
                  </a:cubicBezTo>
                  <a:cubicBezTo>
                    <a:pt x="79" y="56"/>
                    <a:pt x="79" y="56"/>
                    <a:pt x="79" y="56"/>
                  </a:cubicBezTo>
                  <a:cubicBezTo>
                    <a:pt x="79" y="58"/>
                    <a:pt x="79" y="58"/>
                    <a:pt x="79" y="58"/>
                  </a:cubicBezTo>
                  <a:cubicBezTo>
                    <a:pt x="79" y="58"/>
                    <a:pt x="79" y="58"/>
                    <a:pt x="79" y="58"/>
                  </a:cubicBezTo>
                  <a:cubicBezTo>
                    <a:pt x="76" y="97"/>
                    <a:pt x="43" y="128"/>
                    <a:pt x="3" y="128"/>
                  </a:cubicBezTo>
                  <a:cubicBezTo>
                    <a:pt x="2" y="128"/>
                    <a:pt x="1" y="128"/>
                    <a:pt x="0" y="128"/>
                  </a:cubicBezTo>
                  <a:cubicBezTo>
                    <a:pt x="0" y="110"/>
                    <a:pt x="0" y="110"/>
                    <a:pt x="0" y="110"/>
                  </a:cubicBezTo>
                  <a:cubicBezTo>
                    <a:pt x="30" y="110"/>
                    <a:pt x="55" y="86"/>
                    <a:pt x="57" y="56"/>
                  </a:cubicBezTo>
                  <a:cubicBezTo>
                    <a:pt x="57" y="22"/>
                    <a:pt x="57" y="22"/>
                    <a:pt x="57" y="22"/>
                  </a:cubicBezTo>
                  <a:cubicBezTo>
                    <a:pt x="57" y="0"/>
                    <a:pt x="57" y="0"/>
                    <a:pt x="57" y="0"/>
                  </a:cubicBezTo>
                  <a:cubicBezTo>
                    <a:pt x="79" y="0"/>
                    <a:pt x="79" y="0"/>
                    <a:pt x="79" y="0"/>
                  </a:cubicBezTo>
                  <a:cubicBezTo>
                    <a:pt x="172" y="0"/>
                    <a:pt x="172" y="0"/>
                    <a:pt x="172" y="0"/>
                  </a:cubicBezTo>
                  <a:cubicBezTo>
                    <a:pt x="179" y="0"/>
                    <a:pt x="179" y="0"/>
                    <a:pt x="179" y="0"/>
                  </a:cubicBezTo>
                  <a:cubicBezTo>
                    <a:pt x="194" y="0"/>
                    <a:pt x="194" y="0"/>
                    <a:pt x="194" y="0"/>
                  </a:cubicBezTo>
                  <a:cubicBezTo>
                    <a:pt x="194" y="56"/>
                    <a:pt x="194" y="56"/>
                    <a:pt x="194" y="56"/>
                  </a:cubicBezTo>
                  <a:cubicBezTo>
                    <a:pt x="196" y="86"/>
                    <a:pt x="221" y="110"/>
                    <a:pt x="251" y="110"/>
                  </a:cubicBezTo>
                  <a:cubicBezTo>
                    <a:pt x="251" y="128"/>
                    <a:pt x="251" y="128"/>
                    <a:pt x="251" y="128"/>
                  </a:cubicBezTo>
                  <a:cubicBezTo>
                    <a:pt x="250" y="128"/>
                    <a:pt x="249" y="128"/>
                    <a:pt x="248" y="128"/>
                  </a:cubicBezTo>
                  <a:cubicBezTo>
                    <a:pt x="208" y="128"/>
                    <a:pt x="175" y="97"/>
                    <a:pt x="172" y="58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 panose="020F050202020403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129" name="Google Shape;129;p5"/>
            <p:cNvSpPr/>
            <p:nvPr/>
          </p:nvSpPr>
          <p:spPr>
            <a:xfrm>
              <a:off x="2079625" y="1212851"/>
              <a:ext cx="212725" cy="31750"/>
            </a:xfrm>
            <a:custGeom>
              <a:avLst/>
              <a:gdLst/>
              <a:ahLst/>
              <a:cxnLst/>
              <a:rect l="l" t="t" r="r" b="b"/>
              <a:pathLst>
                <a:path w="134" h="20" extrusionOk="0">
                  <a:moveTo>
                    <a:pt x="122" y="12"/>
                  </a:moveTo>
                  <a:lnTo>
                    <a:pt x="12" y="12"/>
                  </a:lnTo>
                  <a:lnTo>
                    <a:pt x="12" y="20"/>
                  </a:lnTo>
                  <a:lnTo>
                    <a:pt x="0" y="20"/>
                  </a:lnTo>
                  <a:lnTo>
                    <a:pt x="0" y="12"/>
                  </a:lnTo>
                  <a:lnTo>
                    <a:pt x="0" y="0"/>
                  </a:lnTo>
                  <a:lnTo>
                    <a:pt x="12" y="0"/>
                  </a:lnTo>
                  <a:lnTo>
                    <a:pt x="122" y="0"/>
                  </a:lnTo>
                  <a:lnTo>
                    <a:pt x="134" y="0"/>
                  </a:lnTo>
                  <a:lnTo>
                    <a:pt x="134" y="12"/>
                  </a:lnTo>
                  <a:lnTo>
                    <a:pt x="134" y="20"/>
                  </a:lnTo>
                  <a:lnTo>
                    <a:pt x="122" y="20"/>
                  </a:lnTo>
                  <a:lnTo>
                    <a:pt x="122" y="12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 panose="020F050202020403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130" name="Google Shape;130;p5"/>
            <p:cNvSpPr/>
            <p:nvPr/>
          </p:nvSpPr>
          <p:spPr>
            <a:xfrm>
              <a:off x="2085975" y="1109663"/>
              <a:ext cx="200025" cy="90488"/>
            </a:xfrm>
            <a:custGeom>
              <a:avLst/>
              <a:gdLst/>
              <a:ahLst/>
              <a:cxnLst/>
              <a:rect l="l" t="t" r="r" b="b"/>
              <a:pathLst>
                <a:path w="126" h="57" extrusionOk="0">
                  <a:moveTo>
                    <a:pt x="69" y="45"/>
                  </a:moveTo>
                  <a:lnTo>
                    <a:pt x="106" y="45"/>
                  </a:lnTo>
                  <a:lnTo>
                    <a:pt x="106" y="57"/>
                  </a:lnTo>
                  <a:lnTo>
                    <a:pt x="21" y="57"/>
                  </a:lnTo>
                  <a:lnTo>
                    <a:pt x="21" y="45"/>
                  </a:lnTo>
                  <a:lnTo>
                    <a:pt x="57" y="45"/>
                  </a:lnTo>
                  <a:lnTo>
                    <a:pt x="57" y="32"/>
                  </a:lnTo>
                  <a:lnTo>
                    <a:pt x="0" y="32"/>
                  </a:lnTo>
                  <a:lnTo>
                    <a:pt x="0" y="20"/>
                  </a:lnTo>
                  <a:lnTo>
                    <a:pt x="57" y="20"/>
                  </a:lnTo>
                  <a:lnTo>
                    <a:pt x="57" y="0"/>
                  </a:lnTo>
                  <a:lnTo>
                    <a:pt x="69" y="0"/>
                  </a:lnTo>
                  <a:lnTo>
                    <a:pt x="69" y="20"/>
                  </a:lnTo>
                  <a:lnTo>
                    <a:pt x="126" y="20"/>
                  </a:lnTo>
                  <a:lnTo>
                    <a:pt x="126" y="32"/>
                  </a:lnTo>
                  <a:lnTo>
                    <a:pt x="69" y="32"/>
                  </a:lnTo>
                  <a:lnTo>
                    <a:pt x="69" y="45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 panose="020F050202020403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131" name="Google Shape;131;p5"/>
            <p:cNvSpPr/>
            <p:nvPr/>
          </p:nvSpPr>
          <p:spPr>
            <a:xfrm>
              <a:off x="1892300" y="1219201"/>
              <a:ext cx="142875" cy="149225"/>
            </a:xfrm>
            <a:custGeom>
              <a:avLst/>
              <a:gdLst/>
              <a:ahLst/>
              <a:cxnLst/>
              <a:rect l="l" t="t" r="r" b="b"/>
              <a:pathLst>
                <a:path w="90" h="94" extrusionOk="0">
                  <a:moveTo>
                    <a:pt x="12" y="94"/>
                  </a:moveTo>
                  <a:lnTo>
                    <a:pt x="0" y="94"/>
                  </a:lnTo>
                  <a:lnTo>
                    <a:pt x="0" y="82"/>
                  </a:lnTo>
                  <a:lnTo>
                    <a:pt x="0" y="8"/>
                  </a:lnTo>
                  <a:lnTo>
                    <a:pt x="11" y="8"/>
                  </a:lnTo>
                  <a:lnTo>
                    <a:pt x="25" y="0"/>
                  </a:lnTo>
                  <a:lnTo>
                    <a:pt x="31" y="11"/>
                  </a:lnTo>
                  <a:lnTo>
                    <a:pt x="12" y="22"/>
                  </a:lnTo>
                  <a:lnTo>
                    <a:pt x="12" y="45"/>
                  </a:lnTo>
                  <a:lnTo>
                    <a:pt x="37" y="45"/>
                  </a:lnTo>
                  <a:lnTo>
                    <a:pt x="37" y="57"/>
                  </a:lnTo>
                  <a:lnTo>
                    <a:pt x="12" y="57"/>
                  </a:lnTo>
                  <a:lnTo>
                    <a:pt x="12" y="82"/>
                  </a:lnTo>
                  <a:lnTo>
                    <a:pt x="77" y="82"/>
                  </a:lnTo>
                  <a:lnTo>
                    <a:pt x="77" y="57"/>
                  </a:lnTo>
                  <a:lnTo>
                    <a:pt x="53" y="57"/>
                  </a:lnTo>
                  <a:lnTo>
                    <a:pt x="53" y="45"/>
                  </a:lnTo>
                  <a:lnTo>
                    <a:pt x="77" y="45"/>
                  </a:lnTo>
                  <a:lnTo>
                    <a:pt x="77" y="20"/>
                  </a:lnTo>
                  <a:lnTo>
                    <a:pt x="53" y="20"/>
                  </a:lnTo>
                  <a:lnTo>
                    <a:pt x="53" y="8"/>
                  </a:lnTo>
                  <a:lnTo>
                    <a:pt x="77" y="8"/>
                  </a:lnTo>
                  <a:lnTo>
                    <a:pt x="90" y="8"/>
                  </a:lnTo>
                  <a:lnTo>
                    <a:pt x="90" y="94"/>
                  </a:lnTo>
                  <a:lnTo>
                    <a:pt x="77" y="94"/>
                  </a:lnTo>
                  <a:lnTo>
                    <a:pt x="12" y="94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 panose="020F050202020403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132" name="Google Shape;132;p5"/>
            <p:cNvSpPr/>
            <p:nvPr/>
          </p:nvSpPr>
          <p:spPr>
            <a:xfrm>
              <a:off x="1995488" y="1165226"/>
              <a:ext cx="39688" cy="46038"/>
            </a:xfrm>
            <a:custGeom>
              <a:avLst/>
              <a:gdLst/>
              <a:ahLst/>
              <a:cxnLst/>
              <a:rect l="l" t="t" r="r" b="b"/>
              <a:pathLst>
                <a:path w="25" h="29" extrusionOk="0">
                  <a:moveTo>
                    <a:pt x="0" y="23"/>
                  </a:moveTo>
                  <a:lnTo>
                    <a:pt x="14" y="0"/>
                  </a:lnTo>
                  <a:lnTo>
                    <a:pt x="25" y="6"/>
                  </a:lnTo>
                  <a:lnTo>
                    <a:pt x="10" y="29"/>
                  </a:lnTo>
                  <a:lnTo>
                    <a:pt x="0" y="2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 panose="020F050202020403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133" name="Google Shape;133;p5"/>
            <p:cNvSpPr/>
            <p:nvPr/>
          </p:nvSpPr>
          <p:spPr>
            <a:xfrm>
              <a:off x="1938338" y="1158876"/>
              <a:ext cx="39688" cy="46038"/>
            </a:xfrm>
            <a:custGeom>
              <a:avLst/>
              <a:gdLst/>
              <a:ahLst/>
              <a:cxnLst/>
              <a:rect l="l" t="t" r="r" b="b"/>
              <a:pathLst>
                <a:path w="25" h="29" extrusionOk="0">
                  <a:moveTo>
                    <a:pt x="25" y="23"/>
                  </a:moveTo>
                  <a:lnTo>
                    <a:pt x="14" y="29"/>
                  </a:lnTo>
                  <a:lnTo>
                    <a:pt x="0" y="6"/>
                  </a:lnTo>
                  <a:lnTo>
                    <a:pt x="10" y="0"/>
                  </a:lnTo>
                  <a:lnTo>
                    <a:pt x="25" y="2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 panose="020F050202020403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134" name="Google Shape;134;p5"/>
            <p:cNvSpPr/>
            <p:nvPr/>
          </p:nvSpPr>
          <p:spPr>
            <a:xfrm>
              <a:off x="1898650" y="1165226"/>
              <a:ext cx="39688" cy="46038"/>
            </a:xfrm>
            <a:custGeom>
              <a:avLst/>
              <a:gdLst/>
              <a:ahLst/>
              <a:cxnLst/>
              <a:rect l="l" t="t" r="r" b="b"/>
              <a:pathLst>
                <a:path w="25" h="29" extrusionOk="0">
                  <a:moveTo>
                    <a:pt x="0" y="6"/>
                  </a:moveTo>
                  <a:lnTo>
                    <a:pt x="11" y="0"/>
                  </a:lnTo>
                  <a:lnTo>
                    <a:pt x="25" y="23"/>
                  </a:lnTo>
                  <a:lnTo>
                    <a:pt x="15" y="29"/>
                  </a:lnTo>
                  <a:lnTo>
                    <a:pt x="0" y="6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 panose="020F050202020403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135" name="Google Shape;135;p5"/>
            <p:cNvSpPr/>
            <p:nvPr/>
          </p:nvSpPr>
          <p:spPr>
            <a:xfrm>
              <a:off x="1892300" y="1109663"/>
              <a:ext cx="134938" cy="46038"/>
            </a:xfrm>
            <a:custGeom>
              <a:avLst/>
              <a:gdLst/>
              <a:ahLst/>
              <a:cxnLst/>
              <a:rect l="l" t="t" r="r" b="b"/>
              <a:pathLst>
                <a:path w="85" h="29" extrusionOk="0">
                  <a:moveTo>
                    <a:pt x="0" y="17"/>
                  </a:moveTo>
                  <a:lnTo>
                    <a:pt x="82" y="0"/>
                  </a:lnTo>
                  <a:lnTo>
                    <a:pt x="85" y="11"/>
                  </a:lnTo>
                  <a:lnTo>
                    <a:pt x="3" y="29"/>
                  </a:lnTo>
                  <a:lnTo>
                    <a:pt x="0" y="17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 panose="020F050202020403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136" name="Google Shape;136;p5"/>
            <p:cNvSpPr/>
            <p:nvPr/>
          </p:nvSpPr>
          <p:spPr>
            <a:xfrm>
              <a:off x="1768475" y="1160463"/>
              <a:ext cx="117475" cy="207963"/>
            </a:xfrm>
            <a:custGeom>
              <a:avLst/>
              <a:gdLst/>
              <a:ahLst/>
              <a:cxnLst/>
              <a:rect l="l" t="t" r="r" b="b"/>
              <a:pathLst>
                <a:path w="74" h="131" extrusionOk="0">
                  <a:moveTo>
                    <a:pt x="46" y="49"/>
                  </a:moveTo>
                  <a:lnTo>
                    <a:pt x="48" y="48"/>
                  </a:lnTo>
                  <a:lnTo>
                    <a:pt x="71" y="88"/>
                  </a:lnTo>
                  <a:lnTo>
                    <a:pt x="60" y="94"/>
                  </a:lnTo>
                  <a:lnTo>
                    <a:pt x="46" y="68"/>
                  </a:lnTo>
                  <a:lnTo>
                    <a:pt x="46" y="131"/>
                  </a:lnTo>
                  <a:lnTo>
                    <a:pt x="33" y="131"/>
                  </a:lnTo>
                  <a:lnTo>
                    <a:pt x="33" y="59"/>
                  </a:lnTo>
                  <a:lnTo>
                    <a:pt x="11" y="98"/>
                  </a:lnTo>
                  <a:lnTo>
                    <a:pt x="0" y="91"/>
                  </a:lnTo>
                  <a:lnTo>
                    <a:pt x="33" y="34"/>
                  </a:lnTo>
                  <a:lnTo>
                    <a:pt x="33" y="25"/>
                  </a:lnTo>
                  <a:lnTo>
                    <a:pt x="5" y="25"/>
                  </a:lnTo>
                  <a:lnTo>
                    <a:pt x="5" y="13"/>
                  </a:lnTo>
                  <a:lnTo>
                    <a:pt x="33" y="13"/>
                  </a:lnTo>
                  <a:lnTo>
                    <a:pt x="33" y="0"/>
                  </a:lnTo>
                  <a:lnTo>
                    <a:pt x="46" y="0"/>
                  </a:lnTo>
                  <a:lnTo>
                    <a:pt x="46" y="13"/>
                  </a:lnTo>
                  <a:lnTo>
                    <a:pt x="74" y="13"/>
                  </a:lnTo>
                  <a:lnTo>
                    <a:pt x="74" y="25"/>
                  </a:lnTo>
                  <a:lnTo>
                    <a:pt x="46" y="25"/>
                  </a:lnTo>
                  <a:lnTo>
                    <a:pt x="46" y="49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 panose="020F050202020403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137" name="Google Shape;137;p5"/>
            <p:cNvSpPr/>
            <p:nvPr/>
          </p:nvSpPr>
          <p:spPr>
            <a:xfrm>
              <a:off x="1774825" y="1111251"/>
              <a:ext cx="103188" cy="44450"/>
            </a:xfrm>
            <a:custGeom>
              <a:avLst/>
              <a:gdLst/>
              <a:ahLst/>
              <a:cxnLst/>
              <a:rect l="l" t="t" r="r" b="b"/>
              <a:pathLst>
                <a:path w="65" h="28" extrusionOk="0">
                  <a:moveTo>
                    <a:pt x="0" y="16"/>
                  </a:moveTo>
                  <a:lnTo>
                    <a:pt x="62" y="0"/>
                  </a:lnTo>
                  <a:lnTo>
                    <a:pt x="65" y="11"/>
                  </a:lnTo>
                  <a:lnTo>
                    <a:pt x="4" y="28"/>
                  </a:lnTo>
                  <a:lnTo>
                    <a:pt x="0" y="16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 panose="020F050202020403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138" name="Google Shape;138;p5"/>
            <p:cNvSpPr/>
            <p:nvPr/>
          </p:nvSpPr>
          <p:spPr>
            <a:xfrm>
              <a:off x="1281113" y="1446213"/>
              <a:ext cx="698500" cy="392113"/>
            </a:xfrm>
            <a:custGeom>
              <a:avLst/>
              <a:gdLst/>
              <a:ahLst/>
              <a:cxnLst/>
              <a:rect l="l" t="t" r="r" b="b"/>
              <a:pathLst>
                <a:path w="776" h="436" extrusionOk="0">
                  <a:moveTo>
                    <a:pt x="740" y="336"/>
                  </a:moveTo>
                  <a:cubicBezTo>
                    <a:pt x="710" y="365"/>
                    <a:pt x="670" y="383"/>
                    <a:pt x="626" y="383"/>
                  </a:cubicBezTo>
                  <a:cubicBezTo>
                    <a:pt x="536" y="383"/>
                    <a:pt x="462" y="309"/>
                    <a:pt x="462" y="218"/>
                  </a:cubicBezTo>
                  <a:cubicBezTo>
                    <a:pt x="462" y="128"/>
                    <a:pt x="536" y="54"/>
                    <a:pt x="626" y="54"/>
                  </a:cubicBezTo>
                  <a:cubicBezTo>
                    <a:pt x="670" y="54"/>
                    <a:pt x="709" y="71"/>
                    <a:pt x="738" y="99"/>
                  </a:cubicBezTo>
                  <a:cubicBezTo>
                    <a:pt x="774" y="58"/>
                    <a:pt x="774" y="58"/>
                    <a:pt x="774" y="58"/>
                  </a:cubicBezTo>
                  <a:cubicBezTo>
                    <a:pt x="735" y="22"/>
                    <a:pt x="683" y="0"/>
                    <a:pt x="626" y="0"/>
                  </a:cubicBezTo>
                  <a:cubicBezTo>
                    <a:pt x="532" y="0"/>
                    <a:pt x="453" y="58"/>
                    <a:pt x="422" y="141"/>
                  </a:cubicBezTo>
                  <a:cubicBezTo>
                    <a:pt x="391" y="58"/>
                    <a:pt x="311" y="0"/>
                    <a:pt x="218" y="0"/>
                  </a:cubicBezTo>
                  <a:cubicBezTo>
                    <a:pt x="98" y="0"/>
                    <a:pt x="0" y="97"/>
                    <a:pt x="0" y="218"/>
                  </a:cubicBezTo>
                  <a:cubicBezTo>
                    <a:pt x="0" y="338"/>
                    <a:pt x="98" y="436"/>
                    <a:pt x="218" y="436"/>
                  </a:cubicBezTo>
                  <a:cubicBezTo>
                    <a:pt x="311" y="436"/>
                    <a:pt x="391" y="377"/>
                    <a:pt x="422" y="294"/>
                  </a:cubicBezTo>
                  <a:cubicBezTo>
                    <a:pt x="453" y="377"/>
                    <a:pt x="532" y="436"/>
                    <a:pt x="626" y="436"/>
                  </a:cubicBezTo>
                  <a:cubicBezTo>
                    <a:pt x="684" y="436"/>
                    <a:pt x="737" y="413"/>
                    <a:pt x="776" y="375"/>
                  </a:cubicBezTo>
                  <a:lnTo>
                    <a:pt x="740" y="336"/>
                  </a:lnTo>
                  <a:close/>
                  <a:moveTo>
                    <a:pt x="218" y="382"/>
                  </a:moveTo>
                  <a:cubicBezTo>
                    <a:pt x="128" y="382"/>
                    <a:pt x="55" y="309"/>
                    <a:pt x="55" y="219"/>
                  </a:cubicBezTo>
                  <a:cubicBezTo>
                    <a:pt x="55" y="128"/>
                    <a:pt x="128" y="55"/>
                    <a:pt x="218" y="55"/>
                  </a:cubicBezTo>
                  <a:cubicBezTo>
                    <a:pt x="308" y="55"/>
                    <a:pt x="381" y="128"/>
                    <a:pt x="381" y="219"/>
                  </a:cubicBezTo>
                  <a:cubicBezTo>
                    <a:pt x="381" y="309"/>
                    <a:pt x="308" y="382"/>
                    <a:pt x="218" y="382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 panose="020F050202020403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  <p:sp>
          <p:nvSpPr>
            <p:cNvPr id="139" name="Google Shape;139;p5"/>
            <p:cNvSpPr/>
            <p:nvPr/>
          </p:nvSpPr>
          <p:spPr>
            <a:xfrm>
              <a:off x="603250" y="1054101"/>
              <a:ext cx="679450" cy="800100"/>
            </a:xfrm>
            <a:custGeom>
              <a:avLst/>
              <a:gdLst/>
              <a:ahLst/>
              <a:cxnLst/>
              <a:rect l="l" t="t" r="r" b="b"/>
              <a:pathLst>
                <a:path w="756" h="888" extrusionOk="0">
                  <a:moveTo>
                    <a:pt x="313" y="0"/>
                  </a:moveTo>
                  <a:cubicBezTo>
                    <a:pt x="307" y="0"/>
                    <a:pt x="302" y="0"/>
                    <a:pt x="296" y="1"/>
                  </a:cubicBezTo>
                  <a:cubicBezTo>
                    <a:pt x="296" y="0"/>
                    <a:pt x="296" y="0"/>
                    <a:pt x="296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888"/>
                    <a:pt x="0" y="888"/>
                    <a:pt x="0" y="888"/>
                  </a:cubicBezTo>
                  <a:cubicBezTo>
                    <a:pt x="296" y="888"/>
                    <a:pt x="296" y="888"/>
                    <a:pt x="296" y="888"/>
                  </a:cubicBezTo>
                  <a:cubicBezTo>
                    <a:pt x="296" y="888"/>
                    <a:pt x="296" y="888"/>
                    <a:pt x="296" y="888"/>
                  </a:cubicBezTo>
                  <a:cubicBezTo>
                    <a:pt x="301" y="888"/>
                    <a:pt x="306" y="888"/>
                    <a:pt x="311" y="888"/>
                  </a:cubicBezTo>
                  <a:cubicBezTo>
                    <a:pt x="556" y="888"/>
                    <a:pt x="756" y="686"/>
                    <a:pt x="756" y="442"/>
                  </a:cubicBezTo>
                  <a:cubicBezTo>
                    <a:pt x="756" y="197"/>
                    <a:pt x="557" y="1"/>
                    <a:pt x="313" y="0"/>
                  </a:cubicBezTo>
                  <a:close/>
                  <a:moveTo>
                    <a:pt x="257" y="326"/>
                  </a:moveTo>
                  <a:cubicBezTo>
                    <a:pt x="268" y="192"/>
                    <a:pt x="349" y="92"/>
                    <a:pt x="349" y="92"/>
                  </a:cubicBezTo>
                  <a:cubicBezTo>
                    <a:pt x="349" y="92"/>
                    <a:pt x="427" y="188"/>
                    <a:pt x="411" y="341"/>
                  </a:cubicBezTo>
                  <a:cubicBezTo>
                    <a:pt x="396" y="491"/>
                    <a:pt x="317" y="578"/>
                    <a:pt x="317" y="578"/>
                  </a:cubicBezTo>
                  <a:cubicBezTo>
                    <a:pt x="317" y="578"/>
                    <a:pt x="245" y="459"/>
                    <a:pt x="257" y="326"/>
                  </a:cubicBezTo>
                  <a:close/>
                  <a:moveTo>
                    <a:pt x="234" y="790"/>
                  </a:moveTo>
                  <a:cubicBezTo>
                    <a:pt x="234" y="790"/>
                    <a:pt x="127" y="667"/>
                    <a:pt x="118" y="558"/>
                  </a:cubicBezTo>
                  <a:cubicBezTo>
                    <a:pt x="105" y="410"/>
                    <a:pt x="212" y="279"/>
                    <a:pt x="212" y="279"/>
                  </a:cubicBezTo>
                  <a:cubicBezTo>
                    <a:pt x="205" y="483"/>
                    <a:pt x="273" y="573"/>
                    <a:pt x="273" y="573"/>
                  </a:cubicBezTo>
                  <a:cubicBezTo>
                    <a:pt x="273" y="573"/>
                    <a:pt x="289" y="597"/>
                    <a:pt x="278" y="667"/>
                  </a:cubicBezTo>
                  <a:cubicBezTo>
                    <a:pt x="267" y="736"/>
                    <a:pt x="234" y="790"/>
                    <a:pt x="234" y="790"/>
                  </a:cubicBezTo>
                  <a:close/>
                  <a:moveTo>
                    <a:pt x="505" y="664"/>
                  </a:moveTo>
                  <a:cubicBezTo>
                    <a:pt x="408" y="771"/>
                    <a:pt x="278" y="789"/>
                    <a:pt x="278" y="789"/>
                  </a:cubicBezTo>
                  <a:cubicBezTo>
                    <a:pt x="278" y="789"/>
                    <a:pt x="282" y="666"/>
                    <a:pt x="395" y="559"/>
                  </a:cubicBezTo>
                  <a:cubicBezTo>
                    <a:pt x="508" y="453"/>
                    <a:pt x="616" y="426"/>
                    <a:pt x="616" y="426"/>
                  </a:cubicBezTo>
                  <a:cubicBezTo>
                    <a:pt x="616" y="426"/>
                    <a:pt x="601" y="557"/>
                    <a:pt x="505" y="66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 panose="020F0502020204030204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endParaRPr>
            </a:p>
          </p:txBody>
        </p:sp>
      </p:grpSp>
      <p:sp>
        <p:nvSpPr>
          <p:cNvPr id="140" name="Google Shape;140;p5"/>
          <p:cNvSpPr txBox="1"/>
          <p:nvPr/>
        </p:nvSpPr>
        <p:spPr>
          <a:xfrm>
            <a:off x="287338" y="90488"/>
            <a:ext cx="2255837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Microsoft YaHei" panose="020B0503020204020204" charset="-122"/>
              <a:buNone/>
            </a:pPr>
            <a:r>
              <a:rPr lang="zh-CN" sz="2000" b="1" i="0" u="none" strike="noStrike" cap="none">
                <a:solidFill>
                  <a:schemeClr val="lt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单击此处添加标题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41" name="Google Shape;141;p5"/>
          <p:cNvSpPr/>
          <p:nvPr/>
        </p:nvSpPr>
        <p:spPr>
          <a:xfrm rot="5400000">
            <a:off x="3" y="7"/>
            <a:ext cx="2770200" cy="2770200"/>
          </a:xfrm>
          <a:prstGeom prst="rtTriangle">
            <a:avLst/>
          </a:prstGeom>
          <a:solidFill>
            <a:srgbClr val="0D517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 panose="020F0502020204030204"/>
              <a:buNone/>
            </a:pPr>
            <a:endParaRPr sz="1800" b="0" i="0" u="none" strike="noStrike" cap="none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42" name="Google Shape;142;p5"/>
          <p:cNvSpPr txBox="1"/>
          <p:nvPr/>
        </p:nvSpPr>
        <p:spPr>
          <a:xfrm>
            <a:off x="1535636" y="278822"/>
            <a:ext cx="10278745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alibri" panose="020F0502020204030204"/>
              <a:buNone/>
            </a:pPr>
            <a:r>
              <a:rPr lang="zh-CN" sz="3000" b="1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Advanced Techniques - Nested Blocks &amp; Chained Exceptions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143" name="Google Shape;143;p5" descr="Dart_logo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9494900" y="1243389"/>
            <a:ext cx="2029451" cy="1855153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srgbClr val="000000">
                <a:alpha val="40000"/>
              </a:srgbClr>
            </a:outerShdw>
          </a:effectLst>
        </p:spPr>
      </p:pic>
      <p:sp>
        <p:nvSpPr>
          <p:cNvPr id="144" name="Google Shape;144;p5"/>
          <p:cNvSpPr/>
          <p:nvPr/>
        </p:nvSpPr>
        <p:spPr>
          <a:xfrm>
            <a:off x="287338" y="1467002"/>
            <a:ext cx="7822341" cy="1700663"/>
          </a:xfrm>
          <a:prstGeom prst="roundRect">
            <a:avLst>
              <a:gd name="adj" fmla="val 16667"/>
            </a:avLst>
          </a:prstGeom>
          <a:solidFill>
            <a:srgbClr val="525252"/>
          </a:solidFill>
          <a:ln>
            <a:noFill/>
          </a:ln>
          <a:effectLst>
            <a:outerShdw blurRad="190500" dist="228600" dir="2700000" algn="ctr">
              <a:srgbClr val="000000">
                <a:alpha val="2941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icrosoft YaHei" panose="020B0503020204020204" charset="-122"/>
              <a:buNone/>
            </a:pPr>
            <a:r>
              <a:rPr lang="zh-CN" sz="1800" b="0" i="0" u="none" strike="noStrike" cap="none">
                <a:solidFill>
                  <a:schemeClr val="lt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Nested try-catch blocks: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 panose="020F0502020204030204"/>
              <a:buNone/>
            </a:pPr>
            <a:endParaRPr sz="1800" b="0" i="0" u="none" strike="noStrike" cap="none">
              <a:solidFill>
                <a:schemeClr val="lt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 panose="020B0604020202020204"/>
              <a:buChar char="•"/>
            </a:pPr>
            <a:r>
              <a:rPr lang="zh-CN" sz="1800" b="0" i="0" u="none" strike="noStrike" cap="none">
                <a:solidFill>
                  <a:schemeClr val="lt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Multiple try-catch blocks nested inside each other.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 panose="020B0604020202020204"/>
              <a:buChar char="•"/>
            </a:pPr>
            <a:r>
              <a:rPr lang="zh-CN" sz="1800" b="0" i="0" u="none" strike="noStrike" cap="none">
                <a:solidFill>
                  <a:schemeClr val="lt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Provides finer-grained control over exception handling for specific code sections.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 panose="020F0502020204030204"/>
              <a:buNone/>
            </a:pPr>
            <a:endParaRPr sz="1800" b="0" i="0" u="none" strike="noStrike" cap="none">
              <a:solidFill>
                <a:schemeClr val="lt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45" name="Google Shape;145;p5"/>
          <p:cNvSpPr/>
          <p:nvPr/>
        </p:nvSpPr>
        <p:spPr>
          <a:xfrm>
            <a:off x="248264" y="4044721"/>
            <a:ext cx="7412463" cy="1648918"/>
          </a:xfrm>
          <a:prstGeom prst="roundRect">
            <a:avLst>
              <a:gd name="adj" fmla="val 16667"/>
            </a:avLst>
          </a:prstGeom>
          <a:solidFill>
            <a:srgbClr val="525252"/>
          </a:solidFill>
          <a:ln>
            <a:noFill/>
          </a:ln>
          <a:effectLst>
            <a:outerShdw blurRad="190500" dist="228600" dir="2700000" algn="ctr">
              <a:srgbClr val="000000">
                <a:alpha val="2941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icrosoft YaHei" panose="020B0503020204020204" charset="-122"/>
              <a:buNone/>
            </a:pPr>
            <a:r>
              <a:rPr lang="zh-CN" sz="1800" b="0" i="0" u="none" strike="noStrike" cap="none">
                <a:solidFill>
                  <a:schemeClr val="lt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Chained exceptions: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 panose="020F0502020204030204"/>
              <a:buNone/>
            </a:pPr>
            <a:endParaRPr sz="1800" b="0" i="0" u="none" strike="noStrike" cap="none">
              <a:solidFill>
                <a:schemeClr val="lt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 panose="020B0604020202020204"/>
              <a:buChar char="•"/>
            </a:pPr>
            <a:r>
              <a:rPr lang="zh-CN" sz="1800" b="0" i="0" u="none" strike="noStrike" cap="none">
                <a:solidFill>
                  <a:schemeClr val="lt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Link exceptions together to trace their origin and cause.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 panose="020B0604020202020204"/>
              <a:buChar char="•"/>
            </a:pPr>
            <a:r>
              <a:rPr lang="zh-CN" sz="1800" b="0" i="0" u="none" strike="noStrike" cap="none">
                <a:solidFill>
                  <a:schemeClr val="lt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Helpful for debugging and understanding the root cause of an error.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 panose="020F0502020204030204"/>
              <a:buNone/>
            </a:pPr>
            <a:endParaRPr sz="1800" b="0" i="0" u="none" strike="noStrike" cap="none">
              <a:solidFill>
                <a:schemeClr val="lt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pic>
        <p:nvPicPr>
          <p:cNvPr id="146" name="Google Shape;146;p5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10827311" y="-167700"/>
            <a:ext cx="1351275" cy="101536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7" name="Google Shape;147;p5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7997489" y="3837480"/>
            <a:ext cx="4037665" cy="290059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7"/>
          <p:cNvSpPr/>
          <p:nvPr/>
        </p:nvSpPr>
        <p:spPr>
          <a:xfrm>
            <a:off x="0" y="2692400"/>
            <a:ext cx="6624638" cy="4165600"/>
          </a:xfrm>
          <a:prstGeom prst="rtTriangle">
            <a:avLst/>
          </a:prstGeom>
          <a:solidFill>
            <a:srgbClr val="0D517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 panose="020F0502020204030204"/>
              <a:buNone/>
            </a:pPr>
            <a:endParaRPr sz="1800" b="0" i="0" u="none" strike="noStrike" cap="none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53" name="Google Shape;153;p7"/>
          <p:cNvSpPr txBox="1"/>
          <p:nvPr/>
        </p:nvSpPr>
        <p:spPr>
          <a:xfrm>
            <a:off x="3509955" y="388911"/>
            <a:ext cx="7556500" cy="830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Calibri" panose="020F0502020204030204"/>
              <a:buNone/>
            </a:pPr>
            <a:r>
              <a:rPr lang="zh-CN" sz="3600" b="1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Advanced Techniques - Multithreading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154" name="Google Shape;154;p7" descr="Dart_logo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1182181" y="804201"/>
            <a:ext cx="1830842" cy="1888199"/>
          </a:xfrm>
          <a:prstGeom prst="rect">
            <a:avLst/>
          </a:prstGeom>
          <a:noFill/>
          <a:ln>
            <a:noFill/>
          </a:ln>
          <a:effectLst>
            <a:outerShdw blurRad="190500" dist="228600" dir="2700000" algn="ctr">
              <a:srgbClr val="000000">
                <a:alpha val="29411"/>
              </a:srgbClr>
            </a:outerShdw>
          </a:effectLst>
        </p:spPr>
      </p:pic>
      <p:sp>
        <p:nvSpPr>
          <p:cNvPr id="155" name="Google Shape;155;p7"/>
          <p:cNvSpPr/>
          <p:nvPr/>
        </p:nvSpPr>
        <p:spPr>
          <a:xfrm>
            <a:off x="6265888" y="1918741"/>
            <a:ext cx="5539241" cy="3691586"/>
          </a:xfrm>
          <a:prstGeom prst="roundRect">
            <a:avLst>
              <a:gd name="adj" fmla="val 16667"/>
            </a:avLst>
          </a:prstGeom>
          <a:solidFill>
            <a:srgbClr val="525252"/>
          </a:solidFill>
          <a:ln>
            <a:noFill/>
          </a:ln>
          <a:effectLst>
            <a:outerShdw blurRad="190500" dist="228600" dir="2700000" algn="ctr">
              <a:srgbClr val="000000">
                <a:alpha val="2941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 panose="020F0502020204030204"/>
              <a:buNone/>
            </a:pPr>
            <a:endParaRPr sz="2000" b="1" i="0" u="none" strike="noStrike" cap="none">
              <a:solidFill>
                <a:srgbClr val="262626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Microsoft YaHei" panose="020B0503020204020204" charset="-122"/>
              <a:buNone/>
            </a:pPr>
            <a:r>
              <a:rPr lang="zh-CN" sz="2000" b="1" i="0" u="none" strike="noStrike" cap="none">
                <a:solidFill>
                  <a:schemeClr val="lt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Exception handling in multithreaded environments: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 panose="020F0502020204030204"/>
              <a:buNone/>
            </a:pPr>
            <a:endParaRPr sz="1800" b="0" i="0" u="none" strike="noStrike" cap="none">
              <a:solidFill>
                <a:schemeClr val="lt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285750" marR="0" lvl="0" indent="-28575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Noto Sans Symbols"/>
              <a:buChar char="⮚"/>
            </a:pPr>
            <a:r>
              <a:rPr lang="zh-CN" sz="1800" b="0" i="0" u="none" strike="noStrike" cap="none">
                <a:solidFill>
                  <a:schemeClr val="lt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Synchronize access to shared resources to avoid race conditions.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285750" marR="0" lvl="0" indent="-28575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Noto Sans Symbols"/>
              <a:buChar char="⮚"/>
            </a:pPr>
            <a:r>
              <a:rPr lang="zh-CN" sz="1800" b="0" i="0" u="none" strike="noStrike" cap="none">
                <a:solidFill>
                  <a:schemeClr val="lt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Ensure thread safety when handling exceptions.</a:t>
            </a:r>
            <a:endParaRPr sz="1800" b="0" i="0" u="none" strike="noStrike" cap="none">
              <a:solidFill>
                <a:schemeClr val="lt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285750" marR="0" lvl="0" indent="-17145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Symbols"/>
              <a:buNone/>
            </a:pPr>
            <a:endParaRPr sz="1800" b="0" i="0" u="none" strike="noStrike" cap="none">
              <a:solidFill>
                <a:srgbClr val="262626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 panose="020F0502020204030204"/>
              <a:buNone/>
            </a:pPr>
            <a:endParaRPr sz="1800" b="0" i="0" u="none" strike="noStrike" cap="none">
              <a:solidFill>
                <a:schemeClr val="lt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pic>
        <p:nvPicPr>
          <p:cNvPr id="156" name="Google Shape;156;p7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10827311" y="-167700"/>
            <a:ext cx="1351275" cy="101536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7"/>
          <p:cNvPicPr preferRelativeResize="0"/>
          <p:nvPr/>
        </p:nvPicPr>
        <p:blipFill rotWithShape="1">
          <a:blip r:embed="rId3"/>
          <a:srcRect l="8828" t="14103" r="10993" b="20879"/>
          <a:stretch>
            <a:fillRect/>
          </a:stretch>
        </p:blipFill>
        <p:spPr>
          <a:xfrm>
            <a:off x="412230" y="3107690"/>
            <a:ext cx="5446191" cy="275346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8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1999" h="6858000" extrusionOk="0">
                <a:moveTo>
                  <a:pt x="0" y="0"/>
                </a:moveTo>
                <a:lnTo>
                  <a:pt x="12191999" y="5685840"/>
                </a:lnTo>
                <a:lnTo>
                  <a:pt x="12191999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DB1C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 panose="020F0502020204030204"/>
              <a:buNone/>
            </a:pPr>
            <a:endParaRPr sz="1800" b="0" i="0" u="none" strike="noStrike" cap="none">
              <a:solidFill>
                <a:schemeClr val="lt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63" name="Google Shape;163;p8"/>
          <p:cNvSpPr/>
          <p:nvPr/>
        </p:nvSpPr>
        <p:spPr>
          <a:xfrm rot="5400000">
            <a:off x="0" y="0"/>
            <a:ext cx="2838450" cy="2838450"/>
          </a:xfrm>
          <a:prstGeom prst="rtTriangle">
            <a:avLst/>
          </a:prstGeom>
          <a:solidFill>
            <a:srgbClr val="0D517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 panose="020F0502020204030204"/>
              <a:buNone/>
            </a:pPr>
            <a:endParaRPr sz="1800" b="0" i="0" u="none" strike="noStrike" cap="none">
              <a:solidFill>
                <a:schemeClr val="lt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64" name="Google Shape;164;p8"/>
          <p:cNvSpPr txBox="1"/>
          <p:nvPr/>
        </p:nvSpPr>
        <p:spPr>
          <a:xfrm>
            <a:off x="2425700" y="398780"/>
            <a:ext cx="9105900" cy="64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icrosoft YaHei" panose="020B0503020204020204" charset="-122"/>
              <a:buNone/>
            </a:pPr>
            <a:r>
              <a:rPr lang="zh-CN" sz="3600" b="1" i="0" u="none" strike="noStrike" cap="none">
                <a:solidFill>
                  <a:schemeClr val="dk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Real-world Examples &amp; Pitfalls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165" name="Google Shape;165;p8" descr="Dart_logo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10139286" y="833494"/>
            <a:ext cx="1349222" cy="1218452"/>
          </a:xfrm>
          <a:prstGeom prst="rect">
            <a:avLst/>
          </a:prstGeom>
          <a:noFill/>
          <a:ln>
            <a:noFill/>
          </a:ln>
          <a:effectLst>
            <a:outerShdw blurRad="190500" dist="228600" dir="2700000" algn="ctr">
              <a:srgbClr val="000000">
                <a:alpha val="29411"/>
              </a:srgbClr>
            </a:outerShdw>
          </a:effectLst>
        </p:spPr>
      </p:pic>
      <p:sp>
        <p:nvSpPr>
          <p:cNvPr id="166" name="Google Shape;166;p8"/>
          <p:cNvSpPr/>
          <p:nvPr/>
        </p:nvSpPr>
        <p:spPr>
          <a:xfrm>
            <a:off x="446957" y="1878891"/>
            <a:ext cx="7068267" cy="1631783"/>
          </a:xfrm>
          <a:prstGeom prst="roundRect">
            <a:avLst>
              <a:gd name="adj" fmla="val 16667"/>
            </a:avLst>
          </a:prstGeom>
          <a:solidFill>
            <a:srgbClr val="525252"/>
          </a:solidFill>
          <a:ln>
            <a:noFill/>
          </a:ln>
          <a:effectLst>
            <a:outerShdw blurRad="190500" dist="228600" dir="2700000" algn="ctr">
              <a:srgbClr val="000000">
                <a:alpha val="2941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42900" marR="0" lvl="0" indent="-34290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 panose="020B0604020202020204"/>
              <a:buChar char="•"/>
            </a:pPr>
            <a:r>
              <a:rPr lang="zh-CN" sz="1800" b="0" i="0" u="none" strike="noStrike" cap="none">
                <a:solidFill>
                  <a:schemeClr val="lt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Demonstrate different exception handling techniques in practical situations.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342900" marR="0" lvl="0" indent="-22860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None/>
            </a:pPr>
            <a:endParaRPr sz="1800" b="0" i="0" u="none" strike="noStrike" cap="none">
              <a:solidFill>
                <a:schemeClr val="lt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342900" marR="0" lvl="0" indent="-34290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 panose="020B0604020202020204"/>
              <a:buChar char="•"/>
            </a:pPr>
            <a:r>
              <a:rPr lang="zh-CN" sz="1800" b="0" i="0" u="none" strike="noStrike" cap="none">
                <a:solidFill>
                  <a:schemeClr val="lt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Discuss potential pitfalls and solutions for common errors.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 panose="020F0502020204030204"/>
              <a:buNone/>
            </a:pPr>
            <a:endParaRPr sz="1800" b="0" i="0" u="none" strike="noStrike" cap="none">
              <a:solidFill>
                <a:schemeClr val="lt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pic>
        <p:nvPicPr>
          <p:cNvPr id="167" name="Google Shape;167;p8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10827311" y="-167700"/>
            <a:ext cx="1351275" cy="101536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8" name="Google Shape;168;p8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7120327" y="4020172"/>
            <a:ext cx="4598462" cy="26635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5176"/>
        </a:solidFill>
        <a:effectLst/>
      </p:bgPr>
    </p:bg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9"/>
          <p:cNvSpPr/>
          <p:nvPr/>
        </p:nvSpPr>
        <p:spPr>
          <a:xfrm>
            <a:off x="858844" y="3814931"/>
            <a:ext cx="7400290" cy="35096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 panose="020F0502020204030204"/>
              <a:buNone/>
            </a:pPr>
            <a:endParaRPr sz="2000" b="0" i="0" u="none" strike="noStrike" cap="none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pic>
        <p:nvPicPr>
          <p:cNvPr id="174" name="Google Shape;174;p9" descr="Dart_logo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761567" y="1189355"/>
            <a:ext cx="2709856" cy="2709856"/>
          </a:xfrm>
          <a:prstGeom prst="rect">
            <a:avLst/>
          </a:prstGeom>
          <a:noFill/>
          <a:ln>
            <a:noFill/>
          </a:ln>
          <a:effectLst>
            <a:outerShdw blurRad="190500" dist="228600" dir="2700000" algn="ctr">
              <a:srgbClr val="000000">
                <a:alpha val="29411"/>
              </a:srgbClr>
            </a:outerShdw>
          </a:effectLst>
        </p:spPr>
      </p:pic>
      <p:sp>
        <p:nvSpPr>
          <p:cNvPr id="175" name="Google Shape;175;p9"/>
          <p:cNvSpPr/>
          <p:nvPr/>
        </p:nvSpPr>
        <p:spPr>
          <a:xfrm>
            <a:off x="4805897" y="1739779"/>
            <a:ext cx="6624536" cy="1998534"/>
          </a:xfrm>
          <a:prstGeom prst="roundRect">
            <a:avLst>
              <a:gd name="adj" fmla="val 16667"/>
            </a:avLst>
          </a:prstGeom>
          <a:solidFill>
            <a:srgbClr val="525252"/>
          </a:solidFill>
          <a:ln>
            <a:noFill/>
          </a:ln>
          <a:effectLst>
            <a:outerShdw blurRad="190500" dist="228600" dir="2700000" algn="ctr">
              <a:srgbClr val="000000">
                <a:alpha val="2941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Noto Sans Symbols"/>
              <a:buNone/>
            </a:pPr>
            <a:r>
              <a:rPr lang="zh-CN" sz="1800" b="1" i="0" u="none" strike="noStrike" cap="none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Principles for robust exception handling: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Symbols"/>
              <a:buNone/>
            </a:pPr>
            <a:endParaRPr sz="1800" b="0" i="0" u="none" strike="noStrike" cap="none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 panose="020B0604020202020204"/>
              <a:buChar char="•"/>
            </a:pPr>
            <a:r>
              <a:rPr lang="zh-CN" sz="1800" b="0" i="0" u="none" strike="noStrike" cap="none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Follow consistent and clear coding patterns.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 panose="020B0604020202020204"/>
              <a:buChar char="•"/>
            </a:pPr>
            <a:r>
              <a:rPr lang="zh-CN" sz="1800" b="0" i="0" u="none" strike="noStrike" cap="none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Use descriptive exception messages.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 panose="020B0604020202020204"/>
              <a:buChar char="•"/>
            </a:pPr>
            <a:r>
              <a:rPr lang="zh-CN" sz="1800" b="0" i="0" u="none" strike="noStrike" cap="none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Design for testability and maintainability.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 panose="020F0502020204030204"/>
              <a:buNone/>
            </a:pPr>
            <a:endParaRPr sz="1800" b="0" i="0" u="none" strike="noStrike" cap="none">
              <a:solidFill>
                <a:schemeClr val="lt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76" name="Google Shape;176;p9"/>
          <p:cNvSpPr/>
          <p:nvPr/>
        </p:nvSpPr>
        <p:spPr>
          <a:xfrm>
            <a:off x="573932" y="4313717"/>
            <a:ext cx="6994187" cy="2235673"/>
          </a:xfrm>
          <a:prstGeom prst="roundRect">
            <a:avLst>
              <a:gd name="adj" fmla="val 16667"/>
            </a:avLst>
          </a:prstGeom>
          <a:solidFill>
            <a:srgbClr val="525252"/>
          </a:solidFill>
          <a:ln>
            <a:noFill/>
          </a:ln>
          <a:effectLst>
            <a:outerShdw blurRad="190500" dist="228600" dir="2700000" algn="ctr">
              <a:srgbClr val="000000">
                <a:alpha val="2941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Noto Sans Symbols"/>
              <a:buNone/>
            </a:pPr>
            <a:r>
              <a:rPr lang="zh-CN" sz="1800" b="1" i="0" u="none" strike="noStrike" cap="none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Choosing the right approach: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Symbols"/>
              <a:buNone/>
            </a:pPr>
            <a:endParaRPr sz="1800" b="0" i="0" u="none" strike="noStrike" cap="none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 panose="020B0604020202020204"/>
              <a:buChar char="•"/>
            </a:pPr>
            <a:r>
              <a:rPr lang="zh-CN" sz="1800" b="0" i="0" u="none" strike="noStrike" cap="none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Consider the context and severity of potential exceptions.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 panose="020B0604020202020204"/>
              <a:buChar char="•"/>
            </a:pPr>
            <a:r>
              <a:rPr lang="zh-CN" sz="1800" b="0" i="0" u="none" strike="noStrike" cap="none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Choose appropriate try-catch blocks and exception types.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 panose="020B0604020202020204"/>
              <a:buChar char="•"/>
            </a:pPr>
            <a:r>
              <a:rPr lang="zh-CN" sz="1800" b="0" i="0" u="none" strike="noStrike" cap="none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Balance clarity with efficiency.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 panose="020F0502020204030204"/>
              <a:buNone/>
            </a:pPr>
            <a:endParaRPr sz="1800" b="0" i="0" u="none" strike="noStrike" cap="none">
              <a:solidFill>
                <a:schemeClr val="lt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77" name="Google Shape;177;p9"/>
          <p:cNvSpPr txBox="1"/>
          <p:nvPr/>
        </p:nvSpPr>
        <p:spPr>
          <a:xfrm>
            <a:off x="2315210" y="243205"/>
            <a:ext cx="8132445" cy="10490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Arial" panose="020B0604020202020204"/>
              <a:buNone/>
            </a:pPr>
            <a:r>
              <a:rPr lang="zh-CN" sz="4000" b="1" i="0" u="none" strike="noStrike" cap="none">
                <a:solidFill>
                  <a:schemeClr val="lt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Best Practices &amp; Guidelines</a:t>
            </a:r>
            <a:endParaRPr sz="4000" b="1" i="0" u="none" strike="noStrike" cap="none">
              <a:solidFill>
                <a:schemeClr val="lt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 panose="020F0502020204030204"/>
              <a:buNone/>
            </a:pPr>
            <a:br>
              <a:rPr lang="zh-CN"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</a:b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pic>
        <p:nvPicPr>
          <p:cNvPr id="178" name="Google Shape;178;p9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10827311" y="-167700"/>
            <a:ext cx="1351275" cy="101536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2259</Words>
  <Application>WPS Presentation</Application>
  <PresentationFormat/>
  <Paragraphs>115</Paragraphs>
  <Slides>8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13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8</vt:i4>
      </vt:variant>
    </vt:vector>
  </HeadingPairs>
  <TitlesOfParts>
    <vt:vector size="23" baseType="lpstr">
      <vt:lpstr>Arial</vt:lpstr>
      <vt:lpstr>SimSun</vt:lpstr>
      <vt:lpstr>Wingdings</vt:lpstr>
      <vt:lpstr>Arial</vt:lpstr>
      <vt:lpstr>Calibri</vt:lpstr>
      <vt:lpstr>Microsoft YaHei</vt:lpstr>
      <vt:lpstr>Gill Sans</vt:lpstr>
      <vt:lpstr>Noto Sans Symbols</vt:lpstr>
      <vt:lpstr>Segoe Print</vt:lpstr>
      <vt:lpstr>Arial Unicode MS</vt:lpstr>
      <vt:lpstr>Wingdings</vt:lpstr>
      <vt:lpstr>Charis SIL</vt:lpstr>
      <vt:lpstr>Crimson Text SemiBold</vt:lpstr>
      <vt:lpstr>Office Theme</vt:lpstr>
      <vt:lpstr>1_Office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Administrator</dc:creator>
  <cp:lastModifiedBy>Riyana</cp:lastModifiedBy>
  <cp:revision>1</cp:revision>
  <dcterms:created xsi:type="dcterms:W3CDTF">2025-08-05T07:29:50Z</dcterms:created>
  <dcterms:modified xsi:type="dcterms:W3CDTF">2025-08-05T07:29:50Z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1033-12.2.0.21931</vt:lpwstr>
  </property>
  <property fmtid="{D5CDD505-2E9C-101B-9397-08002B2CF9AE}" pid="3" name="ICV">
    <vt:lpwstr>A16F021FDB6D4FFEA3EB36EAEDBA2FF0_13</vt:lpwstr>
  </property>
</Properties>
</file>