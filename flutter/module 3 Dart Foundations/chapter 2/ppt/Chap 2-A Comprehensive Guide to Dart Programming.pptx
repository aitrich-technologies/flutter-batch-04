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76" r:id="rId6"/>
    <p:sldId id="258" r:id="rId7"/>
    <p:sldId id="277" r:id="rId8"/>
    <p:sldId id="259" r:id="rId9"/>
    <p:sldId id="261" r:id="rId10"/>
    <p:sldId id="262" r:id="rId11"/>
    <p:sldId id="263" r:id="rId12"/>
    <p:sldId id="264" r:id="rId13"/>
    <p:sldId id="265" r:id="rId14"/>
    <p:sldId id="266" r:id="rId15"/>
    <p:sldId id="267" r:id="rId16"/>
    <p:sldId id="268" r:id="rId17"/>
    <p:sldId id="270" r:id="rId18"/>
    <p:sldId id="269" r:id="rId19"/>
    <p:sldId id="271" r:id="rId20"/>
    <p:sldId id="272" r:id="rId21"/>
    <p:sldId id="274" r:id="rId22"/>
  </p:sldIdLst>
  <p:sldSz cx="12192000" cy="6858000"/>
  <p:notesSz cx="6858000" cy="9144000"/>
  <p:embeddedFontLst>
    <p:embeddedFont>
      <p:font typeface="Calibri" panose="020F0502020204030204"/>
      <p:regular r:id="rId26"/>
    </p:embeddedFont>
    <p:embeddedFont>
      <p:font typeface="Microsoft YaHei" panose="020B0503020204020204" charset="-122"/>
      <p:regular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60" userDrawn="1">
          <p15:clr>
            <a:srgbClr val="A4A3A4"/>
          </p15:clr>
        </p15:guide>
        <p15:guide id="2" pos="38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60"/>
        <p:guide pos="3835"/>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7" Type="http://schemas.openxmlformats.org/officeDocument/2006/relationships/font" Target="fonts/font2.fntdata"/><Relationship Id="rId26" Type="http://schemas.openxmlformats.org/officeDocument/2006/relationships/font" Target="fonts/font1.fntdata"/><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chemeClr val="dk1"/>
              </a:buClr>
              <a:buSzPts val="1200"/>
              <a:buFont typeface="Calibri" panose="020F050202020403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chemeClr val="dk1"/>
              </a:buClr>
              <a:buSzPts val="1200"/>
              <a:buFont typeface="Calibri" panose="020F050202020403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36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8"/>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chemeClr val="dk1"/>
              </a:buClr>
              <a:buSzPts val="1200"/>
              <a:buFont typeface="Calibri" panose="020F050202020403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8"/>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dk1"/>
              </a:buClr>
              <a:buSzPts val="1200"/>
              <a:buFont typeface="Calibri" panose="020F050202020403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 name="Shape 25"/>
        <p:cNvGrpSpPr/>
        <p:nvPr/>
      </p:nvGrpSpPr>
      <p:grpSpPr>
        <a:xfrm>
          <a:off x="0" y="0"/>
          <a:ext cx="0" cy="0"/>
          <a:chOff x="0" y="0"/>
          <a:chExt cx="0" cy="0"/>
        </a:xfrm>
      </p:grpSpPr>
      <p:sp>
        <p:nvSpPr>
          <p:cNvPr id="26" name="Google Shape;26;p1: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 name="Google Shape;27;p1: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presentation will provide a comprehensive overview of Dart programming, covering object-oriented principles, functional concepts, error management, code optimization, and package utilization.</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7" name="Shape 37"/>
        <p:cNvGrpSpPr/>
        <p:nvPr/>
      </p:nvGrpSpPr>
      <p:grpSpPr>
        <a:xfrm>
          <a:off x="0" y="0"/>
          <a:ext cx="0" cy="0"/>
          <a:chOff x="0" y="0"/>
          <a:chExt cx="0" cy="0"/>
        </a:xfrm>
      </p:grpSpPr>
      <p:sp>
        <p:nvSpPr>
          <p:cNvPr id="38" name="Google Shape;38;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 name="Google Shape;39;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Object-oriented programming (OOP) is a fundamental paradigm in Dart. Classes act as templates for creating objects, encapsulating data and functionality. Inheritance allows code reuse and creates relationships between classes. Polymorphism enables flexible method calls, making code more adaptable. Understanding class members like properties, methods, and constructors is essential for building well-structured and reusable Dart applications.</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7" name="Shape 37"/>
        <p:cNvGrpSpPr/>
        <p:nvPr/>
      </p:nvGrpSpPr>
      <p:grpSpPr>
        <a:xfrm>
          <a:off x="0" y="0"/>
          <a:ext cx="0" cy="0"/>
          <a:chOff x="0" y="0"/>
          <a:chExt cx="0" cy="0"/>
        </a:xfrm>
      </p:grpSpPr>
      <p:sp>
        <p:nvSpPr>
          <p:cNvPr id="38" name="Google Shape;38;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 name="Google Shape;39;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Object-oriented programming (OOP) is a fundamental paradigm in Dart. Classes act as templates for creating objects, encapsulating data and functionality. Inheritance allows code reuse and creates relationships between classes. Polymorphism enables flexible method calls, making code more adaptable. Understanding class members like properties, methods, and constructors is essential for building well-structured and reusable Dart applications.</a:t>
            </a:r>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p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class in terms of Oops is the blueprint of objects.</a:t>
            </a:r>
            <a:endParaRPr lang="en-US"/>
          </a:p>
          <a:p>
            <a:pPr marL="0" lvl="0" indent="0" algn="l" rtl="0">
              <a:spcBef>
                <a:spcPts val="360"/>
              </a:spcBef>
              <a:spcAft>
                <a:spcPts val="0"/>
              </a:spcAft>
              <a:buNone/>
            </a:pPr>
            <a:r>
              <a:rPr lang="en-US"/>
              <a:t>Fields : a field is any variable declared inside a class. A field represent data pertaining to objects.</a:t>
            </a:r>
            <a:endParaRPr lang="en-US"/>
          </a:p>
          <a:p>
            <a:pPr marL="0" lvl="0" indent="0" algn="l" rtl="0">
              <a:spcBef>
                <a:spcPts val="360"/>
              </a:spcBef>
              <a:spcAft>
                <a:spcPts val="0"/>
              </a:spcAft>
              <a:buNone/>
            </a:pPr>
            <a:r>
              <a:rPr lang="en-US"/>
              <a:t>Functions :  functions refers to the action an object can take. It can also be called as methods.</a:t>
            </a:r>
            <a:endParaRPr lang="en-US"/>
          </a:p>
          <a:p>
            <a:pPr marL="0" lvl="0" indent="0" algn="l" rtl="0">
              <a:spcBef>
                <a:spcPts val="360"/>
              </a:spcBef>
              <a:spcAft>
                <a:spcPts val="0"/>
              </a:spcAft>
              <a:buNone/>
            </a:pPr>
            <a:r>
              <a:rPr lang="en-US"/>
              <a:t>Constructors :  responsible for allocating memory to new objects.</a:t>
            </a:r>
            <a:endParaRPr lang="en-US"/>
          </a:p>
          <a:p>
            <a:pPr marL="0" lvl="0" indent="0" algn="l" rtl="0">
              <a:spcBef>
                <a:spcPts val="360"/>
              </a:spcBef>
              <a:spcAft>
                <a:spcPts val="0"/>
              </a:spcAft>
              <a:buNone/>
            </a:pPr>
            <a:r>
              <a:rPr lang="en-US"/>
              <a:t>Setters/Getters : Allows the program to initialize and retrieve the values of the fields of a class. A default getter/ setter is associated with every class. However, the default ones can be overridden by explicitly defining a setter/ getter.</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p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class in terms of Oops is the blueprint of objects.</a:t>
            </a:r>
            <a:endParaRPr lang="en-US"/>
          </a:p>
          <a:p>
            <a:pPr marL="0" lvl="0" indent="0" algn="l" rtl="0">
              <a:spcBef>
                <a:spcPts val="360"/>
              </a:spcBef>
              <a:spcAft>
                <a:spcPts val="0"/>
              </a:spcAft>
              <a:buNone/>
            </a:pPr>
            <a:r>
              <a:rPr lang="en-US"/>
              <a:t>Fields : a field is any variable declared inside a class. A field represent data pertaining to objects.</a:t>
            </a:r>
            <a:endParaRPr lang="en-US"/>
          </a:p>
          <a:p>
            <a:pPr marL="0" lvl="0" indent="0" algn="l" rtl="0">
              <a:spcBef>
                <a:spcPts val="360"/>
              </a:spcBef>
              <a:spcAft>
                <a:spcPts val="0"/>
              </a:spcAft>
              <a:buNone/>
            </a:pPr>
            <a:r>
              <a:rPr lang="en-US"/>
              <a:t>Functions :  functions refers to the action an object can take. It can also be called as methods.</a:t>
            </a:r>
            <a:endParaRPr lang="en-US"/>
          </a:p>
          <a:p>
            <a:pPr marL="0" lvl="0" indent="0" algn="l" rtl="0">
              <a:spcBef>
                <a:spcPts val="360"/>
              </a:spcBef>
              <a:spcAft>
                <a:spcPts val="0"/>
              </a:spcAft>
              <a:buNone/>
            </a:pPr>
            <a:r>
              <a:rPr lang="en-US"/>
              <a:t>Constructors :  responsible for allocating memory to new objects.</a:t>
            </a:r>
            <a:endParaRPr lang="en-US"/>
          </a:p>
          <a:p>
            <a:pPr marL="0" lvl="0" indent="0" algn="l" rtl="0">
              <a:spcBef>
                <a:spcPts val="360"/>
              </a:spcBef>
              <a:spcAft>
                <a:spcPts val="0"/>
              </a:spcAft>
              <a:buNone/>
            </a:pPr>
            <a:r>
              <a:rPr lang="en-US"/>
              <a:t>Setters/Getters : Allows the program to initialize and retrieve the values of the fields of a class. A default getter/ setter is associated with every class. However, the default ones can be overridden by explicitly defining a setter/ getter.</a:t>
            </a:r>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66" name="Shape 66"/>
        <p:cNvGrpSpPr/>
        <p:nvPr/>
      </p:nvGrpSpPr>
      <p:grpSpPr>
        <a:xfrm>
          <a:off x="0" y="0"/>
          <a:ext cx="0" cy="0"/>
          <a:chOff x="0" y="0"/>
          <a:chExt cx="0" cy="0"/>
        </a:xfrm>
      </p:grpSpPr>
      <p:sp>
        <p:nvSpPr>
          <p:cNvPr id="67" name="Google Shape;67;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 name="Google Shape;68;p4: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object itself is what holds any specific data and logic.</a:t>
            </a:r>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1" name="Shape 101"/>
        <p:cNvGrpSpPr/>
        <p:nvPr/>
      </p:nvGrpSpPr>
      <p:grpSpPr>
        <a:xfrm>
          <a:off x="0" y="0"/>
          <a:ext cx="0" cy="0"/>
          <a:chOff x="0" y="0"/>
          <a:chExt cx="0" cy="0"/>
        </a:xfrm>
      </p:grpSpPr>
      <p:sp>
        <p:nvSpPr>
          <p:cNvPr id="102" name="Google Shape;102;p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 name="Google Shape;103;p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Defining a function - a function definition requires when and how a specific task would be done.</a:t>
            </a:r>
            <a:endParaRPr lang="en-US"/>
          </a:p>
          <a:p>
            <a:pPr marL="0" lvl="0" indent="0" algn="l" rtl="0">
              <a:spcBef>
                <a:spcPts val="360"/>
              </a:spcBef>
              <a:spcAft>
                <a:spcPts val="0"/>
              </a:spcAft>
              <a:buNone/>
            </a:pPr>
            <a:r>
              <a:rPr lang="en-US"/>
              <a:t>Calling a function - A function must be called in order to execute it.</a:t>
            </a:r>
            <a:endParaRPr lang="en-US"/>
          </a:p>
          <a:p>
            <a:pPr marL="0" lvl="0" indent="0" algn="l" rtl="0">
              <a:spcBef>
                <a:spcPts val="360"/>
              </a:spcBef>
              <a:spcAft>
                <a:spcPts val="0"/>
              </a:spcAft>
              <a:buNone/>
            </a:pPr>
            <a:r>
              <a:rPr lang="en-US"/>
              <a:t>Returning functions - functions may also return values back along with the control, to the caller.</a:t>
            </a:r>
            <a:endParaRPr lang="en-US"/>
          </a:p>
          <a:p>
            <a:pPr marL="0" lvl="0" indent="0" algn="l" rtl="0">
              <a:spcBef>
                <a:spcPts val="360"/>
              </a:spcBef>
              <a:spcAft>
                <a:spcPts val="0"/>
              </a:spcAft>
              <a:buNone/>
            </a:pPr>
            <a:r>
              <a:rPr lang="en-US"/>
              <a:t>Parameterised functions - Parameters are a mechanism to pass values between the function.we can pass more than one parameter or what our object we want. But to receive, we must define data type.</a:t>
            </a: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7: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 name="Google Shape;117;p7: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DFBB64"/>
              </a:buClr>
              <a:buSzPts val="1200"/>
              <a:buFont typeface="Arial" panose="020B0604020202020204"/>
              <a:buNone/>
            </a:pPr>
            <a:r>
              <a:rPr lang="en-US">
                <a:solidFill>
                  <a:srgbClr val="DFBB64"/>
                </a:solidFill>
              </a:rPr>
              <a:t>Defining a function - a function definition requires when and how a specific task would be done.</a:t>
            </a:r>
            <a:endParaRPr>
              <a:solidFill>
                <a:srgbClr val="DFBB64"/>
              </a:solidFill>
            </a:endParaRPr>
          </a:p>
          <a:p>
            <a:pPr marL="0" lvl="0" indent="0" algn="l" rtl="0">
              <a:spcBef>
                <a:spcPts val="360"/>
              </a:spcBef>
              <a:spcAft>
                <a:spcPts val="0"/>
              </a:spcAft>
              <a:buNone/>
            </a:pPr>
            <a:endParaRPr>
              <a:solidFill>
                <a:srgbClr val="DFBB64"/>
              </a:solidFill>
            </a:endParaRPr>
          </a:p>
          <a:p>
            <a:pPr marL="0" lvl="0" indent="0" algn="l" rtl="0">
              <a:spcBef>
                <a:spcPts val="360"/>
              </a:spcBef>
              <a:spcAft>
                <a:spcPts val="0"/>
              </a:spcAft>
              <a:buClr>
                <a:srgbClr val="DFBB64"/>
              </a:buClr>
              <a:buSzPts val="1200"/>
              <a:buFont typeface="Arial" panose="020B0604020202020204"/>
              <a:buNone/>
            </a:pPr>
            <a:r>
              <a:rPr lang="en-US">
                <a:solidFill>
                  <a:srgbClr val="DFBB64"/>
                </a:solidFill>
              </a:rPr>
              <a:t>Calling a function - A function must be called in order to execute it.</a:t>
            </a:r>
            <a:endParaRPr>
              <a:solidFill>
                <a:srgbClr val="DFBB64"/>
              </a:solidFill>
            </a:endParaRPr>
          </a:p>
          <a:p>
            <a:pPr marL="0" lvl="0" indent="0" algn="l" rtl="0">
              <a:spcBef>
                <a:spcPts val="360"/>
              </a:spcBef>
              <a:spcAft>
                <a:spcPts val="0"/>
              </a:spcAft>
              <a:buNone/>
            </a:pPr>
            <a:endParaRPr>
              <a:solidFill>
                <a:srgbClr val="DFBB64"/>
              </a:solidFill>
            </a:endParaRPr>
          </a:p>
          <a:p>
            <a:pPr marL="0" lvl="0" indent="0" algn="l" rtl="0">
              <a:spcBef>
                <a:spcPts val="360"/>
              </a:spcBef>
              <a:spcAft>
                <a:spcPts val="0"/>
              </a:spcAft>
              <a:buClr>
                <a:srgbClr val="DFBB64"/>
              </a:buClr>
              <a:buSzPts val="1200"/>
              <a:buFont typeface="Arial" panose="020B0604020202020204"/>
              <a:buNone/>
            </a:pPr>
            <a:r>
              <a:rPr lang="en-US">
                <a:solidFill>
                  <a:srgbClr val="DFBB64"/>
                </a:solidFill>
              </a:rPr>
              <a:t>Returning functions - functions may also return values back along with the control, to the caller.</a:t>
            </a:r>
            <a:endParaRPr>
              <a:solidFill>
                <a:srgbClr val="DFBB64"/>
              </a:solidFill>
            </a:endParaRPr>
          </a:p>
          <a:p>
            <a:pPr marL="0" lvl="0" indent="0" algn="l" rtl="0">
              <a:spcBef>
                <a:spcPts val="360"/>
              </a:spcBef>
              <a:spcAft>
                <a:spcPts val="0"/>
              </a:spcAft>
              <a:buNone/>
            </a:pPr>
            <a:endParaRPr>
              <a:solidFill>
                <a:srgbClr val="DFBB64"/>
              </a:solidFill>
            </a:endParaRPr>
          </a:p>
          <a:p>
            <a:pPr marL="0" lvl="0" indent="0" algn="l" rtl="0">
              <a:spcBef>
                <a:spcPts val="360"/>
              </a:spcBef>
              <a:spcAft>
                <a:spcPts val="0"/>
              </a:spcAft>
              <a:buClr>
                <a:srgbClr val="DFBB64"/>
              </a:buClr>
              <a:buSzPts val="1200"/>
              <a:buFont typeface="Arial" panose="020B0604020202020204"/>
              <a:buNone/>
            </a:pPr>
            <a:r>
              <a:rPr lang="en-US">
                <a:solidFill>
                  <a:srgbClr val="DFBB64"/>
                </a:solidFill>
              </a:rPr>
              <a:t>Parameterised functions - Parameters are a mechanism to pass values between the function.we can pass more than one parameter or what our object we want. But to receive, we must define data type.</a:t>
            </a:r>
            <a:endParaRPr>
              <a:solidFill>
                <a:srgbClr val="DFBB64"/>
              </a:solidFill>
            </a:endParaRPr>
          </a:p>
          <a:p>
            <a:pPr marL="0" lvl="0" indent="0" algn="l" rtl="0">
              <a:spcBef>
                <a:spcPts val="36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6" name="Shape 126"/>
        <p:cNvGrpSpPr/>
        <p:nvPr/>
      </p:nvGrpSpPr>
      <p:grpSpPr>
        <a:xfrm>
          <a:off x="0" y="0"/>
          <a:ext cx="0" cy="0"/>
          <a:chOff x="0" y="0"/>
          <a:chExt cx="0" cy="0"/>
        </a:xfrm>
      </p:grpSpPr>
      <p:sp>
        <p:nvSpPr>
          <p:cNvPr id="127" name="Google Shape;127;p8: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8" name="Google Shape;128;p8: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Dart parameters can be categorized broadly into two types: positional parameters and named parameters. Positional parameters are the traditional way of passing arguments to a function. They are defined in the function declaration and passed into the function in the same order when calling the function.</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3" name="Google Shape;143;p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solidFill>
                  <a:srgbClr val="DFBB64"/>
                </a:solidFill>
              </a:rPr>
              <a:t>Constructors are function which we will create with the name of class itself and which will execute automatically when the class is called.</a:t>
            </a:r>
            <a:endParaRPr>
              <a:solidFill>
                <a:srgbClr val="DFBB64"/>
              </a:solidFill>
            </a:endParaRPr>
          </a:p>
          <a:p>
            <a:pPr marL="0" lvl="0" indent="0" algn="l" rtl="0">
              <a:spcBef>
                <a:spcPts val="36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5" name="Shape 155"/>
        <p:cNvGrpSpPr/>
        <p:nvPr/>
      </p:nvGrpSpPr>
      <p:grpSpPr>
        <a:xfrm>
          <a:off x="0" y="0"/>
          <a:ext cx="0" cy="0"/>
          <a:chOff x="0" y="0"/>
          <a:chExt cx="0" cy="0"/>
        </a:xfrm>
      </p:grpSpPr>
      <p:sp>
        <p:nvSpPr>
          <p:cNvPr id="156" name="Google Shape;156;p10: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7" name="Google Shape;157;p10: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solidFill>
                  <a:srgbClr val="DFBB64"/>
                </a:solidFill>
              </a:rPr>
              <a:t>The keyword this refers to the current instance of the class.</a:t>
            </a:r>
            <a:endParaRPr>
              <a:solidFill>
                <a:srgbClr val="DFBB64"/>
              </a:solidFill>
            </a:endParaRPr>
          </a:p>
          <a:p>
            <a:pPr marL="0" lvl="0" indent="0" algn="l" rtl="0">
              <a:spcBef>
                <a:spcPts val="36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9" name="Shape 169"/>
        <p:cNvGrpSpPr/>
        <p:nvPr/>
      </p:nvGrpSpPr>
      <p:grpSpPr>
        <a:xfrm>
          <a:off x="0" y="0"/>
          <a:ext cx="0" cy="0"/>
          <a:chOff x="0" y="0"/>
          <a:chExt cx="0" cy="0"/>
        </a:xfrm>
      </p:grpSpPr>
      <p:sp>
        <p:nvSpPr>
          <p:cNvPr id="170" name="Google Shape;170;p11: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1" name="Google Shape;171;p11: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Getters and setters are used to access and modify the private fields of a class, respectively. They provide controlled access to the fields.</a:t>
            </a:r>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 name="Shape 183"/>
        <p:cNvGrpSpPr/>
        <p:nvPr/>
      </p:nvGrpSpPr>
      <p:grpSpPr>
        <a:xfrm>
          <a:off x="0" y="0"/>
          <a:ext cx="0" cy="0"/>
          <a:chOff x="0" y="0"/>
          <a:chExt cx="0" cy="0"/>
        </a:xfrm>
      </p:grpSpPr>
      <p:sp>
        <p:nvSpPr>
          <p:cNvPr id="184" name="Google Shape;184;p1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5" name="Google Shape;185;p1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Inheritance allows a class to be defined that has a certain set of characteristics (fields, methods) and then other classes to be created that are derived from that class.</a:t>
            </a:r>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7" name="Shape 197"/>
        <p:cNvGrpSpPr/>
        <p:nvPr/>
      </p:nvGrpSpPr>
      <p:grpSpPr>
        <a:xfrm>
          <a:off x="0" y="0"/>
          <a:ext cx="0" cy="0"/>
          <a:chOff x="0" y="0"/>
          <a:chExt cx="0" cy="0"/>
        </a:xfrm>
      </p:grpSpPr>
      <p:sp>
        <p:nvSpPr>
          <p:cNvPr id="198" name="Google Shape;198;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9" name="Google Shape;199;p1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6" name="Shape 226"/>
        <p:cNvGrpSpPr/>
        <p:nvPr/>
      </p:nvGrpSpPr>
      <p:grpSpPr>
        <a:xfrm>
          <a:off x="0" y="0"/>
          <a:ext cx="0" cy="0"/>
          <a:chOff x="0" y="0"/>
          <a:chExt cx="0" cy="0"/>
        </a:xfrm>
      </p:grpSpPr>
      <p:sp>
        <p:nvSpPr>
          <p:cNvPr id="227" name="Google Shape;227;p1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8" name="Google Shape;228;p15: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Abstraction means dealing with the level of detail that is most appropriate to a task, and it often involves creating abstract classes that can't be instantiated on their own. These abstract classes are meant to be subclassed by other classes that provide concrete implementations of the abstract methods. Dart provides the abstract keyword to define abstract classes and methods.</a:t>
            </a:r>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2" name="Shape 212"/>
        <p:cNvGrpSpPr/>
        <p:nvPr/>
      </p:nvGrpSpPr>
      <p:grpSpPr>
        <a:xfrm>
          <a:off x="0" y="0"/>
          <a:ext cx="0" cy="0"/>
          <a:chOff x="0" y="0"/>
          <a:chExt cx="0" cy="0"/>
        </a:xfrm>
      </p:grpSpPr>
      <p:sp>
        <p:nvSpPr>
          <p:cNvPr id="213" name="Google Shape;213;p1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 name="Google Shape;214;p14: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Polymorphism in Dart refers to the ability of objects of different classes to be treated as objects of a common superclass.</a:t>
            </a:r>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 name="Shape 240"/>
        <p:cNvGrpSpPr/>
        <p:nvPr/>
      </p:nvGrpSpPr>
      <p:grpSpPr>
        <a:xfrm>
          <a:off x="0" y="0"/>
          <a:ext cx="0" cy="0"/>
          <a:chOff x="0" y="0"/>
          <a:chExt cx="0" cy="0"/>
        </a:xfrm>
      </p:grpSpPr>
      <p:sp>
        <p:nvSpPr>
          <p:cNvPr id="241" name="Google Shape;24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2" name="Google Shape;242;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4" name="Shape 254"/>
        <p:cNvGrpSpPr/>
        <p:nvPr/>
      </p:nvGrpSpPr>
      <p:grpSpPr>
        <a:xfrm>
          <a:off x="0" y="0"/>
          <a:ext cx="0" cy="0"/>
          <a:chOff x="0" y="0"/>
          <a:chExt cx="0" cy="0"/>
        </a:xfrm>
      </p:grpSpPr>
      <p:sp>
        <p:nvSpPr>
          <p:cNvPr id="255" name="Google Shape;255;p17: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17: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 Writing clean and maintainable code is important for any programmer. It makes your code easier to understand, debug, and modify. There are a number of best practices for writing clean Dart code, such as using consistent naming conventions, proper commenting, and avoiding unnecessary complexity.</a:t>
            </a:r>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9" name="Shape 289"/>
        <p:cNvGrpSpPr/>
        <p:nvPr/>
      </p:nvGrpSpPr>
      <p:grpSpPr>
        <a:xfrm>
          <a:off x="0" y="0"/>
          <a:ext cx="0" cy="0"/>
          <a:chOff x="0" y="0"/>
          <a:chExt cx="0" cy="0"/>
        </a:xfrm>
      </p:grpSpPr>
      <p:sp>
        <p:nvSpPr>
          <p:cNvPr id="290" name="Google Shape;290;p1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1" name="Google Shape;291;p1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presentation has provided a comprehensive overview of Dart programming, covering various essential concepts and practices. Remember that Dart is a continuously evolving language with new features and improvements being introduced regularly. Stay updated with the latest developments and continue to explore its capabilities to become a proficient Dart developer.</a:t>
            </a: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5" name="Shape 15"/>
        <p:cNvGrpSpPr/>
        <p:nvPr/>
      </p:nvGrpSpPr>
      <p:grpSpPr>
        <a:xfrm>
          <a:off x="0" y="0"/>
          <a:ext cx="0" cy="0"/>
          <a:chOff x="0" y="0"/>
          <a:chExt cx="0" cy="0"/>
        </a:xfrm>
      </p:grpSpPr>
      <p:sp>
        <p:nvSpPr>
          <p:cNvPr id="16" name="Google Shape;16;p2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p:txBody>
      </p:sp>
      <p:sp>
        <p:nvSpPr>
          <p:cNvPr id="17" name="Google Shape;17;p2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p:txBody>
      </p:sp>
      <p:sp>
        <p:nvSpPr>
          <p:cNvPr id="18" name="Google Shape;18;p2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1pPr>
            <a:lvl2pPr marL="0" lvl="1"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2pPr>
            <a:lvl3pPr marL="0" lvl="2"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3pPr>
            <a:lvl4pPr marL="0" lvl="3"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4pPr>
            <a:lvl5pPr marL="0" lvl="4"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5pPr>
            <a:lvl6pPr marL="0" lvl="5"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6pPr>
            <a:lvl7pPr marL="0" lvl="6"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7pPr>
            <a:lvl8pPr marL="0" lvl="7"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8pPr>
            <a:lvl9pPr marL="0" lvl="8"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9" name="Shape 19"/>
        <p:cNvGrpSpPr/>
        <p:nvPr/>
      </p:nvGrpSpPr>
      <p:grpSpPr>
        <a:xfrm>
          <a:off x="0" y="0"/>
          <a:ext cx="0" cy="0"/>
          <a:chOff x="0" y="0"/>
          <a:chExt cx="0" cy="0"/>
        </a:xfrm>
      </p:grpSpPr>
      <p:sp>
        <p:nvSpPr>
          <p:cNvPr id="20" name="Google Shape;20;p22"/>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Autofit/>
          </a:bodyPr>
          <a:lstStyle>
            <a:lvl1pPr lvl="0" algn="ctr">
              <a:lnSpc>
                <a:spcPct val="90000"/>
              </a:lnSpc>
              <a:spcBef>
                <a:spcPts val="0"/>
              </a:spcBef>
              <a:spcAft>
                <a:spcPts val="0"/>
              </a:spcAft>
              <a:buSzPts val="1400"/>
              <a:buNone/>
              <a:defRPr sz="6000"/>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SzPts val="1400"/>
              <a:buNone/>
              <a:defRPr/>
            </a:lvl6pPr>
            <a:lvl7pPr lvl="6" algn="l">
              <a:lnSpc>
                <a:spcPct val="90000"/>
              </a:lnSpc>
              <a:spcBef>
                <a:spcPts val="0"/>
              </a:spcBef>
              <a:spcAft>
                <a:spcPts val="0"/>
              </a:spcAft>
              <a:buSzPts val="1400"/>
              <a:buNone/>
              <a:defRPr/>
            </a:lvl7pPr>
            <a:lvl8pPr lvl="7" algn="l">
              <a:lnSpc>
                <a:spcPct val="90000"/>
              </a:lnSpc>
              <a:spcBef>
                <a:spcPts val="0"/>
              </a:spcBef>
              <a:spcAft>
                <a:spcPts val="0"/>
              </a:spcAft>
              <a:buSzPts val="1400"/>
              <a:buNone/>
              <a:defRPr/>
            </a:lvl8pPr>
            <a:lvl9pPr lvl="8" algn="l">
              <a:lnSpc>
                <a:spcPct val="90000"/>
              </a:lnSpc>
              <a:spcBef>
                <a:spcPts val="0"/>
              </a:spcBef>
              <a:spcAft>
                <a:spcPts val="0"/>
              </a:spcAft>
              <a:buSzPts val="1400"/>
              <a:buNone/>
              <a:defRPr/>
            </a:lvl9pPr>
          </a:lstStyle>
          <a:p/>
        </p:txBody>
      </p:sp>
      <p:sp>
        <p:nvSpPr>
          <p:cNvPr id="21" name="Google Shape;21;p22"/>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2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p:txBody>
      </p:sp>
      <p:sp>
        <p:nvSpPr>
          <p:cNvPr id="23" name="Google Shape;23;p2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Clr>
                <a:srgbClr val="888888"/>
              </a:buClr>
              <a:buSzPts val="1800"/>
              <a:buNone/>
              <a:defRPr/>
            </a:lvl1pPr>
            <a:lvl2pPr lvl="1" algn="l">
              <a:lnSpc>
                <a:spcPct val="100000"/>
              </a:lnSpc>
              <a:spcBef>
                <a:spcPts val="0"/>
              </a:spcBef>
              <a:spcAft>
                <a:spcPts val="0"/>
              </a:spcAft>
              <a:buClr>
                <a:schemeClr val="dk1"/>
              </a:buClr>
              <a:buSzPts val="1800"/>
              <a:buNone/>
              <a:defRPr/>
            </a:lvl2pPr>
            <a:lvl3pPr lvl="2" algn="l">
              <a:lnSpc>
                <a:spcPct val="100000"/>
              </a:lnSpc>
              <a:spcBef>
                <a:spcPts val="0"/>
              </a:spcBef>
              <a:spcAft>
                <a:spcPts val="0"/>
              </a:spcAft>
              <a:buClr>
                <a:schemeClr val="dk1"/>
              </a:buClr>
              <a:buSzPts val="1800"/>
              <a:buNone/>
              <a:defRPr/>
            </a:lvl3pPr>
            <a:lvl4pPr lvl="3" algn="l">
              <a:lnSpc>
                <a:spcPct val="100000"/>
              </a:lnSpc>
              <a:spcBef>
                <a:spcPts val="0"/>
              </a:spcBef>
              <a:spcAft>
                <a:spcPts val="0"/>
              </a:spcAft>
              <a:buClr>
                <a:schemeClr val="dk1"/>
              </a:buClr>
              <a:buSzPts val="1800"/>
              <a:buNone/>
              <a:defRPr/>
            </a:lvl4pPr>
            <a:lvl5pPr lvl="4" algn="l">
              <a:lnSpc>
                <a:spcPct val="100000"/>
              </a:lnSpc>
              <a:spcBef>
                <a:spcPts val="0"/>
              </a:spcBef>
              <a:spcAft>
                <a:spcPts val="0"/>
              </a:spcAft>
              <a:buClr>
                <a:schemeClr val="dk1"/>
              </a:buClr>
              <a:buSzPts val="1800"/>
              <a:buNone/>
              <a:defRPr/>
            </a:lvl5pPr>
            <a:lvl6pPr lvl="5" algn="l">
              <a:lnSpc>
                <a:spcPct val="100000"/>
              </a:lnSpc>
              <a:spcBef>
                <a:spcPts val="0"/>
              </a:spcBef>
              <a:spcAft>
                <a:spcPts val="0"/>
              </a:spcAft>
              <a:buClr>
                <a:schemeClr val="dk1"/>
              </a:buClr>
              <a:buSzPts val="1800"/>
              <a:buNone/>
              <a:defRPr/>
            </a:lvl6pPr>
            <a:lvl7pPr lvl="6" algn="l">
              <a:lnSpc>
                <a:spcPct val="100000"/>
              </a:lnSpc>
              <a:spcBef>
                <a:spcPts val="0"/>
              </a:spcBef>
              <a:spcAft>
                <a:spcPts val="0"/>
              </a:spcAft>
              <a:buClr>
                <a:schemeClr val="dk1"/>
              </a:buClr>
              <a:buSzPts val="1800"/>
              <a:buNone/>
              <a:defRPr/>
            </a:lvl7pPr>
            <a:lvl8pPr lvl="7" algn="l">
              <a:lnSpc>
                <a:spcPct val="100000"/>
              </a:lnSpc>
              <a:spcBef>
                <a:spcPts val="0"/>
              </a:spcBef>
              <a:spcAft>
                <a:spcPts val="0"/>
              </a:spcAft>
              <a:buClr>
                <a:schemeClr val="dk1"/>
              </a:buClr>
              <a:buSzPts val="1800"/>
              <a:buNone/>
              <a:defRPr/>
            </a:lvl8pPr>
            <a:lvl9pPr lvl="8" algn="l">
              <a:lnSpc>
                <a:spcPct val="100000"/>
              </a:lnSpc>
              <a:spcBef>
                <a:spcPts val="0"/>
              </a:spcBef>
              <a:spcAft>
                <a:spcPts val="0"/>
              </a:spcAft>
              <a:buClr>
                <a:schemeClr val="dk1"/>
              </a:buClr>
              <a:buSzPts val="1800"/>
              <a:buNone/>
              <a:defRPr/>
            </a:lvl9pPr>
          </a:lstStyle>
          <a:p/>
        </p:txBody>
      </p:sp>
      <p:sp>
        <p:nvSpPr>
          <p:cNvPr id="24" name="Google Shape;24;p2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1pPr>
            <a:lvl2pPr marL="0" lvl="1"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2pPr>
            <a:lvl3pPr marL="0" lvl="2"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3pPr>
            <a:lvl4pPr marL="0" lvl="3"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4pPr>
            <a:lvl5pPr marL="0" lvl="4"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5pPr>
            <a:lvl6pPr marL="0" lvl="5"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6pPr>
            <a:lvl7pPr marL="0" lvl="6"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7pPr>
            <a:lvl8pPr marL="0" lvl="7"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8pPr>
            <a:lvl9pPr marL="0" lvl="8" indent="0" algn="r">
              <a:lnSpc>
                <a:spcPct val="100000"/>
              </a:lnSpc>
              <a:spcBef>
                <a:spcPts val="0"/>
              </a:spcBef>
              <a:spcAft>
                <a:spcPts val="0"/>
              </a:spcAft>
              <a:buClr>
                <a:srgbClr val="898989"/>
              </a:buClr>
              <a:buSzPts val="1200"/>
              <a:buFont typeface="Calibri" panose="020F0502020204030204"/>
              <a:buNone/>
              <a:defRPr>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20"/>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0"/>
              </a:spcBef>
              <a:spcAft>
                <a:spcPts val="0"/>
              </a:spcAft>
              <a:buSzPts val="1400"/>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1" name="Google Shape;11;p20"/>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2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888888"/>
              </a:buClr>
              <a:buSzPts val="1200"/>
              <a:buFont typeface="Calibri" panose="020F050202020403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2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888888"/>
              </a:buClr>
              <a:buSzPts val="1200"/>
              <a:buFont typeface="Calibri" panose="020F0502020204030204"/>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chemeClr val="dk1"/>
              </a:buClr>
              <a:buSzPts val="1800"/>
              <a:buFont typeface="Calibri" panose="020F050202020403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2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898989"/>
              </a:buClr>
              <a:buSzPts val="1200"/>
              <a:buFont typeface="Calibri" panose="020F0502020204030204"/>
              <a:buNone/>
              <a:defRPr sz="1200" b="0" i="0" u="none" strike="noStrike" cap="none">
                <a:solidFill>
                  <a:srgbClr val="898989"/>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1.xml"/><Relationship Id="rId3" Type="http://schemas.openxmlformats.org/officeDocument/2006/relationships/image" Target="../media/image4.jpeg"/><Relationship Id="rId2" Type="http://schemas.openxmlformats.org/officeDocument/2006/relationships/image" Target="../media/image2.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2.png"/><Relationship Id="rId2" Type="http://schemas.openxmlformats.org/officeDocument/2006/relationships/image" Target="../media/image10.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2.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xml"/><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8.png"/></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9.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20.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21.png"/></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9.xml"/><Relationship Id="rId4" Type="http://schemas.openxmlformats.org/officeDocument/2006/relationships/slideLayout" Target="../slideLayouts/slideLayout1.xml"/><Relationship Id="rId3" Type="http://schemas.openxmlformats.org/officeDocument/2006/relationships/image" Target="../media/image2.png"/><Relationship Id="rId2" Type="http://schemas.openxmlformats.org/officeDocument/2006/relationships/image" Target="../media/image23.jpeg"/><Relationship Id="rId1"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28" name="Shape 28"/>
        <p:cNvGrpSpPr/>
        <p:nvPr/>
      </p:nvGrpSpPr>
      <p:grpSpPr>
        <a:xfrm>
          <a:off x="0" y="0"/>
          <a:ext cx="0" cy="0"/>
          <a:chOff x="0" y="0"/>
          <a:chExt cx="0" cy="0"/>
        </a:xfrm>
      </p:grpSpPr>
      <p:sp>
        <p:nvSpPr>
          <p:cNvPr id="29" name="Google Shape;29;p1"/>
          <p:cNvSpPr/>
          <p:nvPr/>
        </p:nvSpPr>
        <p:spPr>
          <a:xfrm>
            <a:off x="0" y="-363220"/>
            <a:ext cx="12192000" cy="7297420"/>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30" name="Google Shape;30;p1"/>
          <p:cNvSpPr/>
          <p:nvPr/>
        </p:nvSpPr>
        <p:spPr>
          <a:xfrm>
            <a:off x="5510213" y="2495550"/>
            <a:ext cx="309880" cy="9220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chemeClr val="dk1"/>
              </a:buClr>
              <a:buSzPts val="5400"/>
              <a:buFont typeface="Calibri" panose="020F0502020204030204"/>
              <a:buNone/>
            </a:pPr>
            <a:endParaRPr sz="5400" b="0" i="0" u="none" strike="noStrike" cap="none">
              <a:solidFill>
                <a:srgbClr val="D8B765"/>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endParaRPr>
          </a:p>
        </p:txBody>
      </p:sp>
      <p:cxnSp>
        <p:nvCxnSpPr>
          <p:cNvPr id="31" name="Google Shape;31;p1"/>
          <p:cNvCxnSpPr/>
          <p:nvPr/>
        </p:nvCxnSpPr>
        <p:spPr>
          <a:xfrm rot="10800000" flipH="1">
            <a:off x="1822768" y="5941378"/>
            <a:ext cx="10306050" cy="685800"/>
          </a:xfrm>
          <a:prstGeom prst="straightConnector1">
            <a:avLst/>
          </a:prstGeom>
          <a:noFill/>
          <a:ln w="28575" cap="flat" cmpd="sng">
            <a:solidFill>
              <a:srgbClr val="545BA1"/>
            </a:solidFill>
            <a:prstDash val="solid"/>
            <a:miter lim="800000"/>
            <a:headEnd type="none" w="sm" len="sm"/>
            <a:tailEnd type="none" w="sm" len="sm"/>
          </a:ln>
        </p:spPr>
      </p:cxnSp>
      <p:cxnSp>
        <p:nvCxnSpPr>
          <p:cNvPr id="32" name="Google Shape;32;p1"/>
          <p:cNvCxnSpPr/>
          <p:nvPr/>
        </p:nvCxnSpPr>
        <p:spPr>
          <a:xfrm rot="10800000" flipH="1">
            <a:off x="206375" y="5478780"/>
            <a:ext cx="10306050" cy="685800"/>
          </a:xfrm>
          <a:prstGeom prst="straightConnector1">
            <a:avLst/>
          </a:prstGeom>
          <a:noFill/>
          <a:ln w="9525" cap="flat" cmpd="sng">
            <a:solidFill>
              <a:schemeClr val="lt1"/>
            </a:solidFill>
            <a:prstDash val="solid"/>
            <a:miter lim="800000"/>
            <a:headEnd type="none" w="sm" len="sm"/>
            <a:tailEnd type="none" w="sm" len="sm"/>
          </a:ln>
        </p:spPr>
      </p:cxnSp>
      <p:sp>
        <p:nvSpPr>
          <p:cNvPr id="33" name="Google Shape;33;p1"/>
          <p:cNvSpPr/>
          <p:nvPr/>
        </p:nvSpPr>
        <p:spPr>
          <a:xfrm>
            <a:off x="1942465" y="2138045"/>
            <a:ext cx="8698230" cy="3975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8B765"/>
              </a:buClr>
              <a:buSzPts val="2000"/>
              <a:buFont typeface="Microsoft YaHei" panose="020B0503020204020204" charset="-122"/>
              <a:buNone/>
            </a:pPr>
            <a:r>
              <a:rPr lang="en-US" sz="2000" b="0" i="0" u="none" strike="noStrike" cap="none">
                <a:solidFill>
                  <a:srgbClr val="D8B765"/>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rPr>
              <a:t>Object-Oriented Principles, Functional Concepts</a:t>
            </a:r>
            <a:endParaRPr sz="2000" b="0" i="0" u="none" strike="noStrike" cap="none">
              <a:solidFill>
                <a:srgbClr val="D8B765"/>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endParaRPr>
          </a:p>
        </p:txBody>
      </p:sp>
      <p:sp>
        <p:nvSpPr>
          <p:cNvPr id="34" name="Google Shape;34;p1"/>
          <p:cNvSpPr txBox="1"/>
          <p:nvPr/>
        </p:nvSpPr>
        <p:spPr>
          <a:xfrm>
            <a:off x="1823085" y="713105"/>
            <a:ext cx="9219565" cy="132207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BB768"/>
              </a:buClr>
              <a:buSzPts val="4000"/>
              <a:buFont typeface="Microsoft YaHei" panose="020B0503020204020204" charset="-122"/>
              <a:buNone/>
            </a:pPr>
            <a:r>
              <a:rPr lang="en-US" sz="4000" b="1" i="0" u="none" strike="noStrike" cap="none">
                <a:solidFill>
                  <a:srgbClr val="DBB768"/>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rPr>
              <a:t>A Comprehensive Guide to Dart Programming: </a:t>
            </a:r>
            <a:endParaRPr sz="4000" b="1" i="0" u="none" strike="noStrike" cap="none">
              <a:solidFill>
                <a:srgbClr val="DBB768"/>
              </a:solidFill>
              <a:latin typeface="Microsoft YaHei" panose="020B0503020204020204" charset="-122"/>
              <a:ea typeface="Microsoft YaHei" panose="020B0503020204020204" charset="-122"/>
              <a:cs typeface="Microsoft YaHei" panose="020B0503020204020204" charset="-122"/>
              <a:sym typeface="Microsoft YaHei" panose="020B0503020204020204" charset="-122"/>
            </a:endParaRPr>
          </a:p>
        </p:txBody>
      </p:sp>
      <p:pic>
        <p:nvPicPr>
          <p:cNvPr id="35" name="Google Shape;35;p1"/>
          <p:cNvPicPr preferRelativeResize="0"/>
          <p:nvPr/>
        </p:nvPicPr>
        <p:blipFill rotWithShape="1">
          <a:blip r:embed="rId1"/>
          <a:srcRect/>
          <a:stretch>
            <a:fillRect/>
          </a:stretch>
        </p:blipFill>
        <p:spPr>
          <a:xfrm>
            <a:off x="354013" y="3816350"/>
            <a:ext cx="5038725" cy="3609975"/>
          </a:xfrm>
          <a:prstGeom prst="rect">
            <a:avLst/>
          </a:prstGeom>
          <a:noFill/>
          <a:ln>
            <a:noFill/>
          </a:ln>
        </p:spPr>
      </p:pic>
      <p:pic>
        <p:nvPicPr>
          <p:cNvPr id="36" name="Google Shape;36;p1"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20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1000"/>
                                        <p:tgtEl>
                                          <p:spTgt spid="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40" name="Shape 40"/>
        <p:cNvGrpSpPr/>
        <p:nvPr/>
      </p:nvGrpSpPr>
      <p:grpSpPr>
        <a:xfrm>
          <a:off x="0" y="0"/>
          <a:ext cx="0" cy="0"/>
          <a:chOff x="0" y="0"/>
          <a:chExt cx="0" cy="0"/>
        </a:xfrm>
      </p:grpSpPr>
      <p:sp>
        <p:nvSpPr>
          <p:cNvPr id="41" name="Google Shape;41;p2"/>
          <p:cNvSpPr/>
          <p:nvPr/>
        </p:nvSpPr>
        <p:spPr>
          <a:xfrm>
            <a:off x="-635" y="0"/>
            <a:ext cx="12192000" cy="7146925"/>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2" name="Google Shape;42;p2"/>
          <p:cNvSpPr/>
          <p:nvPr/>
        </p:nvSpPr>
        <p:spPr>
          <a:xfrm>
            <a:off x="916782" y="510858"/>
            <a:ext cx="8704580" cy="70675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Object-Oriented Programming in Dart</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3" name="Google Shape;43;p2"/>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4" name="Google Shape;44;p2"/>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5" name="Google Shape;45;p2"/>
          <p:cNvSpPr txBox="1"/>
          <p:nvPr/>
        </p:nvSpPr>
        <p:spPr>
          <a:xfrm>
            <a:off x="473710" y="1855470"/>
            <a:ext cx="8314055" cy="520700"/>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Dart is an object-oriented programming language.</a:t>
            </a:r>
            <a:endPar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pic>
        <p:nvPicPr>
          <p:cNvPr id="49" name="Google Shape;49;p2"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pic>
        <p:nvPicPr>
          <p:cNvPr id="180" name="Google Shape;180;p2" descr="oopprogram"/>
          <p:cNvPicPr preferRelativeResize="0"/>
          <p:nvPr/>
        </p:nvPicPr>
        <p:blipFill rotWithShape="1">
          <a:blip r:embed="rId3">
            <a:alphaModFix amt="68000"/>
          </a:blip>
          <a:srcRect l="1260" t="1582" r="7610" b="9699"/>
          <a:stretch>
            <a:fillRect/>
          </a:stretch>
        </p:blipFill>
        <p:spPr>
          <a:xfrm>
            <a:off x="7373620" y="3191510"/>
            <a:ext cx="4567555" cy="3819525"/>
          </a:xfrm>
          <a:prstGeom prst="ellipse">
            <a:avLst/>
          </a:prstGeom>
          <a:noFill/>
          <a:ln>
            <a:noFill/>
          </a:ln>
        </p:spPr>
      </p:pic>
      <p:sp>
        <p:nvSpPr>
          <p:cNvPr id="5" name="Google Shape;45;p2"/>
          <p:cNvSpPr txBox="1"/>
          <p:nvPr/>
        </p:nvSpPr>
        <p:spPr>
          <a:xfrm>
            <a:off x="473710" y="2924175"/>
            <a:ext cx="7085330" cy="2192020"/>
          </a:xfrm>
          <a:prstGeom prst="rect">
            <a:avLst/>
          </a:prstGeom>
          <a:noFill/>
          <a:ln>
            <a:noFill/>
          </a:ln>
        </p:spPr>
        <p:txBody>
          <a:bodyPr spcFirstLastPara="1" wrap="square" lIns="91425" tIns="45700" rIns="91425" bIns="45700" anchor="t" anchorCtr="0">
            <a:noAutofit/>
          </a:bodyPr>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The main goal of oops concepts in dart is to reduce programming complexity &amp; can execute many tasks at once.</a:t>
            </a:r>
            <a:endPar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sp>
        <p:nvSpPr>
          <p:cNvPr id="6" name="Google Shape;45;p2"/>
          <p:cNvSpPr txBox="1"/>
          <p:nvPr/>
        </p:nvSpPr>
        <p:spPr>
          <a:xfrm>
            <a:off x="473710" y="4665980"/>
            <a:ext cx="7085330" cy="2192020"/>
          </a:xfrm>
          <a:prstGeom prst="rect">
            <a:avLst/>
          </a:prstGeom>
          <a:noFill/>
          <a:ln>
            <a:noFill/>
          </a:ln>
        </p:spPr>
        <p:txBody>
          <a:bodyPr spcFirstLastPara="1" wrap="square" lIns="91425" tIns="45700" rIns="91425" bIns="45700" anchor="t" anchorCtr="0">
            <a:noAutofit/>
          </a:bodyPr>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Object-Oriented Programming (OOP) in Dart offers several benefits, making it easier to build scalable, maintainable, and reusable software.</a:t>
            </a:r>
            <a:endPar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mc:AlternateContent xmlns:mc="http://schemas.openxmlformats.org/markup-compatibility/2006">
    <mc:Choice xmlns:p14="http://schemas.microsoft.com/office/powerpoint/2010/main" Requires="p14">
      <p:transition spd="slow" p14:dur="699">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10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1000"/>
                                        <p:tgtEl>
                                          <p:spTgt spid="4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0"/>
                                        </p:tgtEl>
                                        <p:attrNameLst>
                                          <p:attrName>style.visibility</p:attrName>
                                        </p:attrNameLst>
                                      </p:cBhvr>
                                      <p:to>
                                        <p:strVal val="visible"/>
                                      </p:to>
                                    </p:set>
                                    <p:animEffect transition="in" filter="fade">
                                      <p:cBhvr>
                                        <p:cTn id="17" dur="2000"/>
                                        <p:tgtEl>
                                          <p:spTgt spid="18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40" name="Shape 40"/>
        <p:cNvGrpSpPr/>
        <p:nvPr/>
      </p:nvGrpSpPr>
      <p:grpSpPr>
        <a:xfrm>
          <a:off x="0" y="0"/>
          <a:ext cx="0" cy="0"/>
          <a:chOff x="0" y="0"/>
          <a:chExt cx="0" cy="0"/>
        </a:xfrm>
      </p:grpSpPr>
      <p:sp>
        <p:nvSpPr>
          <p:cNvPr id="41" name="Google Shape;41;p2"/>
          <p:cNvSpPr/>
          <p:nvPr/>
        </p:nvSpPr>
        <p:spPr>
          <a:xfrm>
            <a:off x="-635" y="0"/>
            <a:ext cx="12192000" cy="7146925"/>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2" name="Google Shape;42;p2"/>
          <p:cNvSpPr/>
          <p:nvPr/>
        </p:nvSpPr>
        <p:spPr>
          <a:xfrm>
            <a:off x="916782" y="510858"/>
            <a:ext cx="8704580" cy="705485"/>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4000"/>
              <a:buFont typeface="Arial" panose="020B0604020202020204"/>
              <a:buNone/>
            </a:pPr>
            <a:r>
              <a:rPr lang="en-IN" sz="4000" b="0" i="0" u="none" strike="noStrike" cap="none">
                <a:solidFill>
                  <a:schemeClr val="lt1"/>
                </a:solidFill>
                <a:latin typeface="Arial" panose="020B0604020202020204"/>
                <a:ea typeface="Arial" panose="020B0604020202020204"/>
                <a:cs typeface="Arial" panose="020B0604020202020204"/>
                <a:sym typeface="Arial" panose="020B0604020202020204"/>
              </a:rPr>
              <a:t>Oops</a:t>
            </a:r>
            <a:endParaRPr lang="en-IN"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43" name="Google Shape;43;p2"/>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4" name="Google Shape;44;p2"/>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45" name="Google Shape;45;p2"/>
          <p:cNvSpPr txBox="1"/>
          <p:nvPr/>
        </p:nvSpPr>
        <p:spPr>
          <a:xfrm>
            <a:off x="687705" y="1892935"/>
            <a:ext cx="6146165" cy="521970"/>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Defining classes and creating objects</a:t>
            </a:r>
            <a:endPar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sp>
        <p:nvSpPr>
          <p:cNvPr id="47" name="Google Shape;47;p2"/>
          <p:cNvSpPr txBox="1"/>
          <p:nvPr/>
        </p:nvSpPr>
        <p:spPr>
          <a:xfrm>
            <a:off x="652780" y="2881630"/>
            <a:ext cx="6029325" cy="1383665"/>
          </a:xfrm>
          <a:prstGeom prst="rect">
            <a:avLst/>
          </a:prstGeom>
          <a:noFill/>
          <a:ln>
            <a:noFill/>
          </a:ln>
        </p:spPr>
        <p:txBody>
          <a:bodyPr spcFirstLastPara="1" wrap="square" lIns="91425" tIns="45700" rIns="91425" bIns="45700" anchor="t" anchorCtr="0">
            <a:spAutoFit/>
          </a:bodyPr>
          <a:lstStyle/>
          <a:p>
            <a:pPr marL="342900" marR="0" lvl="0" indent="-342900" algn="l" rtl="0">
              <a:lnSpc>
                <a:spcPct val="100000"/>
              </a:lnSpc>
              <a:spcBef>
                <a:spcPts val="0"/>
              </a:spcBef>
              <a:spcAft>
                <a:spcPts val="0"/>
              </a:spcAft>
              <a:buClr>
                <a:srgbClr val="DAB865"/>
              </a:buClr>
              <a:buSzPts val="2800"/>
              <a:buFont typeface="Arial" panose="020B0604020202020204"/>
              <a:buChar char="•"/>
            </a:pPr>
            <a:r>
              <a:rPr 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Understanding class members: properties, methods, and constructors</a:t>
            </a:r>
            <a:endPar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pic>
        <p:nvPicPr>
          <p:cNvPr id="48" name="Google Shape;48;p2" descr="12291093_Wavy_Tech-22_Single-06"/>
          <p:cNvPicPr preferRelativeResize="0"/>
          <p:nvPr/>
        </p:nvPicPr>
        <p:blipFill rotWithShape="1">
          <a:blip r:embed="rId1"/>
          <a:srcRect/>
          <a:stretch>
            <a:fillRect/>
          </a:stretch>
        </p:blipFill>
        <p:spPr>
          <a:xfrm>
            <a:off x="6946265" y="1358265"/>
            <a:ext cx="5245100" cy="5245100"/>
          </a:xfrm>
          <a:prstGeom prst="ellipse">
            <a:avLst/>
          </a:prstGeom>
          <a:noFill/>
          <a:ln>
            <a:noFill/>
          </a:ln>
        </p:spPr>
      </p:pic>
      <p:pic>
        <p:nvPicPr>
          <p:cNvPr id="49" name="Google Shape;49;p2"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
        <p:nvSpPr>
          <p:cNvPr id="2" name="Google Shape;46;p2"/>
          <p:cNvSpPr txBox="1"/>
          <p:nvPr/>
        </p:nvSpPr>
        <p:spPr>
          <a:xfrm>
            <a:off x="652780" y="4474845"/>
            <a:ext cx="4851400" cy="2244090"/>
          </a:xfrm>
          <a:prstGeom prst="rect">
            <a:avLst/>
          </a:prstGeom>
          <a:noFill/>
          <a:ln>
            <a:noFill/>
          </a:ln>
        </p:spPr>
        <p:txBody>
          <a:bodyPr spcFirstLastPara="1" wrap="square" lIns="91425" tIns="45700" rIns="91425" bIns="45700" anchor="t" anchorCtr="0">
            <a:spAutoFit/>
          </a:bodyPr>
          <a:p>
            <a:pPr marL="342900" marR="0" lvl="0" indent="-342900" algn="l" rtl="0">
              <a:lnSpc>
                <a:spcPct val="100000"/>
              </a:lnSpc>
              <a:spcBef>
                <a:spcPts val="0"/>
              </a:spcBef>
              <a:spcAft>
                <a:spcPts val="0"/>
              </a:spcAft>
              <a:buClr>
                <a:srgbClr val="DAB865"/>
              </a:buClr>
              <a:buSzPts val="2800"/>
              <a:buFont typeface="Arial" panose="020B0604020202020204"/>
              <a:buChar char="•"/>
            </a:pP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The </a:t>
            </a: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Three </a:t>
            </a:r>
            <a:r>
              <a:rPr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Pillars of OOPs</a:t>
            </a: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Inheritance</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Ploymorphism</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Abstraction</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Encapsulation</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mc:AlternateContent xmlns:mc="http://schemas.openxmlformats.org/markup-compatibility/2006">
    <mc:Choice xmlns:p14="http://schemas.microsoft.com/office/powerpoint/2010/main" Requires="p14">
      <p:transition spd="slow" p14:dur="699">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10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fade">
                                      <p:cBhvr>
                                        <p:cTn id="12" dur="500"/>
                                        <p:tgtEl>
                                          <p:spTgt spid="4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7"/>
                                        </p:tgtEl>
                                        <p:attrNameLst>
                                          <p:attrName>style.visibility</p:attrName>
                                        </p:attrNameLst>
                                      </p:cBhvr>
                                      <p:to>
                                        <p:strVal val="visible"/>
                                      </p:to>
                                    </p:set>
                                    <p:animEffect transition="in" filter="fade">
                                      <p:cBhvr>
                                        <p:cTn id="22" dur="1000"/>
                                        <p:tgtEl>
                                          <p:spTgt spid="4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fade">
                                      <p:cBhvr>
                                        <p:cTn id="27" dur="1000"/>
                                        <p:tgtEl>
                                          <p:spTgt spid="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3"/>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55" name="Google Shape;55;p3"/>
          <p:cNvCxnSpPr/>
          <p:nvPr/>
        </p:nvCxnSpPr>
        <p:spPr>
          <a:xfrm>
            <a:off x="2122488" y="2667000"/>
            <a:ext cx="6432550" cy="26988"/>
          </a:xfrm>
          <a:prstGeom prst="straightConnector1">
            <a:avLst/>
          </a:prstGeom>
          <a:solidFill>
            <a:srgbClr val="EE6351"/>
          </a:solidFill>
          <a:ln>
            <a:noFill/>
          </a:ln>
        </p:spPr>
      </p:cxnSp>
      <p:cxnSp>
        <p:nvCxnSpPr>
          <p:cNvPr id="56" name="Google Shape;56;p3"/>
          <p:cNvCxnSpPr/>
          <p:nvPr/>
        </p:nvCxnSpPr>
        <p:spPr>
          <a:xfrm>
            <a:off x="2122488" y="4110038"/>
            <a:ext cx="4799013" cy="36513"/>
          </a:xfrm>
          <a:prstGeom prst="straightConnector1">
            <a:avLst/>
          </a:prstGeom>
          <a:solidFill>
            <a:srgbClr val="EE6351"/>
          </a:solidFill>
          <a:ln>
            <a:noFill/>
          </a:ln>
        </p:spPr>
      </p:cxnSp>
      <p:cxnSp>
        <p:nvCxnSpPr>
          <p:cNvPr id="57" name="Google Shape;57;p3"/>
          <p:cNvCxnSpPr/>
          <p:nvPr/>
        </p:nvCxnSpPr>
        <p:spPr>
          <a:xfrm>
            <a:off x="2093913" y="5627688"/>
            <a:ext cx="3194050" cy="1588"/>
          </a:xfrm>
          <a:prstGeom prst="straightConnector1">
            <a:avLst/>
          </a:prstGeom>
          <a:solidFill>
            <a:srgbClr val="EE6351"/>
          </a:solidFill>
          <a:ln>
            <a:noFill/>
          </a:ln>
        </p:spPr>
      </p:cxnSp>
      <p:sp>
        <p:nvSpPr>
          <p:cNvPr id="58" name="Google Shape;58;p3"/>
          <p:cNvSpPr txBox="1"/>
          <p:nvPr/>
        </p:nvSpPr>
        <p:spPr>
          <a:xfrm>
            <a:off x="796290" y="1310640"/>
            <a:ext cx="10793730" cy="119888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 class in terms of Oops is the blueprint of objects.But compared to other languages, class have less importance in dart.Class can be used for declaring, allocating space, storing, sharing objects.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59" name="Google Shape;59;p3"/>
          <p:cNvSpPr txBox="1"/>
          <p:nvPr/>
        </p:nvSpPr>
        <p:spPr>
          <a:xfrm>
            <a:off x="796290" y="2771140"/>
            <a:ext cx="10751820"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class keyword is followed by the class name. The rules for identifiers must be considered while naming a 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60" name="Google Shape;60;p3"/>
          <p:cNvSpPr/>
          <p:nvPr/>
        </p:nvSpPr>
        <p:spPr>
          <a:xfrm>
            <a:off x="916940" y="417830"/>
            <a:ext cx="11064240" cy="121221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Class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61" name="Google Shape;61;p3"/>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62" name="Google Shape;62;p3"/>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63" name="Google Shape;63;p3"/>
          <p:cNvSpPr txBox="1"/>
          <p:nvPr/>
        </p:nvSpPr>
        <p:spPr>
          <a:xfrm>
            <a:off x="882650" y="3801110"/>
            <a:ext cx="10631170" cy="230695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Inside Class there are 4 types of attributes: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fields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getters/setters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Constructors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functions </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pic>
        <p:nvPicPr>
          <p:cNvPr id="64" name="Google Shape;64;p3" descr="class"/>
          <p:cNvPicPr preferRelativeResize="0"/>
          <p:nvPr/>
        </p:nvPicPr>
        <p:blipFill rotWithShape="1">
          <a:blip r:embed="rId1"/>
          <a:srcRect/>
          <a:stretch>
            <a:fillRect/>
          </a:stretch>
        </p:blipFill>
        <p:spPr>
          <a:xfrm>
            <a:off x="8586470" y="3429000"/>
            <a:ext cx="3126105" cy="2600960"/>
          </a:xfrm>
          <a:prstGeom prst="rect">
            <a:avLst/>
          </a:prstGeom>
          <a:noFill/>
          <a:ln>
            <a:noFill/>
          </a:ln>
        </p:spPr>
      </p:pic>
      <p:pic>
        <p:nvPicPr>
          <p:cNvPr id="65" name="Google Shape;65;p3"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10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1000"/>
                                        <p:tgtEl>
                                          <p:spTgt spid="5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1000"/>
                                        <p:tgtEl>
                                          <p:spTgt spid="5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63"/>
                                        </p:tgtEl>
                                        <p:attrNameLst>
                                          <p:attrName>style.visibility</p:attrName>
                                        </p:attrNameLst>
                                      </p:cBhvr>
                                      <p:to>
                                        <p:strVal val="visible"/>
                                      </p:to>
                                    </p:set>
                                    <p:animEffect transition="in" filter="fade">
                                      <p:cBhvr>
                                        <p:cTn id="26" dur="1000"/>
                                        <p:tgtEl>
                                          <p:spTgt spid="6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3"/>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55" name="Google Shape;55;p3"/>
          <p:cNvCxnSpPr/>
          <p:nvPr/>
        </p:nvCxnSpPr>
        <p:spPr>
          <a:xfrm>
            <a:off x="2122488" y="2667000"/>
            <a:ext cx="6432550" cy="26988"/>
          </a:xfrm>
          <a:prstGeom prst="straightConnector1">
            <a:avLst/>
          </a:prstGeom>
          <a:solidFill>
            <a:srgbClr val="EE6351"/>
          </a:solidFill>
          <a:ln>
            <a:noFill/>
          </a:ln>
        </p:spPr>
      </p:cxnSp>
      <p:cxnSp>
        <p:nvCxnSpPr>
          <p:cNvPr id="56" name="Google Shape;56;p3"/>
          <p:cNvCxnSpPr/>
          <p:nvPr/>
        </p:nvCxnSpPr>
        <p:spPr>
          <a:xfrm>
            <a:off x="2122488" y="4110038"/>
            <a:ext cx="4799013" cy="36513"/>
          </a:xfrm>
          <a:prstGeom prst="straightConnector1">
            <a:avLst/>
          </a:prstGeom>
          <a:solidFill>
            <a:srgbClr val="EE6351"/>
          </a:solidFill>
          <a:ln>
            <a:noFill/>
          </a:ln>
        </p:spPr>
      </p:cxnSp>
      <p:cxnSp>
        <p:nvCxnSpPr>
          <p:cNvPr id="57" name="Google Shape;57;p3"/>
          <p:cNvCxnSpPr/>
          <p:nvPr/>
        </p:nvCxnSpPr>
        <p:spPr>
          <a:xfrm>
            <a:off x="2093913" y="5627688"/>
            <a:ext cx="3194050" cy="1588"/>
          </a:xfrm>
          <a:prstGeom prst="straightConnector1">
            <a:avLst/>
          </a:prstGeom>
          <a:solidFill>
            <a:srgbClr val="EE6351"/>
          </a:solidFill>
          <a:ln>
            <a:noFill/>
          </a:ln>
        </p:spPr>
      </p:cxnSp>
      <p:sp>
        <p:nvSpPr>
          <p:cNvPr id="63" name="Google Shape;63;p3"/>
          <p:cNvSpPr txBox="1"/>
          <p:nvPr/>
        </p:nvSpPr>
        <p:spPr>
          <a:xfrm>
            <a:off x="546735" y="739775"/>
            <a:ext cx="7843520" cy="549211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Inside Class there are 4 types of attributes: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fields</a:t>
            </a:r>
            <a:r>
              <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 Fields are variables that store data for objects.</a:t>
            </a:r>
            <a:endPar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Arial" panose="020B0604020202020204"/>
              <a:buNone/>
            </a:pPr>
            <a:endPar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getters/setters</a:t>
            </a:r>
            <a:r>
              <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:getters are methods that retrieve the value of a property, while setters are methods that update the value of a property, helping to control access to class fields.</a:t>
            </a:r>
            <a:endPar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Arial" panose="020B0604020202020204"/>
              <a:buNone/>
            </a:pPr>
            <a:r>
              <a:rPr lang="en-IN"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Constructors</a:t>
            </a:r>
            <a:r>
              <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:Constructors are special functions that create instances of classes.</a:t>
            </a:r>
            <a:endPar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Arial" panose="020B060402020202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functions </a:t>
            </a:r>
            <a:r>
              <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:Functions refers to the action an object can take. It can also be called as methods.</a:t>
            </a:r>
            <a:endPar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endPar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3" name="Rectangles 2"/>
          <p:cNvSpPr/>
          <p:nvPr/>
        </p:nvSpPr>
        <p:spPr>
          <a:xfrm>
            <a:off x="8389620" y="2409825"/>
            <a:ext cx="3234690" cy="3436620"/>
          </a:xfrm>
          <a:prstGeom prst="rect">
            <a:avLst/>
          </a:prstGeom>
          <a:solidFill>
            <a:schemeClr val="tx2"/>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ext Box 1"/>
          <p:cNvSpPr txBox="1"/>
          <p:nvPr/>
        </p:nvSpPr>
        <p:spPr>
          <a:xfrm>
            <a:off x="8482330" y="2553335"/>
            <a:ext cx="3046095" cy="3291840"/>
          </a:xfrm>
          <a:prstGeom prst="rect">
            <a:avLst/>
          </a:prstGeom>
          <a:noFill/>
        </p:spPr>
        <p:txBody>
          <a:bodyPr wrap="square" rtlCol="0">
            <a:spAutoFit/>
          </a:bodyPr>
          <a:p>
            <a:r>
              <a:rPr lang="en-IN" altLang="en-US" sz="1600"/>
              <a:t>class Student{</a:t>
            </a:r>
            <a:endParaRPr lang="en-IN" altLang="en-US" sz="1600"/>
          </a:p>
          <a:p>
            <a:endParaRPr lang="en-IN" altLang="en-US" sz="1600"/>
          </a:p>
          <a:p>
            <a:r>
              <a:rPr lang="en-IN" altLang="en-US" sz="1600">
                <a:solidFill>
                  <a:schemeClr val="accent2"/>
                </a:solidFill>
              </a:rPr>
              <a:t>    // field</a:t>
            </a:r>
            <a:endParaRPr lang="en-IN" altLang="en-US" sz="1600">
              <a:solidFill>
                <a:schemeClr val="accent2"/>
              </a:solidFill>
            </a:endParaRPr>
          </a:p>
          <a:p>
            <a:r>
              <a:rPr lang="en-IN" altLang="en-US" sz="1600"/>
              <a:t>  String name =”Name”;</a:t>
            </a:r>
            <a:endParaRPr lang="en-IN" altLang="en-US" sz="1600"/>
          </a:p>
          <a:p>
            <a:endParaRPr lang="en-IN" altLang="en-US" sz="1600"/>
          </a:p>
          <a:p>
            <a:r>
              <a:rPr lang="en-IN" altLang="en-US" sz="1600">
                <a:solidFill>
                  <a:schemeClr val="accent2"/>
                </a:solidFill>
              </a:rPr>
              <a:t>   //function</a:t>
            </a:r>
            <a:endParaRPr lang="en-IN" altLang="en-US" sz="1600">
              <a:solidFill>
                <a:schemeClr val="accent2"/>
              </a:solidFill>
            </a:endParaRPr>
          </a:p>
          <a:p>
            <a:r>
              <a:rPr lang="en-IN" altLang="en-US" sz="1600"/>
              <a:t>   void detail(){</a:t>
            </a:r>
            <a:endParaRPr lang="en-IN" altLang="en-US" sz="1600"/>
          </a:p>
          <a:p>
            <a:endParaRPr lang="en-IN" altLang="en-US" sz="1600"/>
          </a:p>
          <a:p>
            <a:r>
              <a:rPr lang="en-IN" altLang="en-US" sz="1600"/>
              <a:t>    print(name);</a:t>
            </a:r>
            <a:endParaRPr lang="en-IN" altLang="en-US" sz="1600"/>
          </a:p>
          <a:p>
            <a:endParaRPr lang="en-IN" altLang="en-US" sz="1600"/>
          </a:p>
          <a:p>
            <a:r>
              <a:rPr lang="en-IN" altLang="en-US" sz="1600"/>
              <a:t>}</a:t>
            </a:r>
            <a:endParaRPr lang="en-IN" altLang="en-US" sz="1600"/>
          </a:p>
          <a:p>
            <a:endParaRPr lang="en-IN" altLang="en-US" sz="1600"/>
          </a:p>
          <a:p>
            <a:r>
              <a:rPr lang="en-IN" altLang="en-US" sz="1600"/>
              <a:t>}</a:t>
            </a:r>
            <a:endParaRPr lang="en-IN" altLang="en-US" sz="1600"/>
          </a:p>
        </p:txBody>
      </p:sp>
      <p:pic>
        <p:nvPicPr>
          <p:cNvPr id="5" name="Google Shape;65;p3" descr="Aitrich Logo_Artboard 4"/>
          <p:cNvPicPr preferRelativeResize="0"/>
          <p:nvPr/>
        </p:nvPicPr>
        <p:blipFill rotWithShape="1">
          <a:blip r:embed="rId1"/>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1000"/>
                                        <p:tgtEl>
                                          <p:spTgt spid="6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69" name="Shape 69"/>
        <p:cNvGrpSpPr/>
        <p:nvPr/>
      </p:nvGrpSpPr>
      <p:grpSpPr>
        <a:xfrm>
          <a:off x="0" y="0"/>
          <a:ext cx="0" cy="0"/>
          <a:chOff x="0" y="0"/>
          <a:chExt cx="0" cy="0"/>
        </a:xfrm>
      </p:grpSpPr>
      <p:sp>
        <p:nvSpPr>
          <p:cNvPr id="70" name="Google Shape;70;p4"/>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71" name="Google Shape;71;p4"/>
          <p:cNvCxnSpPr/>
          <p:nvPr/>
        </p:nvCxnSpPr>
        <p:spPr>
          <a:xfrm>
            <a:off x="2122488" y="2667000"/>
            <a:ext cx="6432550" cy="26988"/>
          </a:xfrm>
          <a:prstGeom prst="straightConnector1">
            <a:avLst/>
          </a:prstGeom>
          <a:solidFill>
            <a:srgbClr val="EE6351"/>
          </a:solidFill>
          <a:ln>
            <a:noFill/>
          </a:ln>
        </p:spPr>
      </p:cxnSp>
      <p:cxnSp>
        <p:nvCxnSpPr>
          <p:cNvPr id="72" name="Google Shape;72;p4"/>
          <p:cNvCxnSpPr/>
          <p:nvPr/>
        </p:nvCxnSpPr>
        <p:spPr>
          <a:xfrm>
            <a:off x="2122488" y="4110038"/>
            <a:ext cx="4799013" cy="36513"/>
          </a:xfrm>
          <a:prstGeom prst="straightConnector1">
            <a:avLst/>
          </a:prstGeom>
          <a:solidFill>
            <a:srgbClr val="EE6351"/>
          </a:solidFill>
          <a:ln>
            <a:noFill/>
          </a:ln>
        </p:spPr>
      </p:cxnSp>
      <p:cxnSp>
        <p:nvCxnSpPr>
          <p:cNvPr id="73" name="Google Shape;73;p4"/>
          <p:cNvCxnSpPr/>
          <p:nvPr/>
        </p:nvCxnSpPr>
        <p:spPr>
          <a:xfrm>
            <a:off x="2093913" y="5627688"/>
            <a:ext cx="3194050" cy="1588"/>
          </a:xfrm>
          <a:prstGeom prst="straightConnector1">
            <a:avLst/>
          </a:prstGeom>
          <a:solidFill>
            <a:srgbClr val="EE6351"/>
          </a:solidFill>
          <a:ln>
            <a:noFill/>
          </a:ln>
        </p:spPr>
      </p:cxnSp>
      <p:sp>
        <p:nvSpPr>
          <p:cNvPr id="74" name="Google Shape;74;p4"/>
          <p:cNvSpPr txBox="1"/>
          <p:nvPr/>
        </p:nvSpPr>
        <p:spPr>
          <a:xfrm>
            <a:off x="304165" y="2842260"/>
            <a:ext cx="6104890" cy="3557905"/>
          </a:xfrm>
          <a:prstGeom prst="rect">
            <a:avLst/>
          </a:prstGeom>
          <a:noFill/>
          <a:ln>
            <a:solidFill>
              <a:schemeClr val="tx2"/>
            </a:solid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IN" alt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Eg:</a:t>
            </a:r>
            <a:endPar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Here we created a class with one field(str) and one function (print_str)</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On main method we declared a variable(obj) with value equal to that class name</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And we accessed that class field and function through that variable.</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75" name="Google Shape;75;p4"/>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Object</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76" name="Google Shape;76;p4"/>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77" name="Google Shape;77;p4"/>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78" name="Google Shape;78;p4" descr="obj"/>
          <p:cNvPicPr preferRelativeResize="0"/>
          <p:nvPr/>
        </p:nvPicPr>
        <p:blipFill rotWithShape="1">
          <a:blip r:embed="rId1"/>
          <a:srcRect/>
          <a:stretch>
            <a:fillRect/>
          </a:stretch>
        </p:blipFill>
        <p:spPr>
          <a:xfrm>
            <a:off x="6775450" y="713105"/>
            <a:ext cx="4876800" cy="3609975"/>
          </a:xfrm>
          <a:prstGeom prst="rect">
            <a:avLst/>
          </a:prstGeom>
          <a:noFill/>
          <a:ln>
            <a:noFill/>
          </a:ln>
        </p:spPr>
      </p:pic>
      <p:pic>
        <p:nvPicPr>
          <p:cNvPr id="79" name="Google Shape;79;p4" descr="objectclass"/>
          <p:cNvPicPr preferRelativeResize="0"/>
          <p:nvPr/>
        </p:nvPicPr>
        <p:blipFill rotWithShape="1">
          <a:blip r:embed="rId2"/>
          <a:srcRect/>
          <a:stretch>
            <a:fillRect/>
          </a:stretch>
        </p:blipFill>
        <p:spPr>
          <a:xfrm>
            <a:off x="7726045" y="4918710"/>
            <a:ext cx="3464560" cy="1419860"/>
          </a:xfrm>
          <a:prstGeom prst="rect">
            <a:avLst/>
          </a:prstGeom>
          <a:noFill/>
          <a:ln>
            <a:noFill/>
          </a:ln>
        </p:spPr>
      </p:pic>
      <p:pic>
        <p:nvPicPr>
          <p:cNvPr id="80" name="Google Shape;80;p4"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sp>
        <p:nvSpPr>
          <p:cNvPr id="2" name="Google Shape;74;p4"/>
          <p:cNvSpPr txBox="1"/>
          <p:nvPr/>
        </p:nvSpPr>
        <p:spPr>
          <a:xfrm>
            <a:off x="304165" y="1407795"/>
            <a:ext cx="6163310" cy="995045"/>
          </a:xfrm>
          <a:prstGeom prst="rect">
            <a:avLst/>
          </a:prstGeom>
          <a:noFill/>
          <a:ln>
            <a:noFill/>
          </a:ln>
        </p:spPr>
        <p:txBody>
          <a:bodyPr spcFirstLastPara="1" wrap="square" lIns="91425" tIns="45700" rIns="91425" bIns="45700" anchor="t" anchorCtr="0">
            <a:noAutofit/>
          </a:bodyPr>
          <a:p>
            <a:pPr marL="0" marR="0" lvl="0" indent="0" algn="l" rtl="0">
              <a:lnSpc>
                <a:spcPct val="100000"/>
              </a:lnSpc>
              <a:spcBef>
                <a:spcPts val="0"/>
              </a:spcBef>
              <a:spcAft>
                <a:spcPts val="0"/>
              </a:spcAft>
              <a:buClr>
                <a:srgbClr val="DFBB64"/>
              </a:buClr>
              <a:buSzPts val="2400"/>
              <a:buFont typeface="Calibri" panose="020F0502020204030204"/>
              <a:buNone/>
            </a:pPr>
            <a:r>
              <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Objects are instances of classes and have properties (attributes) and methods (actions).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1000"/>
                                        <p:tgtEl>
                                          <p:spTgt spid="7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8"/>
                                        </p:tgtEl>
                                        <p:attrNameLst>
                                          <p:attrName>style.visibility</p:attrName>
                                        </p:attrNameLst>
                                      </p:cBhvr>
                                      <p:to>
                                        <p:strVal val="visible"/>
                                      </p:to>
                                    </p:set>
                                    <p:animEffect transition="in" filter="fade">
                                      <p:cBhvr>
                                        <p:cTn id="12" dur="500"/>
                                        <p:tgtEl>
                                          <p:spTgt spid="78"/>
                                        </p:tgtEl>
                                      </p:cBhvr>
                                    </p:animEffect>
                                  </p:childTnLst>
                                </p:cTn>
                              </p:par>
                              <p:par>
                                <p:cTn id="13" presetID="10" presetClass="entr" presetSubtype="0" fill="hold" nodeType="withEffect">
                                  <p:stCondLst>
                                    <p:cond delay="0"/>
                                  </p:stCondLst>
                                  <p:childTnLst>
                                    <p:set>
                                      <p:cBhvr>
                                        <p:cTn id="14" dur="1" fill="hold">
                                          <p:stCondLst>
                                            <p:cond delay="0"/>
                                          </p:stCondLst>
                                        </p:cTn>
                                        <p:tgtEl>
                                          <p:spTgt spid="79"/>
                                        </p:tgtEl>
                                        <p:attrNameLst>
                                          <p:attrName>style.visibility</p:attrName>
                                        </p:attrNameLst>
                                      </p:cBhvr>
                                      <p:to>
                                        <p:strVal val="visible"/>
                                      </p:to>
                                    </p:set>
                                    <p:animEffect transition="in" filter="fade">
                                      <p:cBhvr>
                                        <p:cTn id="15" dur="500"/>
                                        <p:tgtEl>
                                          <p:spTgt spid="7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74"/>
                                        </p:tgtEl>
                                        <p:attrNameLst>
                                          <p:attrName>style.visibility</p:attrName>
                                        </p:attrNameLst>
                                      </p:cBhvr>
                                      <p:to>
                                        <p:strVal val="visible"/>
                                      </p:to>
                                    </p:set>
                                    <p:animEffect transition="in" filter="fade">
                                      <p:cBhvr>
                                        <p:cTn id="20" dur="1000"/>
                                        <p:tgtEl>
                                          <p:spTgt spid="7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
                                        </p:tgtEl>
                                        <p:attrNameLst>
                                          <p:attrName>style.visibility</p:attrName>
                                        </p:attrNameLst>
                                      </p:cBhvr>
                                      <p:to>
                                        <p:strVal val="visible"/>
                                      </p:to>
                                    </p:set>
                                    <p:animEffect transition="in" filter="fade">
                                      <p:cBhvr>
                                        <p:cTn id="25" dur="1000"/>
                                        <p:tgtEl>
                                          <p:spTgt spid="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04" name="Shape 104"/>
        <p:cNvGrpSpPr/>
        <p:nvPr/>
      </p:nvGrpSpPr>
      <p:grpSpPr>
        <a:xfrm>
          <a:off x="0" y="0"/>
          <a:ext cx="0" cy="0"/>
          <a:chOff x="0" y="0"/>
          <a:chExt cx="0" cy="0"/>
        </a:xfrm>
      </p:grpSpPr>
      <p:sp>
        <p:nvSpPr>
          <p:cNvPr id="105" name="Google Shape;105;p6"/>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r>
              <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rPr>
              <a:t> </a:t>
            </a: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06" name="Google Shape;106;p6"/>
          <p:cNvCxnSpPr/>
          <p:nvPr/>
        </p:nvCxnSpPr>
        <p:spPr>
          <a:xfrm>
            <a:off x="2122488" y="2667000"/>
            <a:ext cx="6432550" cy="26988"/>
          </a:xfrm>
          <a:prstGeom prst="straightConnector1">
            <a:avLst/>
          </a:prstGeom>
          <a:solidFill>
            <a:srgbClr val="EE6351"/>
          </a:solidFill>
          <a:ln>
            <a:noFill/>
          </a:ln>
        </p:spPr>
      </p:cxnSp>
      <p:cxnSp>
        <p:nvCxnSpPr>
          <p:cNvPr id="107" name="Google Shape;107;p6"/>
          <p:cNvCxnSpPr/>
          <p:nvPr/>
        </p:nvCxnSpPr>
        <p:spPr>
          <a:xfrm>
            <a:off x="2122488" y="4110038"/>
            <a:ext cx="4799013" cy="36513"/>
          </a:xfrm>
          <a:prstGeom prst="straightConnector1">
            <a:avLst/>
          </a:prstGeom>
          <a:solidFill>
            <a:srgbClr val="EE6351"/>
          </a:solidFill>
          <a:ln>
            <a:noFill/>
          </a:ln>
        </p:spPr>
      </p:cxnSp>
      <p:cxnSp>
        <p:nvCxnSpPr>
          <p:cNvPr id="108" name="Google Shape;108;p6"/>
          <p:cNvCxnSpPr/>
          <p:nvPr/>
        </p:nvCxnSpPr>
        <p:spPr>
          <a:xfrm>
            <a:off x="2093913" y="5627688"/>
            <a:ext cx="3194050" cy="1588"/>
          </a:xfrm>
          <a:prstGeom prst="straightConnector1">
            <a:avLst/>
          </a:prstGeom>
          <a:solidFill>
            <a:srgbClr val="EE6351"/>
          </a:solidFill>
          <a:ln>
            <a:noFill/>
          </a:ln>
        </p:spPr>
      </p:cxnSp>
      <p:sp>
        <p:nvSpPr>
          <p:cNvPr id="109" name="Google Shape;109;p6"/>
          <p:cNvSpPr txBox="1"/>
          <p:nvPr/>
        </p:nvSpPr>
        <p:spPr>
          <a:xfrm>
            <a:off x="796290" y="1310640"/>
            <a:ext cx="10703560" cy="1209675"/>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Functions are the building blocks of readable, maintainable, and reusable code.</a:t>
            </a:r>
            <a:endPar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10" name="Google Shape;110;p6"/>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Functions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11" name="Google Shape;111;p6"/>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12" name="Google Shape;112;p6"/>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14" name="Google Shape;114;p6" descr="Aitrich Logo_Artboard 4"/>
          <p:cNvPicPr preferRelativeResize="0"/>
          <p:nvPr/>
        </p:nvPicPr>
        <p:blipFill rotWithShape="1">
          <a:blip r:embed="rId1"/>
          <a:srcRect/>
          <a:stretch>
            <a:fillRect/>
          </a:stretch>
        </p:blipFill>
        <p:spPr>
          <a:xfrm>
            <a:off x="74295" y="-90170"/>
            <a:ext cx="1275715" cy="956945"/>
          </a:xfrm>
          <a:prstGeom prst="rect">
            <a:avLst/>
          </a:prstGeom>
          <a:noFill/>
          <a:ln>
            <a:noFill/>
          </a:ln>
        </p:spPr>
      </p:pic>
      <p:sp>
        <p:nvSpPr>
          <p:cNvPr id="2" name="Rectangles 1"/>
          <p:cNvSpPr/>
          <p:nvPr/>
        </p:nvSpPr>
        <p:spPr>
          <a:xfrm>
            <a:off x="4605655" y="2972435"/>
            <a:ext cx="4998085" cy="2964815"/>
          </a:xfrm>
          <a:prstGeom prst="rect">
            <a:avLst/>
          </a:prstGeom>
          <a:solidFill>
            <a:schemeClr val="accent1">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3" name="Straight Connector 2"/>
          <p:cNvCxnSpPr/>
          <p:nvPr/>
        </p:nvCxnSpPr>
        <p:spPr>
          <a:xfrm flipV="1">
            <a:off x="4608830" y="3416935"/>
            <a:ext cx="5013325" cy="4445"/>
          </a:xfrm>
          <a:prstGeom prst="line">
            <a:avLst/>
          </a:prstGeom>
        </p:spPr>
        <p:style>
          <a:lnRef idx="2">
            <a:prstClr val="black"/>
          </a:lnRef>
          <a:fillRef idx="0">
            <a:srgbClr val="FFFFFF"/>
          </a:fillRef>
          <a:effectRef idx="0">
            <a:srgbClr val="FFFFFF"/>
          </a:effectRef>
          <a:fontRef idx="minor">
            <a:schemeClr val="tx1"/>
          </a:fontRef>
        </p:style>
      </p:cxnSp>
      <p:sp>
        <p:nvSpPr>
          <p:cNvPr id="4" name="Text Box 3"/>
          <p:cNvSpPr txBox="1"/>
          <p:nvPr/>
        </p:nvSpPr>
        <p:spPr>
          <a:xfrm>
            <a:off x="5632450" y="2964180"/>
            <a:ext cx="2966085" cy="460375"/>
          </a:xfrm>
          <a:prstGeom prst="rect">
            <a:avLst/>
          </a:prstGeom>
          <a:noFill/>
        </p:spPr>
        <p:txBody>
          <a:bodyPr wrap="square" rtlCol="0">
            <a:spAutoFit/>
          </a:bodyPr>
          <a:p>
            <a:pPr algn="ctr"/>
            <a:r>
              <a:rPr lang="en-US" sz="2400" b="1"/>
              <a:t>Function</a:t>
            </a:r>
            <a:endParaRPr lang="en-US" sz="2400" b="1"/>
          </a:p>
        </p:txBody>
      </p:sp>
      <p:sp>
        <p:nvSpPr>
          <p:cNvPr id="5" name="Text Box 4"/>
          <p:cNvSpPr txBox="1"/>
          <p:nvPr/>
        </p:nvSpPr>
        <p:spPr>
          <a:xfrm>
            <a:off x="4679315" y="3552190"/>
            <a:ext cx="4791710" cy="2228850"/>
          </a:xfrm>
          <a:prstGeom prst="rect">
            <a:avLst/>
          </a:prstGeom>
          <a:noFill/>
        </p:spPr>
        <p:txBody>
          <a:bodyPr wrap="square" rtlCol="0">
            <a:noAutofit/>
          </a:bodyPr>
          <a:p>
            <a:r>
              <a:rPr lang="en-US" sz="2000"/>
              <a:t>Return_typefuc_name(parameter_list){</a:t>
            </a:r>
            <a:endParaRPr lang="en-US" sz="2000"/>
          </a:p>
          <a:p>
            <a:endParaRPr lang="en-US" sz="2000"/>
          </a:p>
          <a:p>
            <a:r>
              <a:rPr lang="en-US" sz="2000"/>
              <a:t>       //statement(s)</a:t>
            </a:r>
            <a:endParaRPr lang="en-US" sz="2000"/>
          </a:p>
          <a:p>
            <a:endParaRPr lang="en-US" sz="2000"/>
          </a:p>
          <a:p>
            <a:r>
              <a:rPr lang="en-US" sz="2000"/>
              <a:t>        return value;</a:t>
            </a:r>
            <a:endParaRPr lang="en-US" sz="2000"/>
          </a:p>
          <a:p>
            <a:r>
              <a:rPr lang="en-US" sz="2000"/>
              <a:t>}</a:t>
            </a:r>
            <a:endParaRPr lang="en-US" sz="2000"/>
          </a:p>
        </p:txBody>
      </p:sp>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10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1000"/>
                                        <p:tgtEl>
                                          <p:spTgt spid="10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7"/>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20" name="Google Shape;120;p7"/>
          <p:cNvCxnSpPr/>
          <p:nvPr/>
        </p:nvCxnSpPr>
        <p:spPr>
          <a:xfrm>
            <a:off x="2122488" y="2667000"/>
            <a:ext cx="6432550" cy="26988"/>
          </a:xfrm>
          <a:prstGeom prst="straightConnector1">
            <a:avLst/>
          </a:prstGeom>
          <a:solidFill>
            <a:srgbClr val="EE6351"/>
          </a:solidFill>
          <a:ln>
            <a:noFill/>
          </a:ln>
        </p:spPr>
      </p:cxnSp>
      <p:cxnSp>
        <p:nvCxnSpPr>
          <p:cNvPr id="121" name="Google Shape;121;p7"/>
          <p:cNvCxnSpPr/>
          <p:nvPr/>
        </p:nvCxnSpPr>
        <p:spPr>
          <a:xfrm>
            <a:off x="2122488" y="4110038"/>
            <a:ext cx="4799013" cy="36513"/>
          </a:xfrm>
          <a:prstGeom prst="straightConnector1">
            <a:avLst/>
          </a:prstGeom>
          <a:solidFill>
            <a:srgbClr val="EE6351"/>
          </a:solidFill>
          <a:ln>
            <a:noFill/>
          </a:ln>
        </p:spPr>
      </p:cxnSp>
      <p:cxnSp>
        <p:nvCxnSpPr>
          <p:cNvPr id="122" name="Google Shape;122;p7"/>
          <p:cNvCxnSpPr/>
          <p:nvPr/>
        </p:nvCxnSpPr>
        <p:spPr>
          <a:xfrm>
            <a:off x="2093913" y="5627688"/>
            <a:ext cx="3194050" cy="1588"/>
          </a:xfrm>
          <a:prstGeom prst="straightConnector1">
            <a:avLst/>
          </a:prstGeom>
          <a:solidFill>
            <a:srgbClr val="EE6351"/>
          </a:solidFill>
          <a:ln>
            <a:noFill/>
          </a:ln>
        </p:spPr>
      </p:cxnSp>
      <p:sp>
        <p:nvSpPr>
          <p:cNvPr id="123" name="Google Shape;123;p7"/>
          <p:cNvSpPr txBox="1"/>
          <p:nvPr/>
        </p:nvSpPr>
        <p:spPr>
          <a:xfrm>
            <a:off x="705485" y="564515"/>
            <a:ext cx="6847840" cy="5993765"/>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Defining a function - a function definition requires when and how a specific task would be done.</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Arial" panose="020B060402020202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Calling a function - A function must be called in order to execute it.</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Arial" panose="020B060402020202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Returning functions - functions may also return values back along with the control, to the caller.</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Arial" panose="020B060402020202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Parameterised functions - Parameters are a mechanism to pass values between the function.we can pass more than one parameter or what our object we want. But to receive, we must define data type.</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pic>
        <p:nvPicPr>
          <p:cNvPr id="124" name="Google Shape;124;p7" descr="uytuyy"/>
          <p:cNvPicPr preferRelativeResize="0"/>
          <p:nvPr/>
        </p:nvPicPr>
        <p:blipFill rotWithShape="1">
          <a:blip r:embed="rId1"/>
          <a:srcRect t="3346"/>
          <a:stretch>
            <a:fillRect/>
          </a:stretch>
        </p:blipFill>
        <p:spPr>
          <a:xfrm>
            <a:off x="7943215" y="725805"/>
            <a:ext cx="3803650" cy="5670550"/>
          </a:xfrm>
          <a:prstGeom prst="rect">
            <a:avLst/>
          </a:prstGeom>
          <a:noFill/>
          <a:ln>
            <a:noFill/>
          </a:ln>
        </p:spPr>
      </p:pic>
      <p:pic>
        <p:nvPicPr>
          <p:cNvPr id="125" name="Google Shape;125;p7"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p:cTn id="7" dur="10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4"/>
                                        </p:tgtEl>
                                        <p:attrNameLst>
                                          <p:attrName>style.visibility</p:attrName>
                                        </p:attrNameLst>
                                      </p:cBhvr>
                                      <p:to>
                                        <p:strVal val="visible"/>
                                      </p:to>
                                    </p:set>
                                    <p:animEffect transition="in" filter="fade">
                                      <p:cBhvr>
                                        <p:cTn id="12" dur="500"/>
                                        <p:tgtEl>
                                          <p:spTgt spid="1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29" name="Shape 129"/>
        <p:cNvGrpSpPr/>
        <p:nvPr/>
      </p:nvGrpSpPr>
      <p:grpSpPr>
        <a:xfrm>
          <a:off x="0" y="0"/>
          <a:ext cx="0" cy="0"/>
          <a:chOff x="0" y="0"/>
          <a:chExt cx="0" cy="0"/>
        </a:xfrm>
      </p:grpSpPr>
      <p:sp>
        <p:nvSpPr>
          <p:cNvPr id="130" name="Google Shape;130;p8"/>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31" name="Google Shape;131;p8"/>
          <p:cNvCxnSpPr/>
          <p:nvPr/>
        </p:nvCxnSpPr>
        <p:spPr>
          <a:xfrm>
            <a:off x="2122488" y="2667000"/>
            <a:ext cx="6432550" cy="26988"/>
          </a:xfrm>
          <a:prstGeom prst="straightConnector1">
            <a:avLst/>
          </a:prstGeom>
          <a:solidFill>
            <a:srgbClr val="EE6351"/>
          </a:solidFill>
          <a:ln>
            <a:noFill/>
          </a:ln>
        </p:spPr>
      </p:cxnSp>
      <p:cxnSp>
        <p:nvCxnSpPr>
          <p:cNvPr id="132" name="Google Shape;132;p8"/>
          <p:cNvCxnSpPr/>
          <p:nvPr/>
        </p:nvCxnSpPr>
        <p:spPr>
          <a:xfrm>
            <a:off x="2122488" y="4110038"/>
            <a:ext cx="4799013" cy="36513"/>
          </a:xfrm>
          <a:prstGeom prst="straightConnector1">
            <a:avLst/>
          </a:prstGeom>
          <a:solidFill>
            <a:srgbClr val="EE6351"/>
          </a:solidFill>
          <a:ln>
            <a:noFill/>
          </a:ln>
        </p:spPr>
      </p:cxnSp>
      <p:cxnSp>
        <p:nvCxnSpPr>
          <p:cNvPr id="133" name="Google Shape;133;p8"/>
          <p:cNvCxnSpPr/>
          <p:nvPr/>
        </p:nvCxnSpPr>
        <p:spPr>
          <a:xfrm>
            <a:off x="2093913" y="5627688"/>
            <a:ext cx="3194050" cy="1588"/>
          </a:xfrm>
          <a:prstGeom prst="straightConnector1">
            <a:avLst/>
          </a:prstGeom>
          <a:solidFill>
            <a:srgbClr val="EE6351"/>
          </a:solidFill>
          <a:ln>
            <a:noFill/>
          </a:ln>
        </p:spPr>
      </p:cxnSp>
      <p:sp>
        <p:nvSpPr>
          <p:cNvPr id="134" name="Google Shape;134;p8"/>
          <p:cNvSpPr txBox="1"/>
          <p:nvPr/>
        </p:nvSpPr>
        <p:spPr>
          <a:xfrm>
            <a:off x="796290" y="1310640"/>
            <a:ext cx="6452870" cy="52451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DFBB64"/>
              </a:buClr>
              <a:buSzPts val="2400"/>
              <a:buFont typeface="Wingdings" panose="05000000000000000000" charset="0"/>
              <a:buChar char="Ø"/>
            </a:pPr>
            <a:r>
              <a:rPr lang="en-US" sz="2400" b="1" i="0" u="none" strike="noStrike" cap="none">
                <a:solidFill>
                  <a:srgbClr val="DFBB64"/>
                </a:solidFill>
                <a:latin typeface="Calibri" panose="020F0502020204030204"/>
                <a:ea typeface="Calibri" panose="020F0502020204030204"/>
                <a:cs typeface="Calibri" panose="020F0502020204030204"/>
                <a:sym typeface="Calibri" panose="020F0502020204030204"/>
              </a:rPr>
              <a:t>Optional positional parameter</a:t>
            </a: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 To specify optional positional parameters, use square [] brackets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Wingdings" panose="05000000000000000000" charset="0"/>
              <a:buChar char="Ø"/>
            </a:pPr>
            <a:r>
              <a:rPr lang="en-US" sz="2400" b="1" i="0" u="none" strike="noStrike" cap="none">
                <a:solidFill>
                  <a:srgbClr val="DFBB64"/>
                </a:solidFill>
                <a:latin typeface="Calibri" panose="020F0502020204030204"/>
                <a:ea typeface="Calibri" panose="020F0502020204030204"/>
                <a:cs typeface="Calibri" panose="020F0502020204030204"/>
                <a:sym typeface="Calibri" panose="020F0502020204030204"/>
              </a:rPr>
              <a:t>Optional named parameter</a:t>
            </a: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 Unlike positional parameters, the parameter's name must be specified while the value is being passed. Curly brace {} can be used to specify optional named parameters.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400"/>
              <a:buFont typeface="Calibri" panose="020F0502020204030204"/>
              <a:buNone/>
            </a:pP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Wingdings" panose="05000000000000000000" charset="0"/>
              <a:buChar char="Ø"/>
            </a:pPr>
            <a:r>
              <a:rPr lang="en-US" sz="2400" b="1" i="0" u="none" strike="noStrike" cap="none">
                <a:solidFill>
                  <a:srgbClr val="DFBB64"/>
                </a:solidFill>
                <a:latin typeface="Calibri" panose="020F0502020204030204"/>
                <a:ea typeface="Calibri" panose="020F0502020204030204"/>
                <a:cs typeface="Calibri" panose="020F0502020204030204"/>
                <a:sym typeface="Calibri" panose="020F0502020204030204"/>
              </a:rPr>
              <a:t>Optional parameter with default value </a:t>
            </a: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 Function parameters can also be assigned values by default. However, such parameters can also be explicitly passed values.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35" name="Google Shape;135;p8"/>
          <p:cNvSpPr/>
          <p:nvPr/>
        </p:nvSpPr>
        <p:spPr>
          <a:xfrm>
            <a:off x="916940" y="41783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Parameter function Types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36" name="Google Shape;136;p8"/>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37" name="Google Shape;137;p8"/>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38" name="Google Shape;138;p8" descr="functionxx"/>
          <p:cNvPicPr preferRelativeResize="0"/>
          <p:nvPr/>
        </p:nvPicPr>
        <p:blipFill rotWithShape="1">
          <a:blip r:embed="rId1"/>
          <a:srcRect/>
          <a:stretch>
            <a:fillRect/>
          </a:stretch>
        </p:blipFill>
        <p:spPr>
          <a:xfrm>
            <a:off x="7249160" y="86995"/>
            <a:ext cx="4643755" cy="4059555"/>
          </a:xfrm>
          <a:prstGeom prst="rect">
            <a:avLst/>
          </a:prstGeom>
          <a:noFill/>
          <a:ln>
            <a:noFill/>
          </a:ln>
        </p:spPr>
      </p:pic>
      <p:pic>
        <p:nvPicPr>
          <p:cNvPr id="139" name="Google Shape;139;p8" descr="oopfunction"/>
          <p:cNvPicPr preferRelativeResize="0"/>
          <p:nvPr/>
        </p:nvPicPr>
        <p:blipFill rotWithShape="1">
          <a:blip r:embed="rId2"/>
          <a:srcRect/>
          <a:stretch>
            <a:fillRect/>
          </a:stretch>
        </p:blipFill>
        <p:spPr>
          <a:xfrm>
            <a:off x="7337425" y="4279265"/>
            <a:ext cx="4644390" cy="2578735"/>
          </a:xfrm>
          <a:prstGeom prst="rect">
            <a:avLst/>
          </a:prstGeom>
          <a:noFill/>
          <a:ln>
            <a:noFill/>
          </a:ln>
        </p:spPr>
      </p:pic>
      <p:pic>
        <p:nvPicPr>
          <p:cNvPr id="140" name="Google Shape;140;p8"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5"/>
                                        </p:tgtEl>
                                        <p:attrNameLst>
                                          <p:attrName>style.visibility</p:attrName>
                                        </p:attrNameLst>
                                      </p:cBhvr>
                                      <p:to>
                                        <p:strVal val="visible"/>
                                      </p:to>
                                    </p:set>
                                    <p:animEffect transition="in" filter="fade">
                                      <p:cBhvr>
                                        <p:cTn id="7" dur="1000"/>
                                        <p:tgtEl>
                                          <p:spTgt spid="1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4"/>
                                        </p:tgtEl>
                                        <p:attrNameLst>
                                          <p:attrName>style.visibility</p:attrName>
                                        </p:attrNameLst>
                                      </p:cBhvr>
                                      <p:to>
                                        <p:strVal val="visible"/>
                                      </p:to>
                                    </p:set>
                                    <p:animEffect transition="in" filter="fade">
                                      <p:cBhvr>
                                        <p:cTn id="12" dur="1000"/>
                                        <p:tgtEl>
                                          <p:spTgt spid="1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8"/>
                                        </p:tgtEl>
                                        <p:attrNameLst>
                                          <p:attrName>style.visibility</p:attrName>
                                        </p:attrNameLst>
                                      </p:cBhvr>
                                      <p:to>
                                        <p:strVal val="visible"/>
                                      </p:to>
                                    </p:set>
                                    <p:animEffect transition="in" filter="fade">
                                      <p:cBhvr>
                                        <p:cTn id="17" dur="500"/>
                                        <p:tgtEl>
                                          <p:spTgt spid="138"/>
                                        </p:tgtEl>
                                      </p:cBhvr>
                                    </p:animEffect>
                                  </p:childTnLst>
                                </p:cTn>
                              </p:par>
                              <p:par>
                                <p:cTn id="18" presetID="10" presetClass="entr" presetSubtype="0" fill="hold" nodeType="withEffect">
                                  <p:stCondLst>
                                    <p:cond delay="0"/>
                                  </p:stCondLst>
                                  <p:childTnLst>
                                    <p:set>
                                      <p:cBhvr>
                                        <p:cTn id="19" dur="1" fill="hold">
                                          <p:stCondLst>
                                            <p:cond delay="0"/>
                                          </p:stCondLst>
                                        </p:cTn>
                                        <p:tgtEl>
                                          <p:spTgt spid="139"/>
                                        </p:tgtEl>
                                        <p:attrNameLst>
                                          <p:attrName>style.visibility</p:attrName>
                                        </p:attrNameLst>
                                      </p:cBhvr>
                                      <p:to>
                                        <p:strVal val="visible"/>
                                      </p:to>
                                    </p:set>
                                    <p:animEffect transition="in" filter="fade">
                                      <p:cBhvr>
                                        <p:cTn id="20" dur="500"/>
                                        <p:tgtEl>
                                          <p:spTgt spid="13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9"/>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46" name="Google Shape;146;p9"/>
          <p:cNvCxnSpPr/>
          <p:nvPr/>
        </p:nvCxnSpPr>
        <p:spPr>
          <a:xfrm>
            <a:off x="2122488" y="2667000"/>
            <a:ext cx="6432550" cy="26988"/>
          </a:xfrm>
          <a:prstGeom prst="straightConnector1">
            <a:avLst/>
          </a:prstGeom>
          <a:solidFill>
            <a:srgbClr val="EE6351"/>
          </a:solidFill>
          <a:ln>
            <a:noFill/>
          </a:ln>
        </p:spPr>
      </p:cxnSp>
      <p:cxnSp>
        <p:nvCxnSpPr>
          <p:cNvPr id="147" name="Google Shape;147;p9"/>
          <p:cNvCxnSpPr/>
          <p:nvPr/>
        </p:nvCxnSpPr>
        <p:spPr>
          <a:xfrm>
            <a:off x="2122488" y="4110038"/>
            <a:ext cx="4799013" cy="36513"/>
          </a:xfrm>
          <a:prstGeom prst="straightConnector1">
            <a:avLst/>
          </a:prstGeom>
          <a:solidFill>
            <a:srgbClr val="EE6351"/>
          </a:solidFill>
          <a:ln>
            <a:noFill/>
          </a:ln>
        </p:spPr>
      </p:cxnSp>
      <p:cxnSp>
        <p:nvCxnSpPr>
          <p:cNvPr id="148" name="Google Shape;148;p9"/>
          <p:cNvCxnSpPr/>
          <p:nvPr/>
        </p:nvCxnSpPr>
        <p:spPr>
          <a:xfrm>
            <a:off x="2093913" y="5627688"/>
            <a:ext cx="3194050" cy="1588"/>
          </a:xfrm>
          <a:prstGeom prst="straightConnector1">
            <a:avLst/>
          </a:prstGeom>
          <a:solidFill>
            <a:srgbClr val="EE6351"/>
          </a:solidFill>
          <a:ln>
            <a:noFill/>
          </a:ln>
        </p:spPr>
      </p:cxnSp>
      <p:sp>
        <p:nvSpPr>
          <p:cNvPr id="149" name="Google Shape;149;p9"/>
          <p:cNvSpPr txBox="1"/>
          <p:nvPr/>
        </p:nvSpPr>
        <p:spPr>
          <a:xfrm>
            <a:off x="395605" y="1393825"/>
            <a:ext cx="7138035" cy="4985385"/>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Wingdings" panose="05000000000000000000" charset="0"/>
              <a:buChar char="Ø"/>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Constructors are function which we will create with the name of class itself and</a:t>
            </a:r>
            <a:r>
              <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t>
            </a: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Wingdings" panose="05000000000000000000" charset="0"/>
              <a:buNone/>
            </a:pP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Ø"/>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 </a:t>
            </a:r>
            <a:r>
              <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W</a:t>
            </a: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hich will execute automatically when the class is called.</a:t>
            </a:r>
            <a:endPar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Ø"/>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Ø"/>
            </a:pPr>
            <a:r>
              <a:rPr lang="en-IN"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There are named constructors in dart, which will allow us to create and call by the default name we create. This constructor will only execute only if its called by that name.</a:t>
            </a:r>
            <a:endParaRPr lang="en-IN"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50" name="Google Shape;150;p9"/>
          <p:cNvSpPr/>
          <p:nvPr/>
        </p:nvSpPr>
        <p:spPr>
          <a:xfrm>
            <a:off x="1456690" y="476250"/>
            <a:ext cx="110642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Constructors </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51" name="Google Shape;151;p9"/>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52" name="Google Shape;152;p9"/>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53" name="Google Shape;153;p9" descr="constructor"/>
          <p:cNvPicPr preferRelativeResize="0"/>
          <p:nvPr/>
        </p:nvPicPr>
        <p:blipFill rotWithShape="1">
          <a:blip r:embed="rId1"/>
          <a:srcRect t="2222" b="1209"/>
          <a:stretch>
            <a:fillRect/>
          </a:stretch>
        </p:blipFill>
        <p:spPr>
          <a:xfrm>
            <a:off x="7859395" y="318135"/>
            <a:ext cx="4029075" cy="6240780"/>
          </a:xfrm>
          <a:prstGeom prst="rect">
            <a:avLst/>
          </a:prstGeom>
          <a:noFill/>
          <a:ln>
            <a:noFill/>
          </a:ln>
        </p:spPr>
      </p:pic>
      <p:pic>
        <p:nvPicPr>
          <p:cNvPr id="154" name="Google Shape;154;p9" descr="Aitrich Logo_Artboard 4"/>
          <p:cNvPicPr preferRelativeResize="0"/>
          <p:nvPr/>
        </p:nvPicPr>
        <p:blipFill rotWithShape="1">
          <a:blip r:embed="rId2"/>
          <a:srcRect/>
          <a:stretch>
            <a:fillRect/>
          </a:stretch>
        </p:blipFill>
        <p:spPr>
          <a:xfrm>
            <a:off x="74295" y="-90170"/>
            <a:ext cx="1015365" cy="762000"/>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0"/>
                                        </p:tgtEl>
                                        <p:attrNameLst>
                                          <p:attrName>style.visibility</p:attrName>
                                        </p:attrNameLst>
                                      </p:cBhvr>
                                      <p:to>
                                        <p:strVal val="visible"/>
                                      </p:to>
                                    </p:set>
                                    <p:animEffect transition="in" filter="fade">
                                      <p:cBhvr>
                                        <p:cTn id="7" dur="1000"/>
                                        <p:tgtEl>
                                          <p:spTgt spid="1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9"/>
                                        </p:tgtEl>
                                        <p:attrNameLst>
                                          <p:attrName>style.visibility</p:attrName>
                                        </p:attrNameLst>
                                      </p:cBhvr>
                                      <p:to>
                                        <p:strVal val="visible"/>
                                      </p:to>
                                    </p:set>
                                    <p:animEffect transition="in" filter="fade">
                                      <p:cBhvr>
                                        <p:cTn id="12" dur="1000"/>
                                        <p:tgtEl>
                                          <p:spTgt spid="1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3"/>
                                        </p:tgtEl>
                                        <p:attrNameLst>
                                          <p:attrName>style.visibility</p:attrName>
                                        </p:attrNameLst>
                                      </p:cBhvr>
                                      <p:to>
                                        <p:strVal val="visible"/>
                                      </p:to>
                                    </p:set>
                                    <p:animEffect transition="in" filter="fade">
                                      <p:cBhvr>
                                        <p:cTn id="17" dur="500"/>
                                        <p:tgtEl>
                                          <p:spTgt spid="15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58" name="Shape 158"/>
        <p:cNvGrpSpPr/>
        <p:nvPr/>
      </p:nvGrpSpPr>
      <p:grpSpPr>
        <a:xfrm>
          <a:off x="0" y="0"/>
          <a:ext cx="0" cy="0"/>
          <a:chOff x="0" y="0"/>
          <a:chExt cx="0" cy="0"/>
        </a:xfrm>
      </p:grpSpPr>
      <p:sp>
        <p:nvSpPr>
          <p:cNvPr id="159" name="Google Shape;159;p10"/>
          <p:cNvSpPr/>
          <p:nvPr/>
        </p:nvSpPr>
        <p:spPr>
          <a:xfrm>
            <a:off x="-9525"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60" name="Google Shape;160;p10"/>
          <p:cNvCxnSpPr/>
          <p:nvPr/>
        </p:nvCxnSpPr>
        <p:spPr>
          <a:xfrm>
            <a:off x="2122488" y="2667000"/>
            <a:ext cx="6432550" cy="26988"/>
          </a:xfrm>
          <a:prstGeom prst="straightConnector1">
            <a:avLst/>
          </a:prstGeom>
          <a:solidFill>
            <a:srgbClr val="EE6351"/>
          </a:solidFill>
          <a:ln>
            <a:noFill/>
          </a:ln>
        </p:spPr>
      </p:cxnSp>
      <p:cxnSp>
        <p:nvCxnSpPr>
          <p:cNvPr id="161" name="Google Shape;161;p10"/>
          <p:cNvCxnSpPr/>
          <p:nvPr/>
        </p:nvCxnSpPr>
        <p:spPr>
          <a:xfrm>
            <a:off x="2122488" y="4110038"/>
            <a:ext cx="4799013" cy="36513"/>
          </a:xfrm>
          <a:prstGeom prst="straightConnector1">
            <a:avLst/>
          </a:prstGeom>
          <a:solidFill>
            <a:srgbClr val="EE6351"/>
          </a:solidFill>
          <a:ln>
            <a:noFill/>
          </a:ln>
        </p:spPr>
      </p:cxnSp>
      <p:cxnSp>
        <p:nvCxnSpPr>
          <p:cNvPr id="162" name="Google Shape;162;p10"/>
          <p:cNvCxnSpPr/>
          <p:nvPr/>
        </p:nvCxnSpPr>
        <p:spPr>
          <a:xfrm>
            <a:off x="2093913" y="5627688"/>
            <a:ext cx="3194050" cy="1588"/>
          </a:xfrm>
          <a:prstGeom prst="straightConnector1">
            <a:avLst/>
          </a:prstGeom>
          <a:solidFill>
            <a:srgbClr val="EE6351"/>
          </a:solidFill>
          <a:ln>
            <a:noFill/>
          </a:ln>
        </p:spPr>
      </p:cxnSp>
      <p:sp>
        <p:nvSpPr>
          <p:cNvPr id="163" name="Google Shape;163;p10"/>
          <p:cNvSpPr txBox="1"/>
          <p:nvPr/>
        </p:nvSpPr>
        <p:spPr>
          <a:xfrm>
            <a:off x="406400" y="1724660"/>
            <a:ext cx="7727950" cy="484378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800"/>
              <a:buFont typeface="Calibri" panose="020F050202020403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keyword this refers to the current instance of the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Calibri" panose="020F050202020403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Calibri" panose="020F050202020403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In the example, we have two string values with name str,</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Calibri" panose="020F050202020403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000"/>
              <a:buFont typeface="Calibri" panose="020F0502020204030204"/>
              <a:buNone/>
            </a:pPr>
            <a:r>
              <a:rPr lang="en-US" sz="2000" b="0" i="0" u="none" strike="noStrike" cap="none">
                <a:solidFill>
                  <a:srgbClr val="DFBB64"/>
                </a:solidFill>
                <a:latin typeface="Calibri" panose="020F0502020204030204"/>
                <a:ea typeface="Calibri" panose="020F0502020204030204"/>
                <a:cs typeface="Calibri" panose="020F0502020204030204"/>
                <a:sym typeface="Calibri" panose="020F0502020204030204"/>
              </a:rPr>
              <a:t>One already defined in the class</a:t>
            </a:r>
            <a:endParaRPr sz="20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000"/>
              <a:buFont typeface="Calibri" panose="020F0502020204030204"/>
              <a:buNone/>
            </a:pPr>
            <a:r>
              <a:rPr lang="en-US" sz="2000" b="0" i="0" u="none" strike="noStrike" cap="none">
                <a:solidFill>
                  <a:srgbClr val="DFBB64"/>
                </a:solidFill>
                <a:latin typeface="Calibri" panose="020F0502020204030204"/>
                <a:ea typeface="Calibri" panose="020F0502020204030204"/>
                <a:cs typeface="Calibri" panose="020F0502020204030204"/>
                <a:sym typeface="Calibri" panose="020F0502020204030204"/>
              </a:rPr>
              <a:t>Second is received from the parameter</a:t>
            </a:r>
            <a:endParaRPr sz="20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000"/>
              <a:buFont typeface="Calibri" panose="020F0502020204030204"/>
              <a:buNone/>
            </a:pPr>
            <a:endParaRPr sz="20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Calibri" panose="020F050202020403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By only using this keyword we printed the value from the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64" name="Google Shape;164;p10"/>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this keyword</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65" name="Google Shape;165;p10"/>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66" name="Google Shape;166;p10"/>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67" name="Google Shape;167;p10" descr="Aitrich Logo_Artboard 4"/>
          <p:cNvPicPr preferRelativeResize="0"/>
          <p:nvPr/>
        </p:nvPicPr>
        <p:blipFill rotWithShape="1">
          <a:blip r:embed="rId1"/>
          <a:srcRect/>
          <a:stretch>
            <a:fillRect/>
          </a:stretch>
        </p:blipFill>
        <p:spPr>
          <a:xfrm>
            <a:off x="74295" y="-90170"/>
            <a:ext cx="1275715" cy="956945"/>
          </a:xfrm>
          <a:prstGeom prst="rect">
            <a:avLst/>
          </a:prstGeom>
          <a:noFill/>
          <a:ln>
            <a:noFill/>
          </a:ln>
        </p:spPr>
      </p:pic>
      <p:pic>
        <p:nvPicPr>
          <p:cNvPr id="168" name="Google Shape;168;p10" descr="this keyword"/>
          <p:cNvPicPr preferRelativeResize="0"/>
          <p:nvPr/>
        </p:nvPicPr>
        <p:blipFill rotWithShape="1">
          <a:blip r:embed="rId2"/>
          <a:srcRect/>
          <a:stretch>
            <a:fillRect/>
          </a:stretch>
        </p:blipFill>
        <p:spPr>
          <a:xfrm>
            <a:off x="7778750" y="332105"/>
            <a:ext cx="4276725" cy="623633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4"/>
                                        </p:tgtEl>
                                        <p:attrNameLst>
                                          <p:attrName>style.visibility</p:attrName>
                                        </p:attrNameLst>
                                      </p:cBhvr>
                                      <p:to>
                                        <p:strVal val="visible"/>
                                      </p:to>
                                    </p:set>
                                    <p:animEffect transition="in" filter="fade">
                                      <p:cBhvr>
                                        <p:cTn id="7" dur="1000"/>
                                        <p:tgtEl>
                                          <p:spTgt spid="1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3"/>
                                        </p:tgtEl>
                                        <p:attrNameLst>
                                          <p:attrName>style.visibility</p:attrName>
                                        </p:attrNameLst>
                                      </p:cBhvr>
                                      <p:to>
                                        <p:strVal val="visible"/>
                                      </p:to>
                                    </p:set>
                                    <p:animEffect transition="in" filter="fade">
                                      <p:cBhvr>
                                        <p:cTn id="12" dur="1000"/>
                                        <p:tgtEl>
                                          <p:spTgt spid="1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8"/>
                                        </p:tgtEl>
                                        <p:attrNameLst>
                                          <p:attrName>style.visibility</p:attrName>
                                        </p:attrNameLst>
                                      </p:cBhvr>
                                      <p:to>
                                        <p:strVal val="visible"/>
                                      </p:to>
                                    </p:set>
                                    <p:animEffect transition="in" filter="fade">
                                      <p:cBhvr>
                                        <p:cTn id="17" dur="500"/>
                                        <p:tgtEl>
                                          <p:spTgt spid="1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72" name="Shape 172"/>
        <p:cNvGrpSpPr/>
        <p:nvPr/>
      </p:nvGrpSpPr>
      <p:grpSpPr>
        <a:xfrm>
          <a:off x="0" y="0"/>
          <a:ext cx="0" cy="0"/>
          <a:chOff x="0" y="0"/>
          <a:chExt cx="0" cy="0"/>
        </a:xfrm>
      </p:grpSpPr>
      <p:sp>
        <p:nvSpPr>
          <p:cNvPr id="173" name="Google Shape;173;p11"/>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74" name="Google Shape;174;p11"/>
          <p:cNvCxnSpPr/>
          <p:nvPr/>
        </p:nvCxnSpPr>
        <p:spPr>
          <a:xfrm>
            <a:off x="2122488" y="2667000"/>
            <a:ext cx="6432550" cy="26988"/>
          </a:xfrm>
          <a:prstGeom prst="straightConnector1">
            <a:avLst/>
          </a:prstGeom>
          <a:solidFill>
            <a:srgbClr val="EE6351"/>
          </a:solidFill>
          <a:ln>
            <a:noFill/>
          </a:ln>
        </p:spPr>
      </p:cxnSp>
      <p:cxnSp>
        <p:nvCxnSpPr>
          <p:cNvPr id="175" name="Google Shape;175;p11"/>
          <p:cNvCxnSpPr/>
          <p:nvPr/>
        </p:nvCxnSpPr>
        <p:spPr>
          <a:xfrm>
            <a:off x="2122488" y="4110038"/>
            <a:ext cx="4799013" cy="36513"/>
          </a:xfrm>
          <a:prstGeom prst="straightConnector1">
            <a:avLst/>
          </a:prstGeom>
          <a:solidFill>
            <a:srgbClr val="EE6351"/>
          </a:solidFill>
          <a:ln>
            <a:noFill/>
          </a:ln>
        </p:spPr>
      </p:cxnSp>
      <p:cxnSp>
        <p:nvCxnSpPr>
          <p:cNvPr id="176" name="Google Shape;176;p11"/>
          <p:cNvCxnSpPr/>
          <p:nvPr/>
        </p:nvCxnSpPr>
        <p:spPr>
          <a:xfrm>
            <a:off x="2093913" y="5627688"/>
            <a:ext cx="3194050" cy="1588"/>
          </a:xfrm>
          <a:prstGeom prst="straightConnector1">
            <a:avLst/>
          </a:prstGeom>
          <a:solidFill>
            <a:srgbClr val="EE6351"/>
          </a:solidFill>
          <a:ln>
            <a:noFill/>
          </a:ln>
        </p:spPr>
      </p:cxnSp>
      <p:sp>
        <p:nvSpPr>
          <p:cNvPr id="177" name="Google Shape;177;p11"/>
          <p:cNvSpPr txBox="1"/>
          <p:nvPr/>
        </p:nvSpPr>
        <p:spPr>
          <a:xfrm>
            <a:off x="883285" y="1724660"/>
            <a:ext cx="7251065" cy="478155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Getters or accessors are defined using get keyword.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Setters or mutators are defined using set keyword.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27940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setter must be executed first, otherwise    getters will get a null value)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78" name="Google Shape;178;p11"/>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Setters/Getters</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79" name="Google Shape;179;p11"/>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80" name="Google Shape;180;p11"/>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81" name="Google Shape;181;p11" descr="set"/>
          <p:cNvPicPr preferRelativeResize="0"/>
          <p:nvPr/>
        </p:nvPicPr>
        <p:blipFill rotWithShape="1">
          <a:blip r:embed="rId1"/>
          <a:srcRect t="2423" r="8684" b="1240"/>
          <a:stretch>
            <a:fillRect/>
          </a:stretch>
        </p:blipFill>
        <p:spPr>
          <a:xfrm>
            <a:off x="7926070" y="540385"/>
            <a:ext cx="3827780" cy="5965825"/>
          </a:xfrm>
          <a:prstGeom prst="rect">
            <a:avLst/>
          </a:prstGeom>
          <a:noFill/>
          <a:ln>
            <a:noFill/>
          </a:ln>
        </p:spPr>
      </p:pic>
      <p:pic>
        <p:nvPicPr>
          <p:cNvPr id="182" name="Google Shape;182;p11"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8"/>
                                        </p:tgtEl>
                                        <p:attrNameLst>
                                          <p:attrName>style.visibility</p:attrName>
                                        </p:attrNameLst>
                                      </p:cBhvr>
                                      <p:to>
                                        <p:strVal val="visible"/>
                                      </p:to>
                                    </p:set>
                                    <p:animEffect transition="in" filter="fade">
                                      <p:cBhvr>
                                        <p:cTn id="7" dur="1000"/>
                                        <p:tgtEl>
                                          <p:spTgt spid="1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7"/>
                                        </p:tgtEl>
                                        <p:attrNameLst>
                                          <p:attrName>style.visibility</p:attrName>
                                        </p:attrNameLst>
                                      </p:cBhvr>
                                      <p:to>
                                        <p:strVal val="visible"/>
                                      </p:to>
                                    </p:set>
                                    <p:animEffect transition="in" filter="fade">
                                      <p:cBhvr>
                                        <p:cTn id="12" dur="1000"/>
                                        <p:tgtEl>
                                          <p:spTgt spid="1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1"/>
                                        </p:tgtEl>
                                        <p:attrNameLst>
                                          <p:attrName>style.visibility</p:attrName>
                                        </p:attrNameLst>
                                      </p:cBhvr>
                                      <p:to>
                                        <p:strVal val="visible"/>
                                      </p:to>
                                    </p:set>
                                    <p:animEffect transition="in" filter="fade">
                                      <p:cBhvr>
                                        <p:cTn id="17" dur="500"/>
                                        <p:tgtEl>
                                          <p:spTgt spid="1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6" name="Shape 186"/>
        <p:cNvGrpSpPr/>
        <p:nvPr/>
      </p:nvGrpSpPr>
      <p:grpSpPr>
        <a:xfrm>
          <a:off x="0" y="0"/>
          <a:ext cx="0" cy="0"/>
          <a:chOff x="0" y="0"/>
          <a:chExt cx="0" cy="0"/>
        </a:xfrm>
      </p:grpSpPr>
      <p:sp>
        <p:nvSpPr>
          <p:cNvPr id="187" name="Google Shape;187;p12"/>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188" name="Google Shape;188;p12"/>
          <p:cNvCxnSpPr/>
          <p:nvPr/>
        </p:nvCxnSpPr>
        <p:spPr>
          <a:xfrm>
            <a:off x="2122488" y="2667000"/>
            <a:ext cx="6432550" cy="26988"/>
          </a:xfrm>
          <a:prstGeom prst="straightConnector1">
            <a:avLst/>
          </a:prstGeom>
          <a:solidFill>
            <a:srgbClr val="EE6351"/>
          </a:solidFill>
          <a:ln>
            <a:noFill/>
          </a:ln>
        </p:spPr>
      </p:cxnSp>
      <p:cxnSp>
        <p:nvCxnSpPr>
          <p:cNvPr id="189" name="Google Shape;189;p12"/>
          <p:cNvCxnSpPr/>
          <p:nvPr/>
        </p:nvCxnSpPr>
        <p:spPr>
          <a:xfrm>
            <a:off x="2122488" y="4110038"/>
            <a:ext cx="4799013" cy="36513"/>
          </a:xfrm>
          <a:prstGeom prst="straightConnector1">
            <a:avLst/>
          </a:prstGeom>
          <a:solidFill>
            <a:srgbClr val="EE6351"/>
          </a:solidFill>
          <a:ln>
            <a:noFill/>
          </a:ln>
        </p:spPr>
      </p:cxnSp>
      <p:cxnSp>
        <p:nvCxnSpPr>
          <p:cNvPr id="190" name="Google Shape;190;p12"/>
          <p:cNvCxnSpPr/>
          <p:nvPr/>
        </p:nvCxnSpPr>
        <p:spPr>
          <a:xfrm>
            <a:off x="2093913" y="5627688"/>
            <a:ext cx="3194050" cy="1588"/>
          </a:xfrm>
          <a:prstGeom prst="straightConnector1">
            <a:avLst/>
          </a:prstGeom>
          <a:solidFill>
            <a:srgbClr val="EE6351"/>
          </a:solidFill>
          <a:ln>
            <a:noFill/>
          </a:ln>
        </p:spPr>
      </p:cxnSp>
      <p:sp>
        <p:nvSpPr>
          <p:cNvPr id="191" name="Google Shape;191;p12"/>
          <p:cNvSpPr txBox="1"/>
          <p:nvPr/>
        </p:nvSpPr>
        <p:spPr>
          <a:xfrm>
            <a:off x="739775" y="1570355"/>
            <a:ext cx="7282815" cy="51435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Class Inheritance is used to access a class(parent class) by another class (child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inherited class objects by making the object of derived class.</a:t>
            </a:r>
            <a:endPar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endPar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Three are commonly used Inheritance:</a:t>
            </a: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ü"/>
            </a:pPr>
            <a:r>
              <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Single Inheritance</a:t>
            </a: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Wingdings" panose="05000000000000000000" charset="0"/>
              <a:buNone/>
            </a:pP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ü"/>
            </a:pPr>
            <a:r>
              <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Multi-level Inheritance</a:t>
            </a: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Wingdings" panose="05000000000000000000" charset="0"/>
              <a:buNone/>
            </a:pPr>
            <a:endPar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Wingdings" panose="05000000000000000000" charset="0"/>
              <a:buChar char="ü"/>
            </a:pPr>
            <a:r>
              <a:rPr lang="en-IN" alt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Hierarchial Inheritance</a:t>
            </a:r>
            <a:endPar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192" name="Google Shape;192;p12"/>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Class Inheritance</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193" name="Google Shape;193;p12"/>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94" name="Google Shape;194;p12"/>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195" name="Google Shape;195;p12" descr="classin"/>
          <p:cNvPicPr preferRelativeResize="0"/>
          <p:nvPr/>
        </p:nvPicPr>
        <p:blipFill rotWithShape="1">
          <a:blip r:embed="rId1"/>
          <a:srcRect l="1854"/>
          <a:stretch>
            <a:fillRect/>
          </a:stretch>
        </p:blipFill>
        <p:spPr>
          <a:xfrm>
            <a:off x="7926705" y="418465"/>
            <a:ext cx="3931285" cy="6209665"/>
          </a:xfrm>
          <a:prstGeom prst="rect">
            <a:avLst/>
          </a:prstGeom>
          <a:noFill/>
          <a:ln>
            <a:noFill/>
          </a:ln>
        </p:spPr>
      </p:pic>
      <p:pic>
        <p:nvPicPr>
          <p:cNvPr id="196" name="Google Shape;196;p12"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2"/>
                                        </p:tgtEl>
                                        <p:attrNameLst>
                                          <p:attrName>style.visibility</p:attrName>
                                        </p:attrNameLst>
                                      </p:cBhvr>
                                      <p:to>
                                        <p:strVal val="visible"/>
                                      </p:to>
                                    </p:set>
                                    <p:animEffect transition="in" filter="fade">
                                      <p:cBhvr>
                                        <p:cTn id="7" dur="1000"/>
                                        <p:tgtEl>
                                          <p:spTgt spid="1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1"/>
                                        </p:tgtEl>
                                        <p:attrNameLst>
                                          <p:attrName>style.visibility</p:attrName>
                                        </p:attrNameLst>
                                      </p:cBhvr>
                                      <p:to>
                                        <p:strVal val="visible"/>
                                      </p:to>
                                    </p:set>
                                    <p:animEffect transition="in" filter="fade">
                                      <p:cBhvr>
                                        <p:cTn id="12" dur="1000"/>
                                        <p:tgtEl>
                                          <p:spTgt spid="19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5"/>
                                        </p:tgtEl>
                                        <p:attrNameLst>
                                          <p:attrName>style.visibility</p:attrName>
                                        </p:attrNameLst>
                                      </p:cBhvr>
                                      <p:to>
                                        <p:strVal val="visible"/>
                                      </p:to>
                                    </p:set>
                                    <p:animEffect transition="in" filter="fade">
                                      <p:cBhvr>
                                        <p:cTn id="17" dur="500"/>
                                        <p:tgtEl>
                                          <p:spTgt spid="1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00" name="Shape 200"/>
        <p:cNvGrpSpPr/>
        <p:nvPr/>
      </p:nvGrpSpPr>
      <p:grpSpPr>
        <a:xfrm>
          <a:off x="0" y="0"/>
          <a:ext cx="0" cy="0"/>
          <a:chOff x="0" y="0"/>
          <a:chExt cx="0" cy="0"/>
        </a:xfrm>
      </p:grpSpPr>
      <p:sp>
        <p:nvSpPr>
          <p:cNvPr id="201" name="Google Shape;201;p13"/>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02" name="Google Shape;202;p13"/>
          <p:cNvCxnSpPr/>
          <p:nvPr/>
        </p:nvCxnSpPr>
        <p:spPr>
          <a:xfrm>
            <a:off x="2122488" y="2667000"/>
            <a:ext cx="6432550" cy="26988"/>
          </a:xfrm>
          <a:prstGeom prst="straightConnector1">
            <a:avLst/>
          </a:prstGeom>
          <a:solidFill>
            <a:srgbClr val="EE6351"/>
          </a:solidFill>
          <a:ln>
            <a:noFill/>
          </a:ln>
        </p:spPr>
      </p:cxnSp>
      <p:cxnSp>
        <p:nvCxnSpPr>
          <p:cNvPr id="203" name="Google Shape;203;p13"/>
          <p:cNvCxnSpPr/>
          <p:nvPr/>
        </p:nvCxnSpPr>
        <p:spPr>
          <a:xfrm>
            <a:off x="2122488" y="4110038"/>
            <a:ext cx="4799013" cy="36513"/>
          </a:xfrm>
          <a:prstGeom prst="straightConnector1">
            <a:avLst/>
          </a:prstGeom>
          <a:solidFill>
            <a:srgbClr val="EE6351"/>
          </a:solidFill>
          <a:ln>
            <a:noFill/>
          </a:ln>
        </p:spPr>
      </p:cxnSp>
      <p:cxnSp>
        <p:nvCxnSpPr>
          <p:cNvPr id="204" name="Google Shape;204;p13"/>
          <p:cNvCxnSpPr/>
          <p:nvPr/>
        </p:nvCxnSpPr>
        <p:spPr>
          <a:xfrm>
            <a:off x="2093913" y="5627688"/>
            <a:ext cx="3194050" cy="1588"/>
          </a:xfrm>
          <a:prstGeom prst="straightConnector1">
            <a:avLst/>
          </a:prstGeom>
          <a:solidFill>
            <a:srgbClr val="EE6351"/>
          </a:solidFill>
          <a:ln>
            <a:noFill/>
          </a:ln>
        </p:spPr>
      </p:cxnSp>
      <p:sp>
        <p:nvSpPr>
          <p:cNvPr id="205" name="Google Shape;205;p13"/>
          <p:cNvSpPr txBox="1"/>
          <p:nvPr/>
        </p:nvSpPr>
        <p:spPr>
          <a:xfrm>
            <a:off x="739775" y="1570355"/>
            <a:ext cx="6950710" cy="478155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super.myFunction() calls the parent's version of the function from within the child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27940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This allows for both shared functionality (in the parent) and custom implementation (in the child).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27940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order of execution is determined by the placement of super.myFunction() within the child's function.</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06" name="Google Shape;206;p13"/>
          <p:cNvSpPr/>
          <p:nvPr/>
        </p:nvSpPr>
        <p:spPr>
          <a:xfrm>
            <a:off x="1009650" y="418465"/>
            <a:ext cx="108483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Super keyword</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07" name="Google Shape;207;p13"/>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8" name="Google Shape;208;p13"/>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09" name="Google Shape;209;p13" descr="key"/>
          <p:cNvPicPr preferRelativeResize="0"/>
          <p:nvPr/>
        </p:nvPicPr>
        <p:blipFill rotWithShape="1">
          <a:blip r:embed="rId1"/>
          <a:srcRect t="13222" b="3680"/>
          <a:stretch>
            <a:fillRect/>
          </a:stretch>
        </p:blipFill>
        <p:spPr>
          <a:xfrm>
            <a:off x="7933690" y="146685"/>
            <a:ext cx="4171315" cy="3282315"/>
          </a:xfrm>
          <a:prstGeom prst="rect">
            <a:avLst/>
          </a:prstGeom>
          <a:noFill/>
          <a:ln>
            <a:noFill/>
          </a:ln>
        </p:spPr>
      </p:pic>
      <p:pic>
        <p:nvPicPr>
          <p:cNvPr id="210" name="Google Shape;210;p13" descr="keyword"/>
          <p:cNvPicPr preferRelativeResize="0"/>
          <p:nvPr/>
        </p:nvPicPr>
        <p:blipFill rotWithShape="1">
          <a:blip r:embed="rId2"/>
          <a:srcRect t="13799" b="1951"/>
          <a:stretch>
            <a:fillRect/>
          </a:stretch>
        </p:blipFill>
        <p:spPr>
          <a:xfrm>
            <a:off x="7933690" y="3594100"/>
            <a:ext cx="4170680" cy="3126740"/>
          </a:xfrm>
          <a:prstGeom prst="rect">
            <a:avLst/>
          </a:prstGeom>
          <a:noFill/>
          <a:ln>
            <a:noFill/>
          </a:ln>
        </p:spPr>
      </p:pic>
      <p:pic>
        <p:nvPicPr>
          <p:cNvPr id="211" name="Google Shape;211;p13" descr="Aitrich Logo-02"/>
          <p:cNvPicPr preferRelativeResize="0"/>
          <p:nvPr/>
        </p:nvPicPr>
        <p:blipFill rotWithShape="1">
          <a:blip r:embed="rId3"/>
          <a:srcRect/>
          <a:stretch>
            <a:fillRect/>
          </a:stretch>
        </p:blipFill>
        <p:spPr>
          <a:xfrm>
            <a:off x="117475" y="-179070"/>
            <a:ext cx="1344000" cy="1008000"/>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6"/>
                                        </p:tgtEl>
                                        <p:attrNameLst>
                                          <p:attrName>style.visibility</p:attrName>
                                        </p:attrNameLst>
                                      </p:cBhvr>
                                      <p:to>
                                        <p:strVal val="visible"/>
                                      </p:to>
                                    </p:set>
                                    <p:animEffect transition="in" filter="fade">
                                      <p:cBhvr>
                                        <p:cTn id="7" dur="1000"/>
                                        <p:tgtEl>
                                          <p:spTgt spid="2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5"/>
                                        </p:tgtEl>
                                        <p:attrNameLst>
                                          <p:attrName>style.visibility</p:attrName>
                                        </p:attrNameLst>
                                      </p:cBhvr>
                                      <p:to>
                                        <p:strVal val="visible"/>
                                      </p:to>
                                    </p:set>
                                    <p:animEffect transition="in" filter="fade">
                                      <p:cBhvr>
                                        <p:cTn id="12" dur="1000"/>
                                        <p:tgtEl>
                                          <p:spTgt spid="20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9"/>
                                        </p:tgtEl>
                                        <p:attrNameLst>
                                          <p:attrName>style.visibility</p:attrName>
                                        </p:attrNameLst>
                                      </p:cBhvr>
                                      <p:to>
                                        <p:strVal val="visible"/>
                                      </p:to>
                                    </p:set>
                                    <p:animEffect transition="in" filter="fade">
                                      <p:cBhvr>
                                        <p:cTn id="17" dur="500"/>
                                        <p:tgtEl>
                                          <p:spTgt spid="209"/>
                                        </p:tgtEl>
                                      </p:cBhvr>
                                    </p:animEffect>
                                  </p:childTnLst>
                                </p:cTn>
                              </p:par>
                              <p:par>
                                <p:cTn id="18" presetID="10" presetClass="entr" presetSubtype="0" fill="hold" nodeType="withEffect">
                                  <p:stCondLst>
                                    <p:cond delay="0"/>
                                  </p:stCondLst>
                                  <p:childTnLst>
                                    <p:set>
                                      <p:cBhvr>
                                        <p:cTn id="19" dur="1" fill="hold">
                                          <p:stCondLst>
                                            <p:cond delay="0"/>
                                          </p:stCondLst>
                                        </p:cTn>
                                        <p:tgtEl>
                                          <p:spTgt spid="210"/>
                                        </p:tgtEl>
                                        <p:attrNameLst>
                                          <p:attrName>style.visibility</p:attrName>
                                        </p:attrNameLst>
                                      </p:cBhvr>
                                      <p:to>
                                        <p:strVal val="visible"/>
                                      </p:to>
                                    </p:set>
                                    <p:animEffect transition="in" filter="fade">
                                      <p:cBhvr>
                                        <p:cTn id="20" dur="500"/>
                                        <p:tgtEl>
                                          <p:spTgt spid="21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29" name="Shape 229"/>
        <p:cNvGrpSpPr/>
        <p:nvPr/>
      </p:nvGrpSpPr>
      <p:grpSpPr>
        <a:xfrm>
          <a:off x="0" y="0"/>
          <a:ext cx="0" cy="0"/>
          <a:chOff x="0" y="0"/>
          <a:chExt cx="0" cy="0"/>
        </a:xfrm>
      </p:grpSpPr>
      <p:sp>
        <p:nvSpPr>
          <p:cNvPr id="230" name="Google Shape;230;p15"/>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31" name="Google Shape;231;p15"/>
          <p:cNvCxnSpPr/>
          <p:nvPr/>
        </p:nvCxnSpPr>
        <p:spPr>
          <a:xfrm>
            <a:off x="2122488" y="2667000"/>
            <a:ext cx="6432550" cy="26988"/>
          </a:xfrm>
          <a:prstGeom prst="straightConnector1">
            <a:avLst/>
          </a:prstGeom>
          <a:solidFill>
            <a:srgbClr val="EE6351"/>
          </a:solidFill>
          <a:ln>
            <a:noFill/>
          </a:ln>
        </p:spPr>
      </p:cxnSp>
      <p:cxnSp>
        <p:nvCxnSpPr>
          <p:cNvPr id="232" name="Google Shape;232;p15"/>
          <p:cNvCxnSpPr/>
          <p:nvPr/>
        </p:nvCxnSpPr>
        <p:spPr>
          <a:xfrm>
            <a:off x="2122488" y="4110038"/>
            <a:ext cx="4799013" cy="36513"/>
          </a:xfrm>
          <a:prstGeom prst="straightConnector1">
            <a:avLst/>
          </a:prstGeom>
          <a:solidFill>
            <a:srgbClr val="EE6351"/>
          </a:solidFill>
          <a:ln>
            <a:noFill/>
          </a:ln>
        </p:spPr>
      </p:cxnSp>
      <p:cxnSp>
        <p:nvCxnSpPr>
          <p:cNvPr id="233" name="Google Shape;233;p15"/>
          <p:cNvCxnSpPr/>
          <p:nvPr/>
        </p:nvCxnSpPr>
        <p:spPr>
          <a:xfrm>
            <a:off x="2093913" y="5627688"/>
            <a:ext cx="3194050" cy="1588"/>
          </a:xfrm>
          <a:prstGeom prst="straightConnector1">
            <a:avLst/>
          </a:prstGeom>
          <a:solidFill>
            <a:srgbClr val="EE6351"/>
          </a:solidFill>
          <a:ln>
            <a:noFill/>
          </a:ln>
        </p:spPr>
      </p:cxnSp>
      <p:sp>
        <p:nvSpPr>
          <p:cNvPr id="234" name="Google Shape;234;p15"/>
          <p:cNvSpPr txBox="1"/>
          <p:nvPr/>
        </p:nvSpPr>
        <p:spPr>
          <a:xfrm>
            <a:off x="739775" y="1241425"/>
            <a:ext cx="7629525" cy="511048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Noto Sans Symbols"/>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Method</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To make a method abstract, use semicolon (;)Instead of method body</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method can only exit with Abstract 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You need to override Abstract methods in subclass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Noto Sans Symbols"/>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Use abstract keyword to declare Abstract Class.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Abstract class can have Abstract Methods, Normal Methods and Instance Variables as well</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FBB64"/>
              </a:buClr>
              <a:buSzPts val="2400"/>
              <a:buFont typeface="Arial" panose="020B0604020202020204"/>
              <a:buChar char="•"/>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Abstract Class cannot be instantiated, you cannot create objects. But can be inherited</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35" name="Google Shape;235;p15"/>
          <p:cNvSpPr/>
          <p:nvPr/>
        </p:nvSpPr>
        <p:spPr>
          <a:xfrm>
            <a:off x="1009650" y="418465"/>
            <a:ext cx="6923405"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Abstract class and method</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36" name="Google Shape;236;p15"/>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37" name="Google Shape;237;p15"/>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38" name="Google Shape;238;p15" descr="ab"/>
          <p:cNvPicPr preferRelativeResize="0"/>
          <p:nvPr/>
        </p:nvPicPr>
        <p:blipFill rotWithShape="1">
          <a:blip r:embed="rId1"/>
          <a:srcRect/>
          <a:stretch>
            <a:fillRect/>
          </a:stretch>
        </p:blipFill>
        <p:spPr>
          <a:xfrm>
            <a:off x="8244205" y="288290"/>
            <a:ext cx="3774440" cy="6363335"/>
          </a:xfrm>
          <a:prstGeom prst="rect">
            <a:avLst/>
          </a:prstGeom>
          <a:noFill/>
          <a:ln>
            <a:noFill/>
          </a:ln>
        </p:spPr>
      </p:pic>
      <p:pic>
        <p:nvPicPr>
          <p:cNvPr id="239" name="Google Shape;239;p15"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5"/>
                                        </p:tgtEl>
                                        <p:attrNameLst>
                                          <p:attrName>style.visibility</p:attrName>
                                        </p:attrNameLst>
                                      </p:cBhvr>
                                      <p:to>
                                        <p:strVal val="visible"/>
                                      </p:to>
                                    </p:set>
                                    <p:animEffect transition="in" filter="fade">
                                      <p:cBhvr>
                                        <p:cTn id="7" dur="1000"/>
                                        <p:tgtEl>
                                          <p:spTgt spid="2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4"/>
                                        </p:tgtEl>
                                        <p:attrNameLst>
                                          <p:attrName>style.visibility</p:attrName>
                                        </p:attrNameLst>
                                      </p:cBhvr>
                                      <p:to>
                                        <p:strVal val="visible"/>
                                      </p:to>
                                    </p:set>
                                    <p:animEffect transition="in" filter="fade">
                                      <p:cBhvr>
                                        <p:cTn id="12" dur="1000"/>
                                        <p:tgtEl>
                                          <p:spTgt spid="2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8"/>
                                        </p:tgtEl>
                                        <p:attrNameLst>
                                          <p:attrName>style.visibility</p:attrName>
                                        </p:attrNameLst>
                                      </p:cBhvr>
                                      <p:to>
                                        <p:strVal val="visible"/>
                                      </p:to>
                                    </p:set>
                                    <p:animEffect transition="in" filter="fade">
                                      <p:cBhvr>
                                        <p:cTn id="17" dur="500"/>
                                        <p:tgtEl>
                                          <p:spTgt spid="2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15" name="Shape 215"/>
        <p:cNvGrpSpPr/>
        <p:nvPr/>
      </p:nvGrpSpPr>
      <p:grpSpPr>
        <a:xfrm>
          <a:off x="0" y="0"/>
          <a:ext cx="0" cy="0"/>
          <a:chOff x="0" y="0"/>
          <a:chExt cx="0" cy="0"/>
        </a:xfrm>
      </p:grpSpPr>
      <p:sp>
        <p:nvSpPr>
          <p:cNvPr id="216" name="Google Shape;216;p14"/>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17" name="Google Shape;217;p14"/>
          <p:cNvCxnSpPr/>
          <p:nvPr/>
        </p:nvCxnSpPr>
        <p:spPr>
          <a:xfrm>
            <a:off x="2122488" y="2667000"/>
            <a:ext cx="6432550" cy="26988"/>
          </a:xfrm>
          <a:prstGeom prst="straightConnector1">
            <a:avLst/>
          </a:prstGeom>
          <a:solidFill>
            <a:srgbClr val="EE6351"/>
          </a:solidFill>
          <a:ln>
            <a:noFill/>
          </a:ln>
        </p:spPr>
      </p:cxnSp>
      <p:cxnSp>
        <p:nvCxnSpPr>
          <p:cNvPr id="218" name="Google Shape;218;p14"/>
          <p:cNvCxnSpPr/>
          <p:nvPr/>
        </p:nvCxnSpPr>
        <p:spPr>
          <a:xfrm>
            <a:off x="2122488" y="4110038"/>
            <a:ext cx="4799013" cy="36513"/>
          </a:xfrm>
          <a:prstGeom prst="straightConnector1">
            <a:avLst/>
          </a:prstGeom>
          <a:solidFill>
            <a:srgbClr val="EE6351"/>
          </a:solidFill>
          <a:ln>
            <a:noFill/>
          </a:ln>
        </p:spPr>
      </p:cxnSp>
      <p:cxnSp>
        <p:nvCxnSpPr>
          <p:cNvPr id="219" name="Google Shape;219;p14"/>
          <p:cNvCxnSpPr/>
          <p:nvPr/>
        </p:nvCxnSpPr>
        <p:spPr>
          <a:xfrm>
            <a:off x="2093913" y="5627688"/>
            <a:ext cx="3194050" cy="1588"/>
          </a:xfrm>
          <a:prstGeom prst="straightConnector1">
            <a:avLst/>
          </a:prstGeom>
          <a:solidFill>
            <a:srgbClr val="EE6351"/>
          </a:solidFill>
          <a:ln>
            <a:noFill/>
          </a:ln>
        </p:spPr>
      </p:cxnSp>
      <p:sp>
        <p:nvSpPr>
          <p:cNvPr id="220" name="Google Shape;220;p14"/>
          <p:cNvSpPr txBox="1"/>
          <p:nvPr/>
        </p:nvSpPr>
        <p:spPr>
          <a:xfrm>
            <a:off x="739775" y="1570355"/>
            <a:ext cx="6950710" cy="47815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Polymorphism is the ability of an object to take many forms.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There are two types of polymorphism</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Compile time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Run time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800"/>
              <a:buFont typeface="Arial" panose="020B0604020202020204"/>
              <a:buNone/>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The example here shows the ability of an object name obj to take many forms.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21" name="Google Shape;221;p14"/>
          <p:cNvSpPr/>
          <p:nvPr/>
        </p:nvSpPr>
        <p:spPr>
          <a:xfrm>
            <a:off x="1009650" y="418465"/>
            <a:ext cx="6174740"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Polymorphism </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22" name="Google Shape;222;p14"/>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23" name="Google Shape;223;p14"/>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24" name="Google Shape;224;p14" descr="poly"/>
          <p:cNvPicPr preferRelativeResize="0"/>
          <p:nvPr/>
        </p:nvPicPr>
        <p:blipFill rotWithShape="1">
          <a:blip r:embed="rId1"/>
          <a:srcRect l="2908" r="3163"/>
          <a:stretch>
            <a:fillRect/>
          </a:stretch>
        </p:blipFill>
        <p:spPr>
          <a:xfrm>
            <a:off x="7263130" y="277495"/>
            <a:ext cx="4656455" cy="6303010"/>
          </a:xfrm>
          <a:prstGeom prst="rect">
            <a:avLst/>
          </a:prstGeom>
          <a:noFill/>
          <a:ln>
            <a:noFill/>
          </a:ln>
        </p:spPr>
      </p:pic>
      <p:pic>
        <p:nvPicPr>
          <p:cNvPr id="225" name="Google Shape;225;p14"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1000"/>
                                        <p:tgtEl>
                                          <p:spTgt spid="2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0"/>
                                        </p:tgtEl>
                                        <p:attrNameLst>
                                          <p:attrName>style.visibility</p:attrName>
                                        </p:attrNameLst>
                                      </p:cBhvr>
                                      <p:to>
                                        <p:strVal val="visible"/>
                                      </p:to>
                                    </p:set>
                                    <p:animEffect transition="in" filter="fade">
                                      <p:cBhvr>
                                        <p:cTn id="12" dur="1000"/>
                                        <p:tgtEl>
                                          <p:spTgt spid="2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4"/>
                                        </p:tgtEl>
                                        <p:attrNameLst>
                                          <p:attrName>style.visibility</p:attrName>
                                        </p:attrNameLst>
                                      </p:cBhvr>
                                      <p:to>
                                        <p:strVal val="visible"/>
                                      </p:to>
                                    </p:set>
                                    <p:animEffect transition="in" filter="fade">
                                      <p:cBhvr>
                                        <p:cTn id="17" dur="500"/>
                                        <p:tgtEl>
                                          <p:spTgt spid="2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43" name="Shape 243"/>
        <p:cNvGrpSpPr/>
        <p:nvPr/>
      </p:nvGrpSpPr>
      <p:grpSpPr>
        <a:xfrm>
          <a:off x="0" y="0"/>
          <a:ext cx="0" cy="0"/>
          <a:chOff x="0" y="0"/>
          <a:chExt cx="0" cy="0"/>
        </a:xfrm>
      </p:grpSpPr>
      <p:sp>
        <p:nvSpPr>
          <p:cNvPr id="244" name="Google Shape;244;p16"/>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45" name="Google Shape;245;p16"/>
          <p:cNvCxnSpPr/>
          <p:nvPr/>
        </p:nvCxnSpPr>
        <p:spPr>
          <a:xfrm>
            <a:off x="2122488" y="2667000"/>
            <a:ext cx="6432550" cy="26988"/>
          </a:xfrm>
          <a:prstGeom prst="straightConnector1">
            <a:avLst/>
          </a:prstGeom>
          <a:solidFill>
            <a:srgbClr val="EE6351"/>
          </a:solidFill>
          <a:ln>
            <a:noFill/>
          </a:ln>
        </p:spPr>
      </p:cxnSp>
      <p:cxnSp>
        <p:nvCxnSpPr>
          <p:cNvPr id="246" name="Google Shape;246;p16"/>
          <p:cNvCxnSpPr/>
          <p:nvPr/>
        </p:nvCxnSpPr>
        <p:spPr>
          <a:xfrm>
            <a:off x="2122488" y="4110038"/>
            <a:ext cx="4799013" cy="36513"/>
          </a:xfrm>
          <a:prstGeom prst="straightConnector1">
            <a:avLst/>
          </a:prstGeom>
          <a:solidFill>
            <a:srgbClr val="EE6351"/>
          </a:solidFill>
          <a:ln>
            <a:noFill/>
          </a:ln>
        </p:spPr>
      </p:cxnSp>
      <p:cxnSp>
        <p:nvCxnSpPr>
          <p:cNvPr id="247" name="Google Shape;247;p16"/>
          <p:cNvCxnSpPr/>
          <p:nvPr/>
        </p:nvCxnSpPr>
        <p:spPr>
          <a:xfrm>
            <a:off x="2093913" y="5627688"/>
            <a:ext cx="3194050" cy="1588"/>
          </a:xfrm>
          <a:prstGeom prst="straightConnector1">
            <a:avLst/>
          </a:prstGeom>
          <a:solidFill>
            <a:srgbClr val="EE6351"/>
          </a:solidFill>
          <a:ln>
            <a:noFill/>
          </a:ln>
        </p:spPr>
      </p:cxnSp>
      <p:sp>
        <p:nvSpPr>
          <p:cNvPr id="248" name="Google Shape;248;p16"/>
          <p:cNvSpPr txBox="1"/>
          <p:nvPr/>
        </p:nvSpPr>
        <p:spPr>
          <a:xfrm>
            <a:off x="739775" y="1127760"/>
            <a:ext cx="7629525" cy="5552440"/>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Dart does not have special syntax to declare INTERFACE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An INTERFACE in dart is Normal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An INTERFACE is used when you need concrete implementation of all its function within the subclass, it is mandatory to override all methods in implementing class.</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FBB64"/>
              </a:buClr>
              <a:buSzPts val="2800"/>
              <a:buFont typeface="Arial" panose="020B0604020202020204"/>
              <a:buChar char="•"/>
            </a:pPr>
            <a:r>
              <a:rPr lang="en-US" sz="2800" b="0" i="0" u="none" strike="noStrike" cap="none">
                <a:solidFill>
                  <a:srgbClr val="DFBB64"/>
                </a:solidFill>
                <a:latin typeface="Calibri" panose="020F0502020204030204"/>
                <a:ea typeface="Calibri" panose="020F0502020204030204"/>
                <a:cs typeface="Calibri" panose="020F0502020204030204"/>
                <a:sym typeface="Calibri" panose="020F0502020204030204"/>
              </a:rPr>
              <a:t>You can implement multiple classes but you cannot extend multiple classes during inheritance.</a:t>
            </a: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dk1"/>
              </a:buClr>
              <a:buSzPts val="2800"/>
              <a:buFont typeface="Arial" panose="020B0604020202020204"/>
              <a:buNone/>
            </a:pPr>
            <a:endParaRPr sz="28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FBB64"/>
              </a:buClr>
              <a:buSzPts val="2400"/>
              <a:buFont typeface="Arial" panose="020B060402020202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(Interface importance comes in flutter when we go to cross platforms)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49" name="Google Shape;249;p16"/>
          <p:cNvSpPr/>
          <p:nvPr/>
        </p:nvSpPr>
        <p:spPr>
          <a:xfrm>
            <a:off x="1009650" y="418465"/>
            <a:ext cx="6923405" cy="975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Interface</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50" name="Google Shape;250;p16"/>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51" name="Google Shape;251;p16"/>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53" name="Google Shape;253;p16" descr="Aitrich Logo_Artboard 4"/>
          <p:cNvPicPr preferRelativeResize="0"/>
          <p:nvPr/>
        </p:nvPicPr>
        <p:blipFill rotWithShape="1">
          <a:blip r:embed="rId1"/>
          <a:srcRect/>
          <a:stretch>
            <a:fillRect/>
          </a:stretch>
        </p:blipFill>
        <p:spPr>
          <a:xfrm>
            <a:off x="74295" y="-90170"/>
            <a:ext cx="1275715" cy="956945"/>
          </a:xfrm>
          <a:prstGeom prst="rect">
            <a:avLst/>
          </a:prstGeom>
          <a:noFill/>
          <a:ln>
            <a:noFill/>
          </a:ln>
        </p:spPr>
      </p:pic>
      <p:pic>
        <p:nvPicPr>
          <p:cNvPr id="2" name="Picture 1" descr="interface"/>
          <p:cNvPicPr>
            <a:picLocks noChangeAspect="1"/>
          </p:cNvPicPr>
          <p:nvPr/>
        </p:nvPicPr>
        <p:blipFill>
          <a:blip r:embed="rId2"/>
          <a:srcRect r="3333"/>
          <a:stretch>
            <a:fillRect/>
          </a:stretch>
        </p:blipFill>
        <p:spPr>
          <a:xfrm>
            <a:off x="8555990" y="781050"/>
            <a:ext cx="3195320" cy="567182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9"/>
                                        </p:tgtEl>
                                        <p:attrNameLst>
                                          <p:attrName>style.visibility</p:attrName>
                                        </p:attrNameLst>
                                      </p:cBhvr>
                                      <p:to>
                                        <p:strVal val="visible"/>
                                      </p:to>
                                    </p:set>
                                    <p:animEffect transition="in" filter="fade">
                                      <p:cBhvr>
                                        <p:cTn id="7" dur="1000"/>
                                        <p:tgtEl>
                                          <p:spTgt spid="24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8"/>
                                        </p:tgtEl>
                                        <p:attrNameLst>
                                          <p:attrName>style.visibility</p:attrName>
                                        </p:attrNameLst>
                                      </p:cBhvr>
                                      <p:to>
                                        <p:strVal val="visible"/>
                                      </p:to>
                                    </p:set>
                                    <p:animEffect transition="in" filter="fade">
                                      <p:cBhvr>
                                        <p:cTn id="12" dur="1000"/>
                                        <p:tgtEl>
                                          <p:spTgt spid="2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57" name="Shape 257"/>
        <p:cNvGrpSpPr/>
        <p:nvPr/>
      </p:nvGrpSpPr>
      <p:grpSpPr>
        <a:xfrm>
          <a:off x="0" y="0"/>
          <a:ext cx="0" cy="0"/>
          <a:chOff x="0" y="0"/>
          <a:chExt cx="0" cy="0"/>
        </a:xfrm>
      </p:grpSpPr>
      <p:sp>
        <p:nvSpPr>
          <p:cNvPr id="258" name="Google Shape;258;p17"/>
          <p:cNvSpPr/>
          <p:nvPr/>
        </p:nvSpPr>
        <p:spPr>
          <a:xfrm>
            <a:off x="0" y="0"/>
            <a:ext cx="12192000" cy="6858000"/>
          </a:xfrm>
          <a:prstGeom prst="rect">
            <a:avLst/>
          </a:prstGeom>
          <a:solidFill>
            <a:srgbClr val="383838"/>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cxnSp>
        <p:nvCxnSpPr>
          <p:cNvPr id="259" name="Google Shape;259;p17"/>
          <p:cNvCxnSpPr/>
          <p:nvPr/>
        </p:nvCxnSpPr>
        <p:spPr>
          <a:xfrm>
            <a:off x="2122488" y="2667000"/>
            <a:ext cx="6432550" cy="26988"/>
          </a:xfrm>
          <a:prstGeom prst="straightConnector1">
            <a:avLst/>
          </a:prstGeom>
          <a:solidFill>
            <a:srgbClr val="EE6351"/>
          </a:solidFill>
          <a:ln>
            <a:noFill/>
          </a:ln>
        </p:spPr>
      </p:cxnSp>
      <p:cxnSp>
        <p:nvCxnSpPr>
          <p:cNvPr id="260" name="Google Shape;260;p17"/>
          <p:cNvCxnSpPr/>
          <p:nvPr/>
        </p:nvCxnSpPr>
        <p:spPr>
          <a:xfrm>
            <a:off x="2122488" y="4110038"/>
            <a:ext cx="4799013" cy="36513"/>
          </a:xfrm>
          <a:prstGeom prst="straightConnector1">
            <a:avLst/>
          </a:prstGeom>
          <a:solidFill>
            <a:srgbClr val="EE6351"/>
          </a:solidFill>
          <a:ln>
            <a:noFill/>
          </a:ln>
        </p:spPr>
      </p:cxnSp>
      <p:cxnSp>
        <p:nvCxnSpPr>
          <p:cNvPr id="261" name="Google Shape;261;p17"/>
          <p:cNvCxnSpPr/>
          <p:nvPr/>
        </p:nvCxnSpPr>
        <p:spPr>
          <a:xfrm>
            <a:off x="2093913" y="5627688"/>
            <a:ext cx="3194050" cy="1588"/>
          </a:xfrm>
          <a:prstGeom prst="straightConnector1">
            <a:avLst/>
          </a:prstGeom>
          <a:solidFill>
            <a:srgbClr val="EE6351"/>
          </a:solidFill>
          <a:ln>
            <a:noFill/>
          </a:ln>
        </p:spPr>
      </p:cxnSp>
      <p:sp>
        <p:nvSpPr>
          <p:cNvPr id="262" name="Google Shape;262;p17"/>
          <p:cNvSpPr/>
          <p:nvPr/>
        </p:nvSpPr>
        <p:spPr>
          <a:xfrm>
            <a:off x="4794250" y="1790700"/>
            <a:ext cx="919163" cy="919163"/>
          </a:xfrm>
          <a:prstGeom prst="ellipse">
            <a:avLst/>
          </a:prstGeom>
          <a:solidFill>
            <a:srgbClr val="DFBB64">
              <a:alpha val="80000"/>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800"/>
              <a:buFont typeface="Calibri" panose="020F0502020204030204"/>
              <a:buNone/>
            </a:pPr>
            <a:r>
              <a:rPr lang="en-US" sz="2800" b="1" i="0" u="none" strike="noStrike" cap="none">
                <a:solidFill>
                  <a:srgbClr val="FFFFFF"/>
                </a:solidFill>
                <a:latin typeface="Calibri" panose="020F0502020204030204"/>
                <a:ea typeface="Calibri" panose="020F0502020204030204"/>
                <a:cs typeface="Calibri" panose="020F0502020204030204"/>
                <a:sym typeface="Calibri" panose="020F0502020204030204"/>
              </a:rPr>
              <a:t>A</a:t>
            </a:r>
            <a:endParaRPr sz="2800" b="1"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sp>
        <p:nvSpPr>
          <p:cNvPr id="263" name="Google Shape;263;p17"/>
          <p:cNvSpPr/>
          <p:nvPr/>
        </p:nvSpPr>
        <p:spPr>
          <a:xfrm>
            <a:off x="5713413" y="3448050"/>
            <a:ext cx="919163" cy="919163"/>
          </a:xfrm>
          <a:prstGeom prst="ellipse">
            <a:avLst/>
          </a:prstGeom>
          <a:solidFill>
            <a:srgbClr val="DFBB64">
              <a:alpha val="80000"/>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2800"/>
              <a:buFont typeface="Calibri" panose="020F0502020204030204"/>
              <a:buNone/>
            </a:pPr>
            <a:r>
              <a:rPr lang="en-US" sz="2800" b="1" i="0" u="none" strike="noStrike" cap="none">
                <a:solidFill>
                  <a:schemeClr val="lt1"/>
                </a:solidFill>
                <a:latin typeface="Calibri" panose="020F0502020204030204"/>
                <a:ea typeface="Calibri" panose="020F0502020204030204"/>
                <a:cs typeface="Calibri" panose="020F0502020204030204"/>
                <a:sym typeface="Calibri" panose="020F0502020204030204"/>
              </a:rPr>
              <a:t>B</a:t>
            </a:r>
            <a:endParaRPr sz="2800" b="1"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64" name="Google Shape;264;p17"/>
          <p:cNvSpPr/>
          <p:nvPr/>
        </p:nvSpPr>
        <p:spPr>
          <a:xfrm>
            <a:off x="4794250" y="5105400"/>
            <a:ext cx="919163" cy="917575"/>
          </a:xfrm>
          <a:prstGeom prst="ellipse">
            <a:avLst/>
          </a:prstGeom>
          <a:solidFill>
            <a:srgbClr val="DFBB64">
              <a:alpha val="80000"/>
            </a:srgb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800"/>
              <a:buFont typeface="Calibri" panose="020F0502020204030204"/>
              <a:buNone/>
            </a:pPr>
            <a:r>
              <a:rPr lang="en-US" sz="2800" b="1" i="0" u="none" strike="noStrike" cap="none">
                <a:solidFill>
                  <a:srgbClr val="FFFFFF"/>
                </a:solidFill>
                <a:latin typeface="Calibri" panose="020F0502020204030204"/>
                <a:ea typeface="Calibri" panose="020F0502020204030204"/>
                <a:cs typeface="Calibri" panose="020F0502020204030204"/>
                <a:sym typeface="Calibri" panose="020F0502020204030204"/>
              </a:rPr>
              <a:t>C</a:t>
            </a:r>
            <a:endParaRPr sz="2800" b="1" i="0" u="none" strike="noStrike" cap="none">
              <a:solidFill>
                <a:srgbClr val="FFFFFF"/>
              </a:solidFill>
              <a:latin typeface="Calibri" panose="020F0502020204030204"/>
              <a:ea typeface="Calibri" panose="020F0502020204030204"/>
              <a:cs typeface="Calibri" panose="020F0502020204030204"/>
              <a:sym typeface="Calibri" panose="020F0502020204030204"/>
            </a:endParaRPr>
          </a:p>
        </p:txBody>
      </p:sp>
      <p:cxnSp>
        <p:nvCxnSpPr>
          <p:cNvPr id="265" name="Google Shape;265;p17"/>
          <p:cNvCxnSpPr/>
          <p:nvPr/>
        </p:nvCxnSpPr>
        <p:spPr>
          <a:xfrm rot="10800000" flipH="1">
            <a:off x="3810000" y="2527300"/>
            <a:ext cx="812800" cy="482600"/>
          </a:xfrm>
          <a:prstGeom prst="straightConnector1">
            <a:avLst/>
          </a:prstGeom>
          <a:noFill/>
          <a:ln w="28575" cap="flat" cmpd="sng">
            <a:solidFill>
              <a:srgbClr val="DFBB64">
                <a:alpha val="49803"/>
              </a:srgbClr>
            </a:solidFill>
            <a:prstDash val="solid"/>
            <a:miter lim="800000"/>
            <a:headEnd type="none" w="sm" len="sm"/>
            <a:tailEnd type="none" w="sm" len="sm"/>
          </a:ln>
        </p:spPr>
      </p:cxnSp>
      <p:cxnSp>
        <p:nvCxnSpPr>
          <p:cNvPr id="266" name="Google Shape;266;p17"/>
          <p:cNvCxnSpPr/>
          <p:nvPr/>
        </p:nvCxnSpPr>
        <p:spPr>
          <a:xfrm>
            <a:off x="4044950" y="3906838"/>
            <a:ext cx="1460500" cy="0"/>
          </a:xfrm>
          <a:prstGeom prst="straightConnector1">
            <a:avLst/>
          </a:prstGeom>
          <a:noFill/>
          <a:ln w="28575" cap="flat" cmpd="sng">
            <a:solidFill>
              <a:srgbClr val="DFBB64">
                <a:alpha val="49803"/>
              </a:srgbClr>
            </a:solidFill>
            <a:prstDash val="solid"/>
            <a:miter lim="800000"/>
            <a:headEnd type="none" w="sm" len="sm"/>
            <a:tailEnd type="none" w="sm" len="sm"/>
          </a:ln>
        </p:spPr>
      </p:cxnSp>
      <p:cxnSp>
        <p:nvCxnSpPr>
          <p:cNvPr id="267" name="Google Shape;267;p17"/>
          <p:cNvCxnSpPr/>
          <p:nvPr/>
        </p:nvCxnSpPr>
        <p:spPr>
          <a:xfrm>
            <a:off x="3810000" y="4805363"/>
            <a:ext cx="812800" cy="482600"/>
          </a:xfrm>
          <a:prstGeom prst="straightConnector1">
            <a:avLst/>
          </a:prstGeom>
          <a:noFill/>
          <a:ln w="28575" cap="flat" cmpd="sng">
            <a:solidFill>
              <a:srgbClr val="DFBB64">
                <a:alpha val="49803"/>
              </a:srgbClr>
            </a:solidFill>
            <a:prstDash val="solid"/>
            <a:miter lim="800000"/>
            <a:headEnd type="none" w="sm" len="sm"/>
            <a:tailEnd type="none" w="sm" len="sm"/>
          </a:ln>
        </p:spPr>
      </p:cxnSp>
      <p:sp>
        <p:nvSpPr>
          <p:cNvPr id="268" name="Google Shape;268;p17"/>
          <p:cNvSpPr txBox="1"/>
          <p:nvPr/>
        </p:nvSpPr>
        <p:spPr>
          <a:xfrm>
            <a:off x="6007735" y="1795145"/>
            <a:ext cx="5854700"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Write clean, readable, and maintainable Dart code by following best practices.</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69" name="Google Shape;269;p17"/>
          <p:cNvSpPr txBox="1"/>
          <p:nvPr/>
        </p:nvSpPr>
        <p:spPr>
          <a:xfrm>
            <a:off x="6804025" y="3448050"/>
            <a:ext cx="5177155"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Employing effective naming conventions, code formatting, and documentation</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sp>
        <p:nvSpPr>
          <p:cNvPr id="270" name="Google Shape;270;p17"/>
          <p:cNvSpPr/>
          <p:nvPr/>
        </p:nvSpPr>
        <p:spPr>
          <a:xfrm>
            <a:off x="916940" y="417830"/>
            <a:ext cx="11064240" cy="121221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Effective Dart: Writing Clean and Maintainable Code</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71" name="Google Shape;271;p17"/>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72" name="Google Shape;272;p17"/>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73" name="Google Shape;273;p17" descr="Dart_logo"/>
          <p:cNvPicPr preferRelativeResize="0"/>
          <p:nvPr/>
        </p:nvPicPr>
        <p:blipFill rotWithShape="1">
          <a:blip r:embed="rId1"/>
          <a:srcRect/>
          <a:stretch>
            <a:fillRect/>
          </a:stretch>
        </p:blipFill>
        <p:spPr>
          <a:xfrm>
            <a:off x="916940" y="3014345"/>
            <a:ext cx="1791335" cy="1791335"/>
          </a:xfrm>
          <a:prstGeom prst="rect">
            <a:avLst/>
          </a:prstGeom>
          <a:noFill/>
          <a:ln>
            <a:noFill/>
          </a:ln>
        </p:spPr>
      </p:pic>
      <p:sp>
        <p:nvSpPr>
          <p:cNvPr id="274" name="Google Shape;274;p17"/>
          <p:cNvSpPr txBox="1"/>
          <p:nvPr/>
        </p:nvSpPr>
        <p:spPr>
          <a:xfrm>
            <a:off x="5944235" y="5190490"/>
            <a:ext cx="6106795" cy="82994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DFBB64"/>
              </a:buClr>
              <a:buSzPts val="2400"/>
              <a:buFont typeface="Calibri" panose="020F0502020204030204"/>
              <a:buNone/>
            </a:pPr>
            <a:r>
              <a:rPr lang="en-US" sz="2400" b="0" i="0" u="none" strike="noStrike" cap="none">
                <a:solidFill>
                  <a:srgbClr val="DFBB64"/>
                </a:solidFill>
                <a:latin typeface="Calibri" panose="020F0502020204030204"/>
                <a:ea typeface="Calibri" panose="020F0502020204030204"/>
                <a:cs typeface="Calibri" panose="020F0502020204030204"/>
                <a:sym typeface="Calibri" panose="020F0502020204030204"/>
              </a:rPr>
              <a:t>Utilizing code review processes to refine code quality and consistency</a:t>
            </a:r>
            <a:endParaRPr sz="2400" b="0" i="0" u="none" strike="noStrike" cap="none">
              <a:solidFill>
                <a:srgbClr val="DFBB64"/>
              </a:solidFill>
              <a:latin typeface="Calibri" panose="020F0502020204030204"/>
              <a:ea typeface="Calibri" panose="020F0502020204030204"/>
              <a:cs typeface="Calibri" panose="020F0502020204030204"/>
              <a:sym typeface="Calibri" panose="020F0502020204030204"/>
            </a:endParaRPr>
          </a:p>
        </p:txBody>
      </p:sp>
      <p:pic>
        <p:nvPicPr>
          <p:cNvPr id="275" name="Google Shape;275;p17" descr="Aitrich Logo_Artboard 4"/>
          <p:cNvPicPr preferRelativeResize="0"/>
          <p:nvPr/>
        </p:nvPicPr>
        <p:blipFill rotWithShape="1">
          <a:blip r:embed="rId2"/>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0"/>
                                        </p:tgtEl>
                                        <p:attrNameLst>
                                          <p:attrName>style.visibility</p:attrName>
                                        </p:attrNameLst>
                                      </p:cBhvr>
                                      <p:to>
                                        <p:strVal val="visible"/>
                                      </p:to>
                                    </p:set>
                                    <p:animEffect transition="in" filter="fade">
                                      <p:cBhvr>
                                        <p:cTn id="7" dur="1000"/>
                                        <p:tgtEl>
                                          <p:spTgt spid="2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3"/>
                                        </p:tgtEl>
                                        <p:attrNameLst>
                                          <p:attrName>style.visibility</p:attrName>
                                        </p:attrNameLst>
                                      </p:cBhvr>
                                      <p:to>
                                        <p:strVal val="visible"/>
                                      </p:to>
                                    </p:set>
                                    <p:animEffect transition="in" filter="fade">
                                      <p:cBhvr>
                                        <p:cTn id="12" dur="500"/>
                                        <p:tgtEl>
                                          <p:spTgt spid="2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8"/>
                                        </p:tgtEl>
                                        <p:attrNameLst>
                                          <p:attrName>style.visibility</p:attrName>
                                        </p:attrNameLst>
                                      </p:cBhvr>
                                      <p:to>
                                        <p:strVal val="visible"/>
                                      </p:to>
                                    </p:set>
                                    <p:animEffect transition="in" filter="fade">
                                      <p:cBhvr>
                                        <p:cTn id="17" dur="1000"/>
                                        <p:tgtEl>
                                          <p:spTgt spid="268"/>
                                        </p:tgtEl>
                                      </p:cBhvr>
                                    </p:animEffect>
                                  </p:childTnLst>
                                </p:cTn>
                              </p:par>
                              <p:par>
                                <p:cTn id="18" presetID="10" presetClass="entr" presetSubtype="0" fill="hold" nodeType="withEffect">
                                  <p:stCondLst>
                                    <p:cond delay="0"/>
                                  </p:stCondLst>
                                  <p:childTnLst>
                                    <p:set>
                                      <p:cBhvr>
                                        <p:cTn id="19" dur="1" fill="hold">
                                          <p:stCondLst>
                                            <p:cond delay="0"/>
                                          </p:stCondLst>
                                        </p:cTn>
                                        <p:tgtEl>
                                          <p:spTgt spid="265"/>
                                        </p:tgtEl>
                                        <p:attrNameLst>
                                          <p:attrName>style.visibility</p:attrName>
                                        </p:attrNameLst>
                                      </p:cBhvr>
                                      <p:to>
                                        <p:strVal val="visible"/>
                                      </p:to>
                                    </p:set>
                                    <p:animEffect transition="in" filter="fade">
                                      <p:cBhvr>
                                        <p:cTn id="20" dur="1000"/>
                                        <p:tgtEl>
                                          <p:spTgt spid="265"/>
                                        </p:tgtEl>
                                      </p:cBhvr>
                                    </p:animEffect>
                                  </p:childTnLst>
                                </p:cTn>
                              </p:par>
                              <p:par>
                                <p:cTn id="21" presetID="10" presetClass="entr" presetSubtype="0" fill="hold" nodeType="withEffect">
                                  <p:stCondLst>
                                    <p:cond delay="0"/>
                                  </p:stCondLst>
                                  <p:childTnLst>
                                    <p:set>
                                      <p:cBhvr>
                                        <p:cTn id="22" dur="1" fill="hold">
                                          <p:stCondLst>
                                            <p:cond delay="0"/>
                                          </p:stCondLst>
                                        </p:cTn>
                                        <p:tgtEl>
                                          <p:spTgt spid="262"/>
                                        </p:tgtEl>
                                        <p:attrNameLst>
                                          <p:attrName>style.visibility</p:attrName>
                                        </p:attrNameLst>
                                      </p:cBhvr>
                                      <p:to>
                                        <p:strVal val="visible"/>
                                      </p:to>
                                    </p:set>
                                    <p:animEffect transition="in" filter="fade">
                                      <p:cBhvr>
                                        <p:cTn id="23" dur="1000"/>
                                        <p:tgtEl>
                                          <p:spTgt spid="26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69"/>
                                        </p:tgtEl>
                                        <p:attrNameLst>
                                          <p:attrName>style.visibility</p:attrName>
                                        </p:attrNameLst>
                                      </p:cBhvr>
                                      <p:to>
                                        <p:strVal val="visible"/>
                                      </p:to>
                                    </p:set>
                                    <p:animEffect transition="in" filter="fade">
                                      <p:cBhvr>
                                        <p:cTn id="28" dur="1000"/>
                                        <p:tgtEl>
                                          <p:spTgt spid="269"/>
                                        </p:tgtEl>
                                      </p:cBhvr>
                                    </p:animEffect>
                                  </p:childTnLst>
                                </p:cTn>
                              </p:par>
                              <p:par>
                                <p:cTn id="29" presetID="10" presetClass="entr" presetSubtype="0" fill="hold" nodeType="withEffect">
                                  <p:stCondLst>
                                    <p:cond delay="0"/>
                                  </p:stCondLst>
                                  <p:childTnLst>
                                    <p:set>
                                      <p:cBhvr>
                                        <p:cTn id="30" dur="1" fill="hold">
                                          <p:stCondLst>
                                            <p:cond delay="0"/>
                                          </p:stCondLst>
                                        </p:cTn>
                                        <p:tgtEl>
                                          <p:spTgt spid="263"/>
                                        </p:tgtEl>
                                        <p:attrNameLst>
                                          <p:attrName>style.visibility</p:attrName>
                                        </p:attrNameLst>
                                      </p:cBhvr>
                                      <p:to>
                                        <p:strVal val="visible"/>
                                      </p:to>
                                    </p:set>
                                    <p:animEffect transition="in" filter="fade">
                                      <p:cBhvr>
                                        <p:cTn id="31" dur="1000"/>
                                        <p:tgtEl>
                                          <p:spTgt spid="263"/>
                                        </p:tgtEl>
                                      </p:cBhvr>
                                    </p:animEffect>
                                  </p:childTnLst>
                                </p:cTn>
                              </p:par>
                              <p:par>
                                <p:cTn id="32" presetID="10" presetClass="entr" presetSubtype="0" fill="hold" nodeType="withEffect">
                                  <p:stCondLst>
                                    <p:cond delay="0"/>
                                  </p:stCondLst>
                                  <p:childTnLst>
                                    <p:set>
                                      <p:cBhvr>
                                        <p:cTn id="33" dur="1" fill="hold">
                                          <p:stCondLst>
                                            <p:cond delay="0"/>
                                          </p:stCondLst>
                                        </p:cTn>
                                        <p:tgtEl>
                                          <p:spTgt spid="266"/>
                                        </p:tgtEl>
                                        <p:attrNameLst>
                                          <p:attrName>style.visibility</p:attrName>
                                        </p:attrNameLst>
                                      </p:cBhvr>
                                      <p:to>
                                        <p:strVal val="visible"/>
                                      </p:to>
                                    </p:set>
                                    <p:animEffect transition="in" filter="fade">
                                      <p:cBhvr>
                                        <p:cTn id="34" dur="1000"/>
                                        <p:tgtEl>
                                          <p:spTgt spid="26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4"/>
                                        </p:tgtEl>
                                        <p:attrNameLst>
                                          <p:attrName>style.visibility</p:attrName>
                                        </p:attrNameLst>
                                      </p:cBhvr>
                                      <p:to>
                                        <p:strVal val="visible"/>
                                      </p:to>
                                    </p:set>
                                    <p:animEffect transition="in" filter="fade">
                                      <p:cBhvr>
                                        <p:cTn id="39" dur="1000"/>
                                        <p:tgtEl>
                                          <p:spTgt spid="274"/>
                                        </p:tgtEl>
                                      </p:cBhvr>
                                    </p:animEffect>
                                  </p:childTnLst>
                                </p:cTn>
                              </p:par>
                              <p:par>
                                <p:cTn id="40" presetID="10" presetClass="entr" presetSubtype="0" fill="hold" nodeType="withEffect">
                                  <p:stCondLst>
                                    <p:cond delay="0"/>
                                  </p:stCondLst>
                                  <p:childTnLst>
                                    <p:set>
                                      <p:cBhvr>
                                        <p:cTn id="41" dur="1" fill="hold">
                                          <p:stCondLst>
                                            <p:cond delay="0"/>
                                          </p:stCondLst>
                                        </p:cTn>
                                        <p:tgtEl>
                                          <p:spTgt spid="264"/>
                                        </p:tgtEl>
                                        <p:attrNameLst>
                                          <p:attrName>style.visibility</p:attrName>
                                        </p:attrNameLst>
                                      </p:cBhvr>
                                      <p:to>
                                        <p:strVal val="visible"/>
                                      </p:to>
                                    </p:set>
                                    <p:animEffect transition="in" filter="fade">
                                      <p:cBhvr>
                                        <p:cTn id="42" dur="1000"/>
                                        <p:tgtEl>
                                          <p:spTgt spid="264"/>
                                        </p:tgtEl>
                                      </p:cBhvr>
                                    </p:animEffect>
                                  </p:childTnLst>
                                </p:cTn>
                              </p:par>
                              <p:par>
                                <p:cTn id="43" presetID="10" presetClass="entr" presetSubtype="0" fill="hold" nodeType="withEffect">
                                  <p:stCondLst>
                                    <p:cond delay="0"/>
                                  </p:stCondLst>
                                  <p:childTnLst>
                                    <p:set>
                                      <p:cBhvr>
                                        <p:cTn id="44" dur="1" fill="hold">
                                          <p:stCondLst>
                                            <p:cond delay="0"/>
                                          </p:stCondLst>
                                        </p:cTn>
                                        <p:tgtEl>
                                          <p:spTgt spid="267"/>
                                        </p:tgtEl>
                                        <p:attrNameLst>
                                          <p:attrName>style.visibility</p:attrName>
                                        </p:attrNameLst>
                                      </p:cBhvr>
                                      <p:to>
                                        <p:strVal val="visible"/>
                                      </p:to>
                                    </p:set>
                                    <p:animEffect transition="in" filter="fade">
                                      <p:cBhvr>
                                        <p:cTn id="45" dur="10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92" name="Shape 292"/>
        <p:cNvGrpSpPr/>
        <p:nvPr/>
      </p:nvGrpSpPr>
      <p:grpSpPr>
        <a:xfrm>
          <a:off x="0" y="0"/>
          <a:ext cx="0" cy="0"/>
          <a:chOff x="0" y="0"/>
          <a:chExt cx="0" cy="0"/>
        </a:xfrm>
      </p:grpSpPr>
      <p:sp>
        <p:nvSpPr>
          <p:cNvPr id="293" name="Google Shape;293;p19"/>
          <p:cNvSpPr/>
          <p:nvPr/>
        </p:nvSpPr>
        <p:spPr>
          <a:xfrm>
            <a:off x="0" y="0"/>
            <a:ext cx="12192000" cy="6858000"/>
          </a:xfrm>
          <a:prstGeom prst="rect">
            <a:avLst/>
          </a:prstGeom>
          <a:solidFill>
            <a:srgbClr val="38383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94" name="Google Shape;294;p19"/>
          <p:cNvSpPr/>
          <p:nvPr/>
        </p:nvSpPr>
        <p:spPr>
          <a:xfrm>
            <a:off x="-7620" y="1244600"/>
            <a:ext cx="12192000" cy="581025"/>
          </a:xfrm>
          <a:prstGeom prst="rect">
            <a:avLst/>
          </a:prstGeom>
          <a:solidFill>
            <a:srgbClr val="D8B76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pic>
        <p:nvPicPr>
          <p:cNvPr id="295" name="Google Shape;295;p19"/>
          <p:cNvPicPr preferRelativeResize="0"/>
          <p:nvPr/>
        </p:nvPicPr>
        <p:blipFill rotWithShape="1">
          <a:blip r:embed="rId1"/>
          <a:srcRect/>
          <a:stretch>
            <a:fillRect/>
          </a:stretch>
        </p:blipFill>
        <p:spPr>
          <a:xfrm>
            <a:off x="4760913" y="1817688"/>
            <a:ext cx="7423150" cy="4535487"/>
          </a:xfrm>
          <a:prstGeom prst="rect">
            <a:avLst/>
          </a:prstGeom>
          <a:noFill/>
          <a:ln>
            <a:noFill/>
          </a:ln>
        </p:spPr>
      </p:pic>
      <p:sp>
        <p:nvSpPr>
          <p:cNvPr id="296" name="Google Shape;296;p19"/>
          <p:cNvSpPr/>
          <p:nvPr/>
        </p:nvSpPr>
        <p:spPr>
          <a:xfrm>
            <a:off x="978701" y="477200"/>
            <a:ext cx="3012000" cy="7068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4000"/>
              <a:buFont typeface="Arial" panose="020B0604020202020204"/>
              <a:buNone/>
            </a:pP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Conclusi</a:t>
            </a: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o</a:t>
            </a:r>
            <a:r>
              <a:rPr lang="en-US" sz="4000" b="0" i="0" u="none" strike="noStrike" cap="none">
                <a:solidFill>
                  <a:schemeClr val="lt1"/>
                </a:solidFill>
                <a:latin typeface="Arial" panose="020B0604020202020204"/>
                <a:ea typeface="Arial" panose="020B0604020202020204"/>
                <a:cs typeface="Arial" panose="020B0604020202020204"/>
                <a:sym typeface="Arial" panose="020B0604020202020204"/>
              </a:rPr>
              <a:t>n</a:t>
            </a:r>
            <a:endParaRPr sz="4000" b="0" i="0" u="none" strike="noStrike" cap="none">
              <a:solidFill>
                <a:schemeClr val="lt1"/>
              </a:solidFill>
              <a:latin typeface="Arial" panose="020B0604020202020204"/>
              <a:ea typeface="Arial" panose="020B0604020202020204"/>
              <a:cs typeface="Arial" panose="020B0604020202020204"/>
              <a:sym typeface="Arial" panose="020B0604020202020204"/>
            </a:endParaRPr>
          </a:p>
        </p:txBody>
      </p:sp>
      <p:sp>
        <p:nvSpPr>
          <p:cNvPr id="297" name="Google Shape;297;p19"/>
          <p:cNvSpPr/>
          <p:nvPr/>
        </p:nvSpPr>
        <p:spPr>
          <a:xfrm rot="4705673">
            <a:off x="673100" y="723900"/>
            <a:ext cx="223838" cy="223838"/>
          </a:xfrm>
          <a:prstGeom prst="rtTriangl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98" name="Google Shape;298;p19"/>
          <p:cNvSpPr/>
          <p:nvPr/>
        </p:nvSpPr>
        <p:spPr>
          <a:xfrm rot="-10558151">
            <a:off x="693738" y="677863"/>
            <a:ext cx="182563" cy="182563"/>
          </a:xfrm>
          <a:prstGeom prst="rtTriangle">
            <a:avLst/>
          </a:prstGeom>
          <a:solidFill>
            <a:schemeClr val="lt1">
              <a:alpha val="40000"/>
            </a:schemeClr>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panose="020F0502020204030204"/>
              <a:buNone/>
            </a:pPr>
            <a:endParaRPr sz="1800" b="0" i="0" u="none" strike="noStrike" cap="none">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99" name="Google Shape;299;p19"/>
          <p:cNvSpPr txBox="1"/>
          <p:nvPr/>
        </p:nvSpPr>
        <p:spPr>
          <a:xfrm>
            <a:off x="130175" y="2024380"/>
            <a:ext cx="5153025" cy="4727575"/>
          </a:xfrm>
          <a:prstGeom prst="rect">
            <a:avLst/>
          </a:prstGeom>
          <a:noFill/>
          <a:ln>
            <a:noFill/>
          </a:ln>
        </p:spPr>
        <p:txBody>
          <a:bodyPr spcFirstLastPara="1" wrap="square" lIns="91425" tIns="45700" rIns="91425" bIns="45700" anchor="t" anchorCtr="0">
            <a:noAutofit/>
          </a:bodyPr>
          <a:lstStyle/>
          <a:p>
            <a:pPr marL="457200" marR="0" lvl="0" indent="-457200" algn="l" rtl="0">
              <a:lnSpc>
                <a:spcPct val="100000"/>
              </a:lnSpc>
              <a:spcBef>
                <a:spcPts val="0"/>
              </a:spcBef>
              <a:spcAft>
                <a:spcPts val="0"/>
              </a:spcAft>
              <a:buClr>
                <a:srgbClr val="DAB865"/>
              </a:buClr>
              <a:buSzPts val="2800"/>
              <a:buFont typeface="Arial" panose="020B0604020202020204"/>
              <a:buChar char="•"/>
            </a:pPr>
            <a:r>
              <a:rPr 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Recap of the key takeaways from the presentation</a:t>
            </a: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a:t>
            </a: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Class &amp; Object</a:t>
            </a: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Constructors</a:t>
            </a: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rPr>
              <a:t>Parameter function</a:t>
            </a: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AB865"/>
              </a:buClr>
              <a:buSzPts val="2800"/>
              <a:buFont typeface="Wingdings" panose="05000000000000000000" charset="0"/>
              <a:buNone/>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342900" marR="0" lvl="0" indent="-342900" algn="l" rtl="0">
              <a:lnSpc>
                <a:spcPct val="100000"/>
              </a:lnSpc>
              <a:spcBef>
                <a:spcPts val="0"/>
              </a:spcBef>
              <a:spcAft>
                <a:spcPts val="0"/>
              </a:spcAft>
              <a:buClr>
                <a:srgbClr val="DAB865"/>
              </a:buClr>
              <a:buSzPts val="2800"/>
              <a:buFont typeface="Arial" panose="020B0604020202020204"/>
              <a:buChar char="•"/>
            </a:pPr>
            <a:r>
              <a:rPr sz="2800">
                <a:solidFill>
                  <a:srgbClr val="DAB865"/>
                </a:solidFill>
                <a:latin typeface="Calibri" panose="020F0502020204030204"/>
                <a:ea typeface="Calibri" panose="020F0502020204030204"/>
                <a:cs typeface="Calibri" panose="020F0502020204030204"/>
                <a:sym typeface="Calibri" panose="020F0502020204030204"/>
              </a:rPr>
              <a:t>The </a:t>
            </a:r>
            <a:r>
              <a:rPr lang="en-IN" sz="2800">
                <a:solidFill>
                  <a:srgbClr val="DAB865"/>
                </a:solidFill>
                <a:latin typeface="Calibri" panose="020F0502020204030204"/>
                <a:ea typeface="Calibri" panose="020F0502020204030204"/>
                <a:cs typeface="Calibri" panose="020F0502020204030204"/>
                <a:sym typeface="Calibri" panose="020F0502020204030204"/>
              </a:rPr>
              <a:t>Three</a:t>
            </a:r>
            <a:r>
              <a:rPr sz="2800">
                <a:solidFill>
                  <a:srgbClr val="DAB865"/>
                </a:solidFill>
                <a:latin typeface="Calibri" panose="020F0502020204030204"/>
                <a:ea typeface="Calibri" panose="020F0502020204030204"/>
                <a:cs typeface="Calibri" panose="020F0502020204030204"/>
                <a:sym typeface="Calibri" panose="020F0502020204030204"/>
              </a:rPr>
              <a:t> Pillars of OOPs</a:t>
            </a:r>
            <a:r>
              <a:rPr lang="en-IN" sz="2800">
                <a:solidFill>
                  <a:srgbClr val="DAB865"/>
                </a:solidFill>
                <a:latin typeface="Calibri" panose="020F0502020204030204"/>
                <a:ea typeface="Calibri" panose="020F0502020204030204"/>
                <a:cs typeface="Calibri" panose="020F0502020204030204"/>
                <a:sym typeface="Calibri" panose="020F0502020204030204"/>
              </a:rPr>
              <a:t>:</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a:solidFill>
                  <a:srgbClr val="DAB865"/>
                </a:solidFill>
                <a:latin typeface="Calibri" panose="020F0502020204030204"/>
                <a:ea typeface="Calibri" panose="020F0502020204030204"/>
                <a:cs typeface="Calibri" panose="020F0502020204030204"/>
                <a:sym typeface="Calibri" panose="020F0502020204030204"/>
              </a:rPr>
              <a:t>Inheritance</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a:solidFill>
                  <a:srgbClr val="DAB865"/>
                </a:solidFill>
                <a:latin typeface="Calibri" panose="020F0502020204030204"/>
                <a:ea typeface="Calibri" panose="020F0502020204030204"/>
                <a:cs typeface="Calibri" panose="020F0502020204030204"/>
                <a:sym typeface="Calibri" panose="020F0502020204030204"/>
              </a:rPr>
              <a:t>Ploymorphism</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r>
              <a:rPr lang="en-IN" sz="2800">
                <a:solidFill>
                  <a:srgbClr val="DAB865"/>
                </a:solidFill>
                <a:latin typeface="Calibri" panose="020F0502020204030204"/>
                <a:ea typeface="Calibri" panose="020F0502020204030204"/>
                <a:cs typeface="Calibri" panose="020F0502020204030204"/>
                <a:sym typeface="Calibri" panose="020F0502020204030204"/>
              </a:rPr>
              <a:t>Abstraction</a:t>
            </a: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DAB865"/>
              </a:buClr>
              <a:buSzPts val="2800"/>
              <a:buFont typeface="Wingdings" panose="05000000000000000000" charset="0"/>
              <a:buNone/>
            </a:pPr>
            <a:endParaRPr lang="en-IN"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a:p>
            <a:pPr marL="457200" marR="0" lvl="0" indent="-457200" algn="l" rtl="0">
              <a:lnSpc>
                <a:spcPct val="100000"/>
              </a:lnSpc>
              <a:spcBef>
                <a:spcPts val="0"/>
              </a:spcBef>
              <a:spcAft>
                <a:spcPts val="0"/>
              </a:spcAft>
              <a:buClr>
                <a:srgbClr val="DAB865"/>
              </a:buClr>
              <a:buSzPts val="2800"/>
              <a:buFont typeface="Wingdings" panose="05000000000000000000" charset="0"/>
              <a:buChar char="Ø"/>
            </a:pPr>
            <a:endParaRPr lang="en-IN" altLang="en-US" sz="2800" b="0" i="0" u="none" strike="noStrike" cap="none">
              <a:solidFill>
                <a:srgbClr val="DAB865"/>
              </a:solidFill>
              <a:latin typeface="Calibri" panose="020F0502020204030204"/>
              <a:ea typeface="Calibri" panose="020F0502020204030204"/>
              <a:cs typeface="Calibri" panose="020F0502020204030204"/>
              <a:sym typeface="Calibri" panose="020F0502020204030204"/>
            </a:endParaRPr>
          </a:p>
        </p:txBody>
      </p:sp>
      <p:pic>
        <p:nvPicPr>
          <p:cNvPr id="301" name="Google Shape;301;p19" descr="computer"/>
          <p:cNvPicPr preferRelativeResize="0"/>
          <p:nvPr/>
        </p:nvPicPr>
        <p:blipFill rotWithShape="1">
          <a:blip r:embed="rId2"/>
          <a:srcRect r="1437"/>
          <a:stretch>
            <a:fillRect/>
          </a:stretch>
        </p:blipFill>
        <p:spPr>
          <a:xfrm>
            <a:off x="5871845" y="2284730"/>
            <a:ext cx="5334635" cy="3310255"/>
          </a:xfrm>
          <a:prstGeom prst="rect">
            <a:avLst/>
          </a:prstGeom>
          <a:noFill/>
          <a:ln>
            <a:noFill/>
          </a:ln>
        </p:spPr>
      </p:pic>
      <p:pic>
        <p:nvPicPr>
          <p:cNvPr id="303" name="Google Shape;303;p19" descr="Aitrich Logo_Artboard 4"/>
          <p:cNvPicPr preferRelativeResize="0"/>
          <p:nvPr/>
        </p:nvPicPr>
        <p:blipFill rotWithShape="1">
          <a:blip r:embed="rId3"/>
          <a:srcRect/>
          <a:stretch>
            <a:fillRect/>
          </a:stretch>
        </p:blipFill>
        <p:spPr>
          <a:xfrm>
            <a:off x="74295" y="-90170"/>
            <a:ext cx="1275715" cy="956945"/>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slow" p14:dur="1500">
        <p:split orient="vert" dir="in"/>
      </p:transition>
    </mc:Choice>
    <mc:Fallback>
      <p:transition spd="slow">
        <p:split orient="vert" dir="in"/>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6"/>
                                        </p:tgtEl>
                                        <p:attrNameLst>
                                          <p:attrName>style.visibility</p:attrName>
                                        </p:attrNameLst>
                                      </p:cBhvr>
                                      <p:to>
                                        <p:strVal val="visible"/>
                                      </p:to>
                                    </p:set>
                                    <p:animEffect transition="in" filter="fade">
                                      <p:cBhvr>
                                        <p:cTn id="7" dur="1000"/>
                                        <p:tgtEl>
                                          <p:spTgt spid="296"/>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295"/>
                                        </p:tgtEl>
                                        <p:attrNameLst>
                                          <p:attrName>style.visibility</p:attrName>
                                        </p:attrNameLst>
                                      </p:cBhvr>
                                      <p:to>
                                        <p:strVal val="visible"/>
                                      </p:to>
                                    </p:set>
                                    <p:anim calcmode="lin" valueType="num">
                                      <p:cBhvr additive="base">
                                        <p:cTn id="12" dur="500"/>
                                        <p:tgtEl>
                                          <p:spTgt spid="295"/>
                                        </p:tgtEl>
                                        <p:attrNameLst>
                                          <p:attrName>ppt_y</p:attrName>
                                        </p:attrNameLst>
                                      </p:cBhvr>
                                      <p:tavLst>
                                        <p:tav tm="0" fmla="">
                                          <p:val>
                                            <p:strVal val="#ppt_y+1"/>
                                          </p:val>
                                        </p:tav>
                                        <p:tav tm="100000" fmla="">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01"/>
                                        </p:tgtEl>
                                        <p:attrNameLst>
                                          <p:attrName>style.visibility</p:attrName>
                                        </p:attrNameLst>
                                      </p:cBhvr>
                                      <p:to>
                                        <p:strVal val="visible"/>
                                      </p:to>
                                    </p:set>
                                    <p:anim calcmode="lin" valueType="num">
                                      <p:cBhvr additive="base">
                                        <p:cTn id="15" dur="500"/>
                                        <p:tgtEl>
                                          <p:spTgt spid="301"/>
                                        </p:tgtEl>
                                        <p:attrNameLst>
                                          <p:attrName>ppt_y</p:attrName>
                                        </p:attrNameLst>
                                      </p:cBhvr>
                                      <p:tavLst>
                                        <p:tav tm="0" fmla="">
                                          <p:val>
                                            <p:strVal val="#ppt_y+1"/>
                                          </p:val>
                                        </p:tav>
                                        <p:tav tm="100000" fmla="">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99"/>
                                        </p:tgtEl>
                                        <p:attrNameLst>
                                          <p:attrName>style.visibility</p:attrName>
                                        </p:attrNameLst>
                                      </p:cBhvr>
                                      <p:to>
                                        <p:strVal val="visible"/>
                                      </p:to>
                                    </p:set>
                                    <p:animEffect transition="in" filter="fade">
                                      <p:cBhvr>
                                        <p:cTn id="20" dur="1000"/>
                                        <p:tgtEl>
                                          <p:spTgt spid="29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5869</Words>
  <Application>WPS Presentation</Application>
  <PresentationFormat/>
  <Paragraphs>216</Paragraphs>
  <Slides>19</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19</vt:i4>
      </vt:variant>
    </vt:vector>
  </HeadingPairs>
  <TitlesOfParts>
    <vt:vector size="30" baseType="lpstr">
      <vt:lpstr>Arial</vt:lpstr>
      <vt:lpstr>SimSun</vt:lpstr>
      <vt:lpstr>Wingdings</vt:lpstr>
      <vt:lpstr>Arial</vt:lpstr>
      <vt:lpstr>Calibri</vt:lpstr>
      <vt:lpstr>Microsoft YaHei</vt:lpstr>
      <vt:lpstr>Wingdings</vt:lpstr>
      <vt:lpstr>Noto Sans Symbols</vt:lpstr>
      <vt:lpstr>Segoe Print</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占曼琼</dc:creator>
  <cp:lastModifiedBy>Riyana</cp:lastModifiedBy>
  <cp:revision>12</cp:revision>
  <dcterms:created xsi:type="dcterms:W3CDTF">2024-09-18T07:32:00Z</dcterms:created>
  <dcterms:modified xsi:type="dcterms:W3CDTF">2025-08-19T04:22:57Z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1033-12.2.0.21931</vt:lpwstr>
  </property>
  <property fmtid="{D5CDD505-2E9C-101B-9397-08002B2CF9AE}" pid="3" name="ICV">
    <vt:lpwstr>B03B066ECF1F4E80A39535C2D7FDE7A4_13</vt:lpwstr>
  </property>
</Properties>
</file>